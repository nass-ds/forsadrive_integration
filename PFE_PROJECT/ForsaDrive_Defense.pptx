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Bonjour, je suis Youssef, voici Anas. Nous allons vous présenter ForsaDrive, notre PFE réalisé chez ATOMIC IT sous la supervision de Mr. Khalil Selmi et Mme Ines Ben Nasr.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7 sections quickly. Contexte, solutions existantes, notre proposition, méthodologie Scrum, conception, réalisation sprint par sprint, tests/demo, conclusion.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anchors: students/workers travel a lot but have small budgets, and private cars travel half empty. Read the problem statement quote at the bottom — it's the thesis of the whole project.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Brief. They provided technical supervision AND the agile process. Don't dwell, the jury cares about the project.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whole table. Pick one row: 'Look at student discount — none of these have it. Wallet — none of these have it. That's our gap.' End with the bold sentence.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 structure the rest of the talk. Numbers to memorize: 3 apps, 4 sprints, 20+ entities, 3 languages.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your supervisor cares about. Walk the timeline: Sprint 0 was preparatory, four functional sprints, grouped into two releases. Mention daily stand-ups and weekly reviews.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clients, one backend, one DB. The business rules live in the backend so they cannot be bypassed from the mobile side. Bearer tokens, bcrypt, HTTPS.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every class. Say: 20-something entities, organized into five logical groups — users, trips, payments, verification, communication. Refer the jury to the report for the detail.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idea: don't enumerate. 'Four actors — passenger, driver, admin, and the system itself for automated operations like discount calculation and reliability scoring.'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mission (left rail). Highlight US1.4 (OTP) and US1.5 (driver app) — they're the most interesting. Read the 3 deliverables.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Mission, then highlight US2.6 (50% prepayment) and US2.7 (group booking). Mention the cash collection step in the activity diagram — shows you thought about the full flow, not just the happy path.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Highlight: 'The price pipeline bug found at the sprint review — we applied the promo BEFORE the student discount, slightly favoring the passenger. Fixed same evening + unit test added.' Shows you do real reviews.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Mention: chat is 3-second polling, no WebSocket — a deliberate trade-off, not a limitation. HelpDesk bot covers 14 FAQ categories with escalation. Arabic flips the layout automatically. ~1 min. (You should be at ~12 min total by end of this slide.)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auth → search with match score → trip detail with map → driver dashboard with reliability gauge.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running long, SKIP this slide — the jury can read it. Otherwise: push (FCM), interactive map (OSM + OSRM), in-app chat, multilingual with auto RTL.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running long, SKIP this too. One sentence per column: Web (PHP + Bootstrap), Backend (PHP REST + bearer + SQLite WAL), Mobile (Flutter + Provider + go_router + FCM).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'Tests were continuous, not deferred.' Mention the price-pipeline unit suite specifically — that's where the Sprint 3 bug was locked.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 (3 min, 11 steps): (1) Register passenger on mobile. (2) Type recognized university email → green banner. (3) Trigger OTP verification. (4) Switch to web → driver session → publish Tunis-Sfax ride. (5) Mobile → search Tunis Sfax → ride appears with match badge. (6) Open ride detail → map + price breakdown with student discount. (7) Book one seat → 50% prepayment confirmation. (8) Web → driver accepts. (9) Mobile → booking confirmed in My Rides. (10) Open chat → send 'On arrive dans 5 minutes'. (11) Show driver dashboard → reliability gauge. FALLBACK: switch to PDF of screenshots and narrate.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— jurors test honesty here. Acknowledge: wallet uses manual top-ups, SQLite is for dev not production, iOS not verified. Then pivot to the roadmap.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vous remercions pour votre attention. Nous sommes prêts pour vos questions. ~15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320040" cy="246888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FINAL YEAR PROJECT  •  2025 —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ForsaDrive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3CD"/>
                </a:solidFill>
                <a:latin typeface="Calibri"/>
              </a:rPr>
              <a:t>A Tunisian-context carpooling platform — Web, Mobile, and a unified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10332720" cy="3657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Youssef BEN ABID  &amp;  Anas YOUNES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Supervised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663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Mr. Khalil SELMI  (ATOMIC 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Ms. Ines BEN NASR  (Academic)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E8B84B"/>
                </a:solidFill>
                <a:latin typeface="Calibri"/>
              </a:rPr>
              <a:t>ATOMIC IT  •  Kelibia, Nabeul, Tunisia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Outline of the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36192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Project context &amp;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1051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Why mobility in Tunisia is a real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Existing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888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What people use today and where it falls short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71216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Proposed solution &amp; methodology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27248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ForsaDrive concept and the Scrum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1129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Conception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85616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Architecture, use cases, class diagram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69664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Realization — sprint by sprint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43984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From foundations to community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828032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Tests &amp;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02352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What works and a live walk-through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04688"/>
            <a:ext cx="502920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0468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48640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760720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What we delivered and what comes next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CONTEXT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Mobility in Tunisia — a real, daily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D"/>
                </a:solidFill>
                <a:latin typeface="Calibri"/>
              </a:rPr>
              <a:t>Public transport is irregular. Private cars travel half empty. Existing apps are not built for the local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0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657600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Public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Overcrowded buses, irregular schedules, weak coverage of secondary cities.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65760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94560"/>
            <a:ext cx="3657600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Informal carpooling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Facebook groups, no identity verification, no payment trace, no rating.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5760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94560"/>
            <a:ext cx="3657600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International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8892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BlaBlaCar/inDrive/Bolt — payment models and language not adapted to Tunisia.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91440" cy="128016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Tunisia lacks a secure, affordable digital ride-sharing solution adapted to local payment habits, available on web and mobile, and capable of building genuine trust between drivers and passengers.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INTERNSHIP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ATOMIC IT — host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85800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IT engineering services: web and mobile development, software consulting.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Modern stack: Linux/Windows, .NET, Java, Android/iOS, PHP.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Located in Kelibia, Nabeul. Director: Mr. Khalil SELMI.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Flat structure — short feedback loops between developers and management.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Internship inside the engineering team, mentored by senior developers.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D4A43A"/>
                </a:solidFill>
                <a:latin typeface="Calibri"/>
              </a:rPr>
              <a:t>▸  </a:t>
            </a:r>
            <a:r>
              <a:rPr sz="1500">
                <a:solidFill>
                  <a:srgbClr val="1F2A3D"/>
                </a:solidFill>
                <a:latin typeface="Calibri"/>
              </a:rPr>
              <a:t>Agile Scrum applied: daily stand-ups, weekly reviews with the supervisor.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554480"/>
            <a:ext cx="365760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554480"/>
            <a:ext cx="3657600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916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148840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148840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Web &amp; mobile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78024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478024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Mr. Khalil SELMI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807208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807208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Kelibia, Nabeul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136392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136392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+216 55 343 224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465576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465576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contact@atomicitpro.com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794760"/>
            <a:ext cx="11887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794760"/>
            <a:ext cx="2194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Agile / Scrum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CRITICAL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people use 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inDrive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Bolt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BlaBlaCar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ForsaDrive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Identity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In-app payment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Long-distance 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Rating system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Adapted to local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Student discount (50%)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Wallet-based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No existing option combines local fit with structured trust mechanisms. ForsaDrive sits exactly in that gap.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ForsaDrive — 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An integrated ecosystem: web app, mobile app, and a shared backend, covering the full lifecycle from registration to post-trip rating.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657600" cy="2743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657600" cy="7315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B84B"/>
                </a:solidFill>
                <a:latin typeface="Calibri"/>
              </a:rPr>
              <a:t>Local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50% prepayment + cash settlement, French/English/Arabic with RTL, Tunisian-recognized university domains.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286000"/>
            <a:ext cx="3657600" cy="2743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286000"/>
            <a:ext cx="3657600" cy="7315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B84B"/>
                </a:solidFill>
                <a:latin typeface="Calibri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8036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Identity &amp; student verification, ratings on both sides, complaint workflow, reliability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86000"/>
            <a:ext cx="3657600" cy="2743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3657600" cy="7315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B84B"/>
                </a:solidFill>
                <a:latin typeface="Calibri"/>
              </a:rPr>
              <a:t>Smart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8036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Compatibility score, driver analytics, ride boosting, social feed, in-app chat, AI-assisted helpdesk.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2697480" cy="96012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2697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A3D"/>
                </a:solidFill>
                <a:latin typeface="Calibri"/>
              </a:rPr>
              <a:t>coordinated apps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5212080"/>
            <a:ext cx="2697480" cy="96012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5257800"/>
            <a:ext cx="2697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71500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A3D"/>
                </a:solidFill>
                <a:latin typeface="Calibri"/>
              </a:rPr>
              <a:t>functional sprints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12080"/>
            <a:ext cx="2697480" cy="96012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257800"/>
            <a:ext cx="2697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A1628"/>
                </a:solidFill>
                <a:latin typeface="Calibri"/>
              </a:rPr>
              <a:t>20+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71500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A3D"/>
                </a:solidFill>
                <a:latin typeface="Calibri"/>
              </a:rPr>
              <a:t>domain entities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5212080"/>
            <a:ext cx="2697480" cy="96012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5257800"/>
            <a:ext cx="2697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71500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A3D"/>
                </a:solidFill>
                <a:latin typeface="Calibri"/>
              </a:rPr>
              <a:t>supported languages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Scrum — five iterations grouped into two 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D"/>
                </a:solidFill>
                <a:latin typeface="Calibri"/>
              </a:rPr>
              <a:t>Sprint 0 prepared the ground. Four functional sprints then delivered two coherent releases of the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727" y="2377440"/>
            <a:ext cx="2103120" cy="1828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251460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E8B84B"/>
                </a:solidFill>
                <a:latin typeface="Calibri"/>
              </a:rPr>
              <a:t>S0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3154680"/>
            <a:ext cx="1920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B84B"/>
                </a:solidFill>
                <a:latin typeface="Calibri"/>
              </a:rPr>
              <a:t>Architecture</a:t>
            </a:r>
          </a:p>
          <a:p>
            <a:pPr algn="ctr"/>
            <a:r>
              <a:rPr sz="1200" b="1">
                <a:solidFill>
                  <a:srgbClr val="E8B84B"/>
                </a:solidFill>
                <a:latin typeface="Calibri"/>
              </a:rPr>
              <a:t>&amp; Conception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4007" y="2377440"/>
            <a:ext cx="2103120" cy="18288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251460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628"/>
                </a:solidFill>
                <a:latin typeface="Calibri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47" y="3154680"/>
            <a:ext cx="1920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Foundations</a:t>
            </a:r>
          </a:p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(Auth + Profiles)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4287" y="2377440"/>
            <a:ext cx="2103120" cy="18288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251460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628"/>
                </a:solidFill>
                <a:latin typeface="Calibri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5727" y="3154680"/>
            <a:ext cx="1920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Rides</a:t>
            </a:r>
          </a:p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&amp; Bookings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84567" y="2377440"/>
            <a:ext cx="2103120" cy="18288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4567" y="251460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628"/>
                </a:solidFill>
                <a:latin typeface="Calibri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07" y="3154680"/>
            <a:ext cx="1920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Payments</a:t>
            </a:r>
          </a:p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&amp;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4847" y="2377440"/>
            <a:ext cx="2103120" cy="18288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4847" y="2514600"/>
            <a:ext cx="2103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628"/>
                </a:solidFill>
                <a:latin typeface="Calibri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6287" y="3154680"/>
            <a:ext cx="19202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Community</a:t>
            </a:r>
          </a:p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&amp; Finalization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434840"/>
            <a:ext cx="4206240" cy="3657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52628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RELEASE 1 — usable booking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4434840"/>
            <a:ext cx="4206240" cy="3657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52628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RELEASE 2 — intelligence + 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D4A43A"/>
                </a:solidFill>
                <a:latin typeface="Calibri"/>
              </a:rPr>
              <a:t>▸  </a:t>
            </a:r>
            <a:r>
              <a:rPr sz="1300">
                <a:solidFill>
                  <a:srgbClr val="1F2A3D"/>
                </a:solidFill>
                <a:latin typeface="Calibri"/>
              </a:rPr>
              <a:t>Daily stand-ups inside the team — weekly reviews with the supervising engineer.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D4A43A"/>
                </a:solidFill>
                <a:latin typeface="Calibri"/>
              </a:rPr>
              <a:t>▸  </a:t>
            </a:r>
            <a:r>
              <a:rPr sz="1300">
                <a:solidFill>
                  <a:srgbClr val="1F2A3D"/>
                </a:solidFill>
                <a:latin typeface="Calibri"/>
              </a:rPr>
              <a:t>Each sprint produced a usable increment, reviewed and demonstrated.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D4A43A"/>
                </a:solidFill>
                <a:latin typeface="Calibri"/>
              </a:rPr>
              <a:t>▸  </a:t>
            </a:r>
            <a:r>
              <a:rPr sz="1300">
                <a:solidFill>
                  <a:srgbClr val="1F2A3D"/>
                </a:solidFill>
                <a:latin typeface="Calibri"/>
              </a:rPr>
              <a:t>Trello board kept the backlog visible — story points on a Fibonacci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SPRINT 0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— client / server, three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A43A"/>
                </a:solidFill>
                <a:latin typeface="Calibri"/>
              </a:rPr>
              <a:t>▸  </a:t>
            </a:r>
            <a:r>
              <a:rPr sz="1400">
                <a:solidFill>
                  <a:srgbClr val="1F2A3D"/>
                </a:solidFill>
                <a:latin typeface="Calibri"/>
              </a:rPr>
              <a:t>Two clients (web + mobile) consume one REST API.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A43A"/>
                </a:solidFill>
                <a:latin typeface="Calibri"/>
              </a:rPr>
              <a:t>▸  </a:t>
            </a:r>
            <a:r>
              <a:rPr sz="1400">
                <a:solidFill>
                  <a:srgbClr val="1F2A3D"/>
                </a:solidFill>
                <a:latin typeface="Calibri"/>
              </a:rPr>
              <a:t>Backend in PHP, exposed under /api/, secured with bearer tokens.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A43A"/>
                </a:solidFill>
                <a:latin typeface="Calibri"/>
              </a:rPr>
              <a:t>▸  </a:t>
            </a:r>
            <a:r>
              <a:rPr sz="1400">
                <a:solidFill>
                  <a:srgbClr val="1F2A3D"/>
                </a:solidFill>
                <a:latin typeface="Calibri"/>
              </a:rPr>
              <a:t>Three tiers: presentation, application, data.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A43A"/>
                </a:solidFill>
                <a:latin typeface="Calibri"/>
              </a:rPr>
              <a:t>▸  </a:t>
            </a:r>
            <a:r>
              <a:rPr sz="1400">
                <a:solidFill>
                  <a:srgbClr val="1F2A3D"/>
                </a:solidFill>
                <a:latin typeface="Calibri"/>
              </a:rPr>
              <a:t>External services (payment, notifications, file storage) only reached through the backend — no client secrets.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A43A"/>
                </a:solidFill>
                <a:latin typeface="Calibri"/>
              </a:rPr>
              <a:t>▸  </a:t>
            </a:r>
            <a:r>
              <a:rPr sz="1400">
                <a:solidFill>
                  <a:srgbClr val="1F2A3D"/>
                </a:solidFill>
                <a:latin typeface="Calibri"/>
              </a:rPr>
              <a:t>HTTPS in production. Passwords with bcrypt. Audit log on sensitive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2377440" cy="82296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Web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691640"/>
            <a:ext cx="2377440" cy="82296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4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Mobile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971800"/>
            <a:ext cx="2377440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71800"/>
            <a:ext cx="23774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(REST 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297680"/>
            <a:ext cx="2377440" cy="77724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297680"/>
            <a:ext cx="23774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SQLite (WAL)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514600"/>
            <a:ext cx="1097280" cy="457200"/>
          </a:xfrm>
          <a:prstGeom prst="bentConnector3">
            <a:avLst/>
          </a:prstGeom>
          <a:ln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144000" y="2514600"/>
            <a:ext cx="1188720" cy="457200"/>
          </a:xfrm>
          <a:prstGeom prst="bentConnector3">
            <a:avLst/>
          </a:prstGeom>
          <a:ln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61120" y="3840480"/>
            <a:ext cx="0" cy="457200"/>
          </a:xfrm>
          <a:prstGeom prst="bentConnector3">
            <a:avLst/>
          </a:prstGeom>
          <a:ln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SPRINT 0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Class diagram — 20+ entities, 5 logical groups</a:t>
            </a:r>
          </a:p>
        </p:txBody>
      </p:sp>
      <p:pic>
        <p:nvPicPr>
          <p:cNvPr id="7" name="Picture 6" descr="forsadrive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Users &amp; Profiles  ·  Trips &amp; Bookings  ·  Payments &amp; Ratings  ·  Verification &amp; Discounts  ·  Communication &amp; Moderation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SPRINT 0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Global use case — four actors</a:t>
            </a:r>
          </a:p>
        </p:txBody>
      </p:sp>
      <p:pic>
        <p:nvPicPr>
          <p:cNvPr id="7" name="Picture 6" descr="ForsaDrive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  <a:latin typeface="Calibri"/>
              </a:rPr>
              <a:t>Passenger  ·  Driver  ·  Administrator  ·  System (automated)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3774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4688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Account creation, authentication, profile, student verification, driver application &amp; admin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657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Sprint backlog (extract)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3280" y="777240"/>
          <a:ext cx="8503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 story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Register an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Login with email + password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View / update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Student verification via university email OTP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Apply to become a driver (license + vehicle)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Admin reviews driver applications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719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Admin manages recognized university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83280" y="3977639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343400"/>
            <a:ext cx="85039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Self-service OTP flow (10-min code, 5-attempt cap, 30s cooldown).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Driver application creates DriverProfile + Vehicle on approval.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Audit log entry on every verification event.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3774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Rides &amp;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4688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Driver publishes a ride. Passenger searches, filters, books with 50% prepayment.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657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Sprint backlog (extract)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3280" y="777240"/>
          <a:ext cx="8503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 story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Publish a ride (origin, destination, date, price, seats)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Modify or cancel a ride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Search rides by origin / destination /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Filter by price, departure time, driver rating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View ride detail and driver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Book seats with 50% prepayment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Group booking for friends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US2.8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Driver accepts / rejects booking requests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83280" y="3977639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343400"/>
            <a:ext cx="85039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Booking persisted only if prepayment succeeds — no orphan bookings.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Search response indexed on origin, destination, departure_date.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Activity diagram covered cash collection at end of trip.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3774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Payments &amp;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4688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Wallet, promo codes, ride boosting, driver analytics, compatibility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657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Sprint backlog (extract)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3280" y="777240"/>
          <a:ext cx="8503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 story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View wallet balance and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Top up wallet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Auto-apply 50% student discount on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Apply organizational promo code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Boost a ride to top of search/feed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Driver dashboard with reliability + revenue + ratings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Compatibility score badge per 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US3.8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Recompute reliability after every completed trip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83280" y="3977639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343400"/>
            <a:ext cx="85039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Price pipeline: base × seats → student 50% → promo % → 50% prepayment.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Reliability score: rating × completion × (1 − cancellation).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Bug caught at sprint review: promo applied before student discount — fixed.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SPRINT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3774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Community &amp; Finalization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24688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Chat, ratings, complaints, social feed, helpdesk, multilingual interface, admin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6576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Sprint backlog (extract)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3280" y="777240"/>
          <a:ext cx="8503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 story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Real-time in-app chat (poll-based)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Push notifications (FCM)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Social feed (posts, likes, comments)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Rate the other party after a trip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File a complaint after a trip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AI-assisted HelpDesk with bot escalation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Switch interface FR / EN / AR (RTL)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US4.8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Admin panel — 7 tabs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83280" y="3977639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343400"/>
            <a:ext cx="85039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Chat polled every 3 s — sufficient for current scale, no WebSocket dep.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HelpDesk bot covers 14 FAQ categories, escalates to human agent.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Arabic flips the layout automatically through Flutter localizations.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REALIZATION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Selected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5603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[mobile_auth.png]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79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463040"/>
            <a:ext cx="27432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554480"/>
            <a:ext cx="25603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3200400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[mobile_search.png]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5212079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Search + match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63040"/>
            <a:ext cx="27432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554480"/>
            <a:ext cx="25603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200400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[mobile_trip_details.png]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5212079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Trip details + 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1463040"/>
            <a:ext cx="2743200" cy="4023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1554480"/>
            <a:ext cx="25603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3200400"/>
            <a:ext cx="25603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[mobile_driver_dashboard.png]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5212079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Driver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Web counterparts cover the same workflows for desktop users and the administration panel.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MOBILE-SPECIFIC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only the mobile makes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2331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23317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Push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Firebase Cloud Messaging delivers booking, message, and ride alerts even when the app is in the background.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486400" cy="2331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73152" cy="23317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Interactive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OpenStreetMap tiles + OSRM routing draw the driving line between origin and destination on each ride detail screen.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486400" cy="2331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73152" cy="23317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Real-time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Conversations linked to bookings — bubble UI, date dividers, read receipts. 3-second polling, no WebSocket dependency.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5486400" cy="2331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31920"/>
            <a:ext cx="73152" cy="23317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Multilingual + RTL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D"/>
                </a:solidFill>
                <a:latin typeface="Calibri"/>
              </a:rPr>
              <a:t>FR / EN / AR with automatic right-to-left layout flipping for Arabic, no manual override in any widget.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REALIZATION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57600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6576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Web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657600" cy="3977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PHP 8 (server-rendered)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Routing, sessions, page rendering.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HTML5 + Bootstrap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Responsive layout, consistent components.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Vanilla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Form validation, AJAX, admin tab switching.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63040"/>
            <a:ext cx="3657600" cy="594360"/>
          </a:xfrm>
          <a:prstGeom prst="rect">
            <a:avLst/>
          </a:prstGeom>
          <a:solidFill>
            <a:srgbClr val="D4A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63040"/>
            <a:ext cx="36576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Backend /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057400"/>
            <a:ext cx="3657600" cy="3977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240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PHP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560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Front-controller under /api/, JSON responses.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383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PDO + bearer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703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Parameterized queries, 32-byte hex tokens.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26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SQLite (WAL mode)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846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Shared file between web and mobile.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463040"/>
            <a:ext cx="3657600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36576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057400"/>
            <a:ext cx="3657600" cy="3977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240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Flutter (Dart)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560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Single codebase, native rendering on Android &amp; iOS.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383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Provider + go_router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703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State management + declarative navigation.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2628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FCM, flutter_map, l10n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8463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D"/>
                </a:solidFill>
                <a:latin typeface="Calibri"/>
              </a:rPr>
              <a:t>Push, OSM map, FR/EN/AR with RTL.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Testing — continuous, not deferred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Unit tests on the price pipeline, prepayment, booking state machine.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Postman collections replay end-to-end scenarios after each backend change.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Manual cross-device tests on three Android phones.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Weekly demo with the supervising engineer caught usability issues.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920240"/>
          <a:ext cx="5760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Registration + student OTP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Token-based session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Driver application +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Publish / cancel a ride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Book with 50% prepayment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Student discount + promo code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Wallet top-up +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Ratings + complaints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9069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Real-time chat + push (FCM)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Multilingual + RTL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100">
                          <a:solidFill>
                            <a:srgbClr val="1F2A3D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365760" cy="7315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B84B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ForsaDrive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3CD"/>
                </a:solidFill>
                <a:latin typeface="Calibri"/>
              </a:rPr>
              <a:t>Walk-through: registration → student verification → search → book → driver acceptance → cash collection.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B84B"/>
                </a:solidFill>
                <a:latin typeface="Calibri"/>
              </a:rPr>
              <a:t>HONEST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Limitations &amp;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5486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What's missing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1206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Wallet uses manual top-ups — no real payment gateway integrated yet.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SQLite is suited for development, not high-traffic production.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Mobile tested only on Android — iOS build not verified.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No forgot-password email flow yet.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Performance under concurrent load was not measured.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486400" cy="457200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486400" cy="5486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206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Migrate to PostgreSQL or MySQL for production.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Integrate a Tunisian payment gateway (Konnect or Paymee).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Deploy backend behind HTTPS on a VPS, automated backups.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Publish the Flutter app on the Google Play Store.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4A43A"/>
                </a:solidFill>
                <a:latin typeface="Calibri"/>
              </a:rPr>
              <a:t>▸  </a:t>
            </a:r>
            <a:r>
              <a:rPr sz="1200">
                <a:solidFill>
                  <a:srgbClr val="1F2A3D"/>
                </a:solidFill>
                <a:latin typeface="Calibri"/>
              </a:rPr>
              <a:t>Add 2FA for driver and admin accounts + offline cache on mobile.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B84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Thank you for your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3CD"/>
                </a:solidFill>
                <a:latin typeface="Calibri"/>
              </a:rPr>
              <a:t>We are now ready for your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594360"/>
          </a:xfrm>
          <a:prstGeom prst="rect">
            <a:avLst/>
          </a:prstGeom>
          <a:solidFill>
            <a:srgbClr val="06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8B84B"/>
                </a:solidFill>
                <a:latin typeface="Calibri"/>
              </a:rPr>
              <a:t>Youssef BEN ABID  &amp;  Anas YOUNES   ·   ForsaDrive   ·   2025 —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ForsaDrive  •  Final Year Project Defense  •  ATOMIC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E8B84B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