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Bonjour, je suis Youssef, voici Anas. Nous allons vous présenter ForsaDrive, notre PFE réalisé chez ATOMIC IT sous la supervision de Mr. Khalil Selmi et Mme Ines Ben Nasr.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7 sections quickly. Contexte, solutions existantes, notre proposition, méthodologie Scrum, conception, réalisation sprint par sprint, tests/demo, conclusion.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anchors: students/workers travel a lot but have small budgets, and private cars travel half empty. Read the problem statement quote at the bottom — it's the thesis of the whole project. ~45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Brief. They provided technical supervision AND the agile process. Don't dwell, the jury cares about the project.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 whole table. Pick one row: 'Look at student discount — none of these have it. Wallet — none of these have it. That's our gap.' End with the bold sentence. ~45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 structure the rest of the talk. Numbers to memorize: 3 apps, 4 sprints, 20+ entities, 3 languages. ~45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your supervisor cares about. Walk the timeline: Sprint 0 was preparatory, four functional sprints, grouped into two releases. Mention daily stand-ups and weekly reviews.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clients, one backend, one DB. The business rules live in the backend so they cannot be bypassed from the mobile side. Bearer tokens, bcrypt, HTTPS.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every class. Say: 20-something entities, organized into five logical groups — users, trips, payments, verification, communication. Refer the jury to the report for the detail.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idea: don't enumerate. 'Four actors — passenger, driver, admin, and the system itself for automated operations like discount calculation and reliability scoring.'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mission (left rail). Highlight US1.4 (OTP) and US1.5 (driver app) — they're the most interesting. Read the 3 deliverables.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Mission, then highlight US2.6 (50% prepayment) and US2.7 (group booking). Mention the cash collection step in the activity diagram — shows you thought about the full flow, not just the happy path.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Highlight: 'The price pipeline bug found at the sprint review — we applied the promo BEFORE the student discount, slightly favoring the passenger. Fixed same evening + unit test added.' Shows you do real reviews.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Mention: chat is 3-second polling, no WebSocket — a deliberate trade-off, not a limitation. HelpDesk bot covers 14 FAQ categories with escalation. Arabic flips the layout automatically. ~1 min. (You should be at ~12 min total by end of this slide.)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auth → search with match score → trip detail with map → driver dashboard with reliability gauge. ~45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running long, SKIP this slide — the jury can read it. Otherwise: push (FCM), interactive map (OSM + OSRM), in-app chat, multilingual with auto RTL.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running long, SKIP this too. One sentence per column: Web (PHP + Bootstrap), Backend (PHP REST + bearer + SQLite WAL), Mobile (Flutter + Provider + go_router + FCM).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'Tests were continuous, not deferred.' Mention the price-pipeline unit suite specifically — that's where the Sprint 3 bug was locked. ~45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SCRIPT (3 min, 11 steps): (1) Register passenger on mobile. (2) Type recognized university email → green banner. (3) Trigger OTP verification. (4) Switch to web → driver session → publish Tunis-Sfax ride. (5) Mobile → search Tunis Sfax → ride appears with match badge. (6) Open ride detail → map + price breakdown with student discount. (7) Book one seat → 50% prepayment confirmation. (8) Web → driver accepts. (9) Mobile → booking confirmed in My Rides. (10) Open chat → send 'On arrive dans 5 minutes'. (11) Show driver dashboard → reliability gauge. FALLBACK: switch to PDF of screenshots and narrate.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— jurors test honesty here. Acknowledge: wallet uses manual top-ups, SQLite is for dev not production, iOS not verified. Then pivot to the roadmap.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vous remercions pour votre attention. Nous sommes prêts pour vos questions. ~15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320040" cy="246888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FINAL YEAR PROJECT  •  2025 —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Calibri"/>
              </a:rPr>
              <a:t>ForsaDrive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FFF3CD"/>
                </a:solidFill>
                <a:latin typeface="Calibri"/>
              </a:rPr>
              <a:t>A Tunisian-context carpooling platform — Web, Mobile, and a unified backend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846320"/>
            <a:ext cx="10332720" cy="36576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Youssef BEN ABID  &amp;  Anas YOUNES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Supervised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663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Mr. Khalil SELMI  (ATOMIC 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406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Ms. Ines BEN NASR  (Academic)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E8B84B"/>
                </a:solidFill>
                <a:latin typeface="Calibri"/>
              </a:rPr>
              <a:t>ATOMIC IT  •  Kelibia, Nabeul, Tunisia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Outline of the defense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36192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Project context &amp;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1051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Why mobility in Tunisia is a real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12848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1284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19456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Existing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8880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What people use today and where it falls short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71216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87121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852928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Proposed solution &amp; methodology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27248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ForsaDrive concept and the Scrum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29584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52958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11296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Conception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785616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Architecture, use cases, class diagram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69664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Realization — sprint by sprint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43984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From foundations to community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46320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828032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Tests &amp;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102352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What works and a live walk-through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504688"/>
            <a:ext cx="502920" cy="5029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50468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548640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5760720"/>
            <a:ext cx="10515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What we delivered and what comes next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CONTEXT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Mobility in Tunisia — a real, daily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F2A3D"/>
                </a:solidFill>
                <a:latin typeface="Calibri"/>
              </a:rPr>
              <a:t>Public transport is irregular. Private cars travel half empty. Existing apps are not built for the local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657600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3657600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Public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329184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Overcrowded buses, irregular schedules, weak coverage of secondary cities.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94560"/>
            <a:ext cx="3657600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94560"/>
            <a:ext cx="3657600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3317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Informal carpooling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329184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Facebook groups, no identity verification, no payment trace, no rating.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94560"/>
            <a:ext cx="3657600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194560"/>
            <a:ext cx="3657600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International apps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788920"/>
            <a:ext cx="329184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BlaBlaCar/inDrive/Bolt — payment models and language not adapted to Tunisia.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846320"/>
            <a:ext cx="10972800" cy="12801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91440" cy="128016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PROBLEM STATEMENT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578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Tunisia lacks a secure, affordable digital ride-sharing solution adapted to local payment habits, available on web and mobile, and capable of building genuine trust between drivers and passengers.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INTERNSHIP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ATOMIC IT — host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685800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4A43A"/>
                </a:solidFill>
                <a:latin typeface="Calibri"/>
              </a:rPr>
              <a:t>▸  </a:t>
            </a:r>
            <a:r>
              <a:rPr sz="1500">
                <a:solidFill>
                  <a:srgbClr val="1F2A3D"/>
                </a:solidFill>
                <a:latin typeface="Calibri"/>
              </a:rPr>
              <a:t>IT engineering services: web and mobile development, software consulting.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4A43A"/>
                </a:solidFill>
                <a:latin typeface="Calibri"/>
              </a:rPr>
              <a:t>▸  </a:t>
            </a:r>
            <a:r>
              <a:rPr sz="1500">
                <a:solidFill>
                  <a:srgbClr val="1F2A3D"/>
                </a:solidFill>
                <a:latin typeface="Calibri"/>
              </a:rPr>
              <a:t>Modern stack: Linux/Windows, .NET, Java, Android/iOS, PHP.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4A43A"/>
                </a:solidFill>
                <a:latin typeface="Calibri"/>
              </a:rPr>
              <a:t>▸  </a:t>
            </a:r>
            <a:r>
              <a:rPr sz="1500">
                <a:solidFill>
                  <a:srgbClr val="1F2A3D"/>
                </a:solidFill>
                <a:latin typeface="Calibri"/>
              </a:rPr>
              <a:t>Located in Kelibia, Nabeul. Director: Mr. Khalil SELMI.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4A43A"/>
                </a:solidFill>
                <a:latin typeface="Calibri"/>
              </a:rPr>
              <a:t>▸  </a:t>
            </a:r>
            <a:r>
              <a:rPr sz="1500">
                <a:solidFill>
                  <a:srgbClr val="1F2A3D"/>
                </a:solidFill>
                <a:latin typeface="Calibri"/>
              </a:rPr>
              <a:t>Flat structure — short feedback loops between developers and management.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4A43A"/>
                </a:solidFill>
                <a:latin typeface="Calibri"/>
              </a:rPr>
              <a:t>▸  </a:t>
            </a:r>
            <a:r>
              <a:rPr sz="1500">
                <a:solidFill>
                  <a:srgbClr val="1F2A3D"/>
                </a:solidFill>
                <a:latin typeface="Calibri"/>
              </a:rPr>
              <a:t>Internship inside the engineering team, mentored by senior developers.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4A43A"/>
                </a:solidFill>
                <a:latin typeface="Calibri"/>
              </a:rPr>
              <a:t>▸  </a:t>
            </a:r>
            <a:r>
              <a:rPr sz="1500">
                <a:solidFill>
                  <a:srgbClr val="1F2A3D"/>
                </a:solidFill>
                <a:latin typeface="Calibri"/>
              </a:rPr>
              <a:t>Agile Scrum applied: daily stand-ups, weekly reviews with the supervisor.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554480"/>
            <a:ext cx="3657600" cy="41148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3657600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69164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Calibri"/>
              </a:rPr>
              <a:t>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148840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148840"/>
            <a:ext cx="21945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Web &amp; mobile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478024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Director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2478024"/>
            <a:ext cx="21945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Mr. Khalil SELMI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807208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Location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807208"/>
            <a:ext cx="21945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Kelibia, Nabeul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Phone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3136392"/>
            <a:ext cx="21945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+216 55 343 224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465576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465576"/>
            <a:ext cx="21945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contact@atomicitpro.com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794760"/>
            <a:ext cx="11887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794760"/>
            <a:ext cx="21945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Agile / Scrum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CRITICAL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people use today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Facebook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inDrive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Bolt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BlaBlaCar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ForsaDrive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Identity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In-app payment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Long-distance rides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Rating system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Adapted to local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Student discount (50%)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5257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Wallet-based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No existing option combines local fit with structured trust mechanisms. ForsaDrive sits exactly in that gap.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ForsaDrive — what we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3D"/>
                </a:solidFill>
                <a:latin typeface="Calibri"/>
              </a:rPr>
              <a:t>An integrated ecosystem: web app, mobile app, and a shared backend, covering the full lifecycle from registration to post-trip rating.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657600" cy="27432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657600" cy="73152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B84B"/>
                </a:solidFill>
                <a:latin typeface="Calibri"/>
              </a:rPr>
              <a:t>Local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32918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50% prepayment + cash settlement, French/English/Arabic with RTL, Tunisian-recognized university domains.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286000"/>
            <a:ext cx="3657600" cy="27432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286000"/>
            <a:ext cx="3657600" cy="73152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4231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B84B"/>
                </a:solidFill>
                <a:latin typeface="Calibri"/>
              </a:rPr>
              <a:t>Trust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80360"/>
            <a:ext cx="32918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Identity &amp; student verification, ratings on both sides, complaint workflow, reliability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286000"/>
            <a:ext cx="3657600" cy="27432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286000"/>
            <a:ext cx="3657600" cy="73152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4231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B84B"/>
                </a:solidFill>
                <a:latin typeface="Calibri"/>
              </a:rPr>
              <a:t>Smart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80360"/>
            <a:ext cx="32918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Compatibility score, driver analytics, ride boosting, social feed, in-app chat, AI-assisted helpdesk.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12080"/>
            <a:ext cx="2697480" cy="96012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26974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800" b="1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715000"/>
            <a:ext cx="2697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A3D"/>
                </a:solidFill>
                <a:latin typeface="Calibri"/>
              </a:rPr>
              <a:t>coordinated apps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5212080"/>
            <a:ext cx="2697480" cy="96012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5257800"/>
            <a:ext cx="26974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800" b="1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715000"/>
            <a:ext cx="2697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A3D"/>
                </a:solidFill>
                <a:latin typeface="Calibri"/>
              </a:rPr>
              <a:t>functional sprints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5212080"/>
            <a:ext cx="2697480" cy="96012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5257800"/>
            <a:ext cx="26974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800" b="1">
                <a:solidFill>
                  <a:srgbClr val="0A1628"/>
                </a:solidFill>
                <a:latin typeface="Calibri"/>
              </a:rPr>
              <a:t>20+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715000"/>
            <a:ext cx="2697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A3D"/>
                </a:solidFill>
                <a:latin typeface="Calibri"/>
              </a:rPr>
              <a:t>domain entities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5212080"/>
            <a:ext cx="2697480" cy="96012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5257800"/>
            <a:ext cx="26974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800" b="1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715000"/>
            <a:ext cx="2697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A3D"/>
                </a:solidFill>
                <a:latin typeface="Calibri"/>
              </a:rPr>
              <a:t>supported languages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Scrum — five iterations grouped into two 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3D"/>
                </a:solidFill>
                <a:latin typeface="Calibri"/>
              </a:rPr>
              <a:t>Sprint 0 prepared the ground. Four functional sprints then delivered two coherent releases of the product.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727" y="2377440"/>
            <a:ext cx="2103120" cy="18288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727" y="2514600"/>
            <a:ext cx="21031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E8B84B"/>
                </a:solidFill>
                <a:latin typeface="Calibri"/>
              </a:rPr>
              <a:t>S0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" y="3154680"/>
            <a:ext cx="19202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E8B84B"/>
                </a:solidFill>
                <a:latin typeface="Calibri"/>
              </a:rPr>
              <a:t>Architecture</a:t>
            </a:r>
          </a:p>
          <a:p>
            <a:pPr algn="ctr"/>
            <a:r>
              <a:rPr sz="1200" b="1">
                <a:solidFill>
                  <a:srgbClr val="E8B84B"/>
                </a:solidFill>
                <a:latin typeface="Calibri"/>
              </a:rPr>
              <a:t>&amp; Conception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2377440"/>
            <a:ext cx="2103120" cy="18288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4007" y="2514600"/>
            <a:ext cx="21031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A1628"/>
                </a:solidFill>
                <a:latin typeface="Calibri"/>
              </a:rPr>
              <a:t>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447" y="3154680"/>
            <a:ext cx="19202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Foundations</a:t>
            </a:r>
          </a:p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(Auth + Profiles)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44287" y="2377440"/>
            <a:ext cx="2103120" cy="18288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4287" y="2514600"/>
            <a:ext cx="21031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A1628"/>
                </a:solidFill>
                <a:latin typeface="Calibri"/>
              </a:rPr>
              <a:t>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5727" y="3154680"/>
            <a:ext cx="19202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Rides</a:t>
            </a:r>
          </a:p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&amp; Bookings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4567" y="2377440"/>
            <a:ext cx="2103120" cy="18288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4567" y="2514600"/>
            <a:ext cx="21031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A1628"/>
                </a:solidFill>
                <a:latin typeface="Calibri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6007" y="3154680"/>
            <a:ext cx="19202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Payments</a:t>
            </a:r>
          </a:p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&amp; Intelligence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24847" y="2377440"/>
            <a:ext cx="2103120" cy="18288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4847" y="2514600"/>
            <a:ext cx="21031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A1628"/>
                </a:solidFill>
                <a:latin typeface="Calibri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6287" y="3154680"/>
            <a:ext cx="19202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Community</a:t>
            </a:r>
          </a:p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&amp; Finalization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434840"/>
            <a:ext cx="4206240" cy="36576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45262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Calibri"/>
              </a:rPr>
              <a:t>RELEASE 1 — usable booking loop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4434840"/>
            <a:ext cx="4206240" cy="36576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45262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Calibri"/>
              </a:rPr>
              <a:t>RELEASE 2 — intelligence + community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D4A43A"/>
                </a:solidFill>
                <a:latin typeface="Calibri"/>
              </a:rPr>
              <a:t>▸  </a:t>
            </a:r>
            <a:r>
              <a:rPr sz="1300">
                <a:solidFill>
                  <a:srgbClr val="1F2A3D"/>
                </a:solidFill>
                <a:latin typeface="Calibri"/>
              </a:rPr>
              <a:t>Daily stand-ups inside the team — weekly reviews with the supervising engineer.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D4A43A"/>
                </a:solidFill>
                <a:latin typeface="Calibri"/>
              </a:rPr>
              <a:t>▸  </a:t>
            </a:r>
            <a:r>
              <a:rPr sz="1300">
                <a:solidFill>
                  <a:srgbClr val="1F2A3D"/>
                </a:solidFill>
                <a:latin typeface="Calibri"/>
              </a:rPr>
              <a:t>Each sprint produced a usable increment, reviewed and demonstrated.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D4A43A"/>
                </a:solidFill>
                <a:latin typeface="Calibri"/>
              </a:rPr>
              <a:t>▸  </a:t>
            </a:r>
            <a:r>
              <a:rPr sz="1300">
                <a:solidFill>
                  <a:srgbClr val="1F2A3D"/>
                </a:solidFill>
                <a:latin typeface="Calibri"/>
              </a:rPr>
              <a:t>Trello board kept the backlog visible — story points on a Fibonacci scale.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SPRINT 0 · CONCEPTION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Architecture — client / server, three 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A43A"/>
                </a:solidFill>
                <a:latin typeface="Calibri"/>
              </a:rPr>
              <a:t>▸  </a:t>
            </a:r>
            <a:r>
              <a:rPr sz="1400">
                <a:solidFill>
                  <a:srgbClr val="1F2A3D"/>
                </a:solidFill>
                <a:latin typeface="Calibri"/>
              </a:rPr>
              <a:t>Two clients (web + mobile) consume one REST API.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A43A"/>
                </a:solidFill>
                <a:latin typeface="Calibri"/>
              </a:rPr>
              <a:t>▸  </a:t>
            </a:r>
            <a:r>
              <a:rPr sz="1400">
                <a:solidFill>
                  <a:srgbClr val="1F2A3D"/>
                </a:solidFill>
                <a:latin typeface="Calibri"/>
              </a:rPr>
              <a:t>Backend in PHP, exposed under /api/, secured with bearer tokens.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A43A"/>
                </a:solidFill>
                <a:latin typeface="Calibri"/>
              </a:rPr>
              <a:t>▸  </a:t>
            </a:r>
            <a:r>
              <a:rPr sz="1400">
                <a:solidFill>
                  <a:srgbClr val="1F2A3D"/>
                </a:solidFill>
                <a:latin typeface="Calibri"/>
              </a:rPr>
              <a:t>Three tiers: presentation, application, data.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A43A"/>
                </a:solidFill>
                <a:latin typeface="Calibri"/>
              </a:rPr>
              <a:t>▸  </a:t>
            </a:r>
            <a:r>
              <a:rPr sz="1400">
                <a:solidFill>
                  <a:srgbClr val="1F2A3D"/>
                </a:solidFill>
                <a:latin typeface="Calibri"/>
              </a:rPr>
              <a:t>External services (payment, notifications, file storage) only reached through the backend — no client secrets.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A43A"/>
                </a:solidFill>
                <a:latin typeface="Calibri"/>
              </a:rPr>
              <a:t>▸  </a:t>
            </a:r>
            <a:r>
              <a:rPr sz="1400">
                <a:solidFill>
                  <a:srgbClr val="1F2A3D"/>
                </a:solidFill>
                <a:latin typeface="Calibri"/>
              </a:rPr>
              <a:t>HTTPS in production. Passwords with bcrypt. Audit log on sensitive operations.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2377440" cy="82296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A1628"/>
                </a:solidFill>
                <a:latin typeface="Calibri"/>
              </a:rPr>
              <a:t>Web App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1691640"/>
            <a:ext cx="2377440" cy="82296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9164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A1628"/>
                </a:solidFill>
                <a:latin typeface="Calibri"/>
              </a:rPr>
              <a:t>Mobile 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971800"/>
            <a:ext cx="2377440" cy="8686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71800"/>
            <a:ext cx="237744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(REST API)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297680"/>
            <a:ext cx="2377440" cy="77724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297680"/>
            <a:ext cx="23774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628"/>
                </a:solidFill>
                <a:latin typeface="Calibri"/>
              </a:rPr>
              <a:t>SQLite (WAL)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89520" y="2514600"/>
            <a:ext cx="1097280" cy="457200"/>
          </a:xfrm>
          <a:prstGeom prst="bentConnector3">
            <a:avLst/>
          </a:prstGeom>
          <a:ln>
            <a:solidFill>
              <a:srgbClr val="0A16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144000" y="2514600"/>
            <a:ext cx="1188720" cy="457200"/>
          </a:xfrm>
          <a:prstGeom prst="bentConnector3">
            <a:avLst/>
          </a:prstGeom>
          <a:ln>
            <a:solidFill>
              <a:srgbClr val="0A16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961120" y="3840480"/>
            <a:ext cx="0" cy="457200"/>
          </a:xfrm>
          <a:prstGeom prst="bentConnector3">
            <a:avLst/>
          </a:prstGeom>
          <a:ln>
            <a:solidFill>
              <a:srgbClr val="0A16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SPRINT 0 · CONCEPTION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Class diagram — 20+ entities, 5 logical groups</a:t>
            </a:r>
          </a:p>
        </p:txBody>
      </p:sp>
      <p:pic>
        <p:nvPicPr>
          <p:cNvPr id="7" name="Picture 6" descr="forsadrive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Users &amp; Profiles  ·  Trips &amp; Bookings  ·  Payments &amp; Ratings  ·  Verification &amp; Discounts  ·  Communication &amp; Moderation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SPRINT 0 · CONCEPTION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Global use case — four actors</a:t>
            </a:r>
          </a:p>
        </p:txBody>
      </p:sp>
      <p:pic>
        <p:nvPicPr>
          <p:cNvPr id="7" name="Picture 6" descr="ForsaDrive_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  <a:latin typeface="Calibri"/>
              </a:rPr>
              <a:t>Passenger  ·  Driver  ·  Administrator  ·  System (automated)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SPRINT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237744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83280"/>
            <a:ext cx="246888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Account creation, authentication, profile, student verification, driver application &amp; admin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6576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Sprint backlog (extract)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383280" y="77724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</a:tblGrid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User story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Register an account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Login with email + password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View / update 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Student verification via university email OTP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Apply to become a driver (license + vehicle)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Admin reviews driver applications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7719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Admin manages recognized university domains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383280" y="3977639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343400"/>
            <a:ext cx="8503920" cy="21031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Self-service OTP flow (10-min code, 5-attempt cap, 30s cooldown).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Driver application creates DriverProfile + Vehicle on approval.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Audit log entry on every verification event.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237744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Rides &amp; Bookings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83280"/>
            <a:ext cx="246888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Driver publishes a ride. Passenger searches, filters, books with 50% prepayment.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6576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Sprint backlog (extract)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383280" y="77724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</a:tblGrid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User story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Publish a ride (origin, destination, date, price, seats)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Modify or cancel a ride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Search rides by origin / destination /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Filter by price, departure time, driver rating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View ride detail and driver 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Book seats with 50% prepayment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Group booking for friends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US2.8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Driver accepts / rejects booking requests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383280" y="3977639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343400"/>
            <a:ext cx="8503920" cy="21031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Booking persisted only if prepayment succeeds — no orphan bookings.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Search response indexed on origin, destination, departure_date.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Activity diagram covered cash collection at end of trip.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SPRINT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237744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Payments &amp;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83280"/>
            <a:ext cx="246888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Wallet, promo codes, ride boosting, driver analytics, compatibility score.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6576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Sprint backlog (extract)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383280" y="77724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</a:tblGrid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User story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View wallet balance and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Top up wallet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Auto-apply 50% student discount on booking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Apply organizational promo code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Boost a ride to top of search/feed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Driver dashboard with reliability + revenue + ratings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Compatibility score badge per 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US3.8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Recompute reliability after every completed trip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383280" y="3977639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343400"/>
            <a:ext cx="8503920" cy="21031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Price pipeline: base × seats → student 50% → promo % → 50% prepayment.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Reliability score: rating × completion × (1 − cancellation).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Bug caught at sprint review: promo applied before student discount — fixed.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SPRINT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237744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Community &amp; Finalization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83280"/>
            <a:ext cx="246888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Chat, ratings, complaints, social feed, helpdesk, multilingual interface, admin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6576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Sprint backlog (extract)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383280" y="77724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</a:tblGrid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User story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Real-time in-app chat (poll-based)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US4.2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Push notifications (FCM)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Social feed (posts, likes, comments)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US4.4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Rate the other party after a trip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File a complaint after a trip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AI-assisted HelpDesk with bot escalation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Switch interface FR / EN / AR (RTL)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US4.8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Admin panel — 7 tabs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383280" y="3977639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343400"/>
            <a:ext cx="8503920" cy="21031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Chat polled every 3 s — sufficient for current scale, no WebSocket dep.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HelpDesk bot covers 14 FAQ categories, escalates to human agent.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Arabic flips the layout automatically through Flutter localizations.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REALIZATION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Selected screens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743200" cy="40233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25603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25603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Calibri"/>
              </a:rPr>
              <a:t>[mobile_auth.png]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7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Calibri"/>
              </a:rPr>
              <a:t>Authentication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463040"/>
            <a:ext cx="2743200" cy="40233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1554480"/>
            <a:ext cx="25603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3200400"/>
            <a:ext cx="25603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Calibri"/>
              </a:rPr>
              <a:t>[mobile_search.png]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521207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Calibri"/>
              </a:rPr>
              <a:t>Search + match 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463040"/>
            <a:ext cx="2743200" cy="40233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1554480"/>
            <a:ext cx="25603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2784" y="3200400"/>
            <a:ext cx="25603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Calibri"/>
              </a:rPr>
              <a:t>[mobile_trip_details.png]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21207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Calibri"/>
              </a:rPr>
              <a:t>Trip details + map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43416" y="1463040"/>
            <a:ext cx="2743200" cy="40233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4856" y="1554480"/>
            <a:ext cx="25603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4856" y="3200400"/>
            <a:ext cx="25603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Calibri"/>
              </a:rPr>
              <a:t>[mobile_driver_dashboard.png]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521207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  <a:latin typeface="Calibri"/>
              </a:rPr>
              <a:t>Driver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Web counterparts cover the same workflows for desktop users and the administration panel.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MOBILE-SPECIFIC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only the mobile makes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4864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73152" cy="2331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Push notifications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Firebase Cloud Messaging delivers booking, message, and ride alerts even when the app is in the background.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864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73152" cy="2331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Interactive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028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OpenStreetMap tiles + OSRM routing draw the driving line between origin and destination on each ride detail screen.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54864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73152" cy="2331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Real-time 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Conversations linked to bookings — bubble UI, date dividers, read receipts. 3-second polling, no WebSocket dependency.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54864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31920"/>
            <a:ext cx="73152" cy="2331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Calibri"/>
              </a:rPr>
              <a:t>Multilingual + RTL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70916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A3D"/>
                </a:solidFill>
                <a:latin typeface="Calibri"/>
              </a:rPr>
              <a:t>FR / EN / AR with automatic right-to-left layout flipping for Arabic, no manual override in any widget.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REALIZATION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57600" cy="5943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6576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Web 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3657600" cy="39776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PHP 8 (server-rendered)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Routing, sessions, page rendering.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HTML5 + Bootstrap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Responsive layout, consistent components.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Vanilla JavaScript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Form validation, AJAX, admin tab switching.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463040"/>
            <a:ext cx="3657600" cy="594360"/>
          </a:xfrm>
          <a:prstGeom prst="rect">
            <a:avLst/>
          </a:prstGeom>
          <a:solidFill>
            <a:srgbClr val="D4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463040"/>
            <a:ext cx="36576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Backend /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057400"/>
            <a:ext cx="3657600" cy="39776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240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PHP REST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Front-controller under /api/, JSON responses.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383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PDO + bearer tokens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703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Parameterized queries, 32-byte hex tokens.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526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SQLite (WAL mode)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846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Shared file between web and mobile.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463040"/>
            <a:ext cx="3657600" cy="5943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463040"/>
            <a:ext cx="36576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057400"/>
            <a:ext cx="3657600" cy="39776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240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Flutter (Dart)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560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Single codebase, native rendering on Android &amp; iOS.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83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Provider + go_router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703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State management + declarative navigation.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52628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Calibri"/>
              </a:rPr>
              <a:t>FCM, flutter_map, l10n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8463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3D"/>
                </a:solidFill>
                <a:latin typeface="Calibri"/>
              </a:rPr>
              <a:t>Push, OSM map, FR/EN/AR with RTL.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Testing — continuous, not deferred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12064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Unit tests on the price pipeline, prepayment, booking state machine.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Postman collections replay end-to-end scenarios after each backend change.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Manual cross-device tests on three Android phones.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Weekly demo with the supervising engineer caught usability issues.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Results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920240"/>
          <a:ext cx="5760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Registration + student OTP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Token-based session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Driver application + approval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Publish / cancel a ride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Book with 50% prepayment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Student discount + promo code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Wallet top-up +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Ratings + complaints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90698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Real-time chat + push (FCM)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7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Multilingual + RTL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✓ Passed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365760" cy="7315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B84B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ForsaDrive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FFF3CD"/>
                </a:solidFill>
                <a:latin typeface="Calibri"/>
              </a:rPr>
              <a:t>Walk-through: registration → student verification → search → book → driver acceptance → cash collection.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HONEST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Limitations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00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What's missing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Wallet uses manual top-ups — no real payment gateway integrated yet.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SQLite is suited for development, not high-traffic production.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Mobile tested only on Android — iOS build not verified.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No forgot-password email flow yet.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Performance under concurrent load was not measured.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5486400" cy="457200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5486400" cy="54864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Calibri"/>
              </a:rPr>
              <a:t>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Migrate to PostgreSQL or MySQL for production.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Integrate a Tunisian payment gateway (Konnect or Paymee).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Deploy backend behind HTTPS on a VPS, automated backups.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Publish the Flutter app on the Google Play Store.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4A43A"/>
                </a:solidFill>
                <a:latin typeface="Calibri"/>
              </a:rPr>
              <a:t>▸  </a:t>
            </a:r>
            <a:r>
              <a:rPr sz="1200">
                <a:solidFill>
                  <a:srgbClr val="1F2A3D"/>
                </a:solidFill>
                <a:latin typeface="Calibri"/>
              </a:rPr>
              <a:t>Add 2FA for driver and admin accounts + offline cache on mobile.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" cy="13716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5156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Thank you for your attention.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FFF3CD"/>
                </a:solidFill>
                <a:latin typeface="Calibri"/>
              </a:rPr>
              <a:t>We are now ready for your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43600"/>
            <a:ext cx="12191695" cy="594360"/>
          </a:xfrm>
          <a:prstGeom prst="rect">
            <a:avLst/>
          </a:prstGeom>
          <a:solidFill>
            <a:srgbClr val="06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0972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8B84B"/>
                </a:solidFill>
                <a:latin typeface="Calibri"/>
              </a:rPr>
              <a:t>Youssef BEN ABID  &amp;  Anas YOUNES   ·   ForsaDrive   ·   2025 —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20040" cy="13716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8B84B"/>
                </a:solidFill>
                <a:latin typeface="Calibri"/>
              </a:rPr>
              <a:t>BACKUP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Annexes — for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3CD"/>
                </a:solidFill>
                <a:latin typeface="Calibri"/>
              </a:rPr>
              <a:t>The following slides are not part of the main presentation. They are kept available in case the jury asks for deeper detail.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A · BOOKING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Sequence — passenger books a ride</a:t>
            </a:r>
          </a:p>
        </p:txBody>
      </p:sp>
      <p:pic>
        <p:nvPicPr>
          <p:cNvPr id="7" name="Picture 6" descr="ForsaDrive_Sequence_BookR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Prepayment is deducted from the wallet BEFORE the booking is persisted — guarantees no orphan bookings.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A / 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B · TRUST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Sequence — student OTP verification</a:t>
            </a:r>
          </a:p>
        </p:txBody>
      </p:sp>
      <p:pic>
        <p:nvPicPr>
          <p:cNvPr id="7" name="Picture 6" descr="ForsaDrive_Sequence_Verify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Domain checked against student_domains • 6-digit OTP, 10-min expiry, 5-attempt cap, 30s cooldown between sends.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B /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C ·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Sequence — driver application &amp; admin approval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047" y="1280160"/>
            <a:ext cx="105156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3566160"/>
            <a:ext cx="105156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[image: ForsaDrive_Sequence_DriverApplication.png]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On approval: DriverProfile + Vehicle are created and the user role is switched to DRIVER atomically.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C / 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D · FULL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Activity diagram — end-to-end booking journey</a:t>
            </a:r>
          </a:p>
        </p:txBody>
      </p:sp>
      <p:pic>
        <p:nvPicPr>
          <p:cNvPr id="7" name="Picture 6" descr="ForsaDrive_Activity_Booking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Three swimlanes: passenger / system / driver. Decision points: retry payment, accept/refuse, depart, arrive, cash collection.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D / 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E · BUSINESS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Price computation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3D"/>
                </a:solidFill>
                <a:latin typeface="Calibri"/>
              </a:rPr>
              <a:t>Order matters. Reviewed and validated with the supervising engineer.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1284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base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3D"/>
                </a:solidFill>
                <a:latin typeface="Consolas"/>
              </a:rPr>
              <a:t>price_per_seat × seats_booked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834640"/>
            <a:ext cx="457200" cy="4572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5292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student discount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8036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3D"/>
                </a:solidFill>
                <a:latin typeface="Consolas"/>
              </a:rPr>
              <a:t>if is_student_verified: price × 0.5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74720"/>
            <a:ext cx="457200" cy="4572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9300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promo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2044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3D"/>
                </a:solidFill>
                <a:latin typeface="Consolas"/>
              </a:rPr>
              <a:t>if org code valid: price × (1 − pct/100)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114800"/>
            <a:ext cx="457200" cy="4572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11480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3308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prepayment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605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3D"/>
                </a:solidFill>
                <a:latin typeface="Consolas"/>
              </a:rPr>
              <a:t>prepayment = price × 0.5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754880"/>
            <a:ext cx="457200" cy="45720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5488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A1628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77316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Calibri"/>
              </a:rPr>
              <a:t>persist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0060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3D"/>
                </a:solidFill>
                <a:latin typeface="Consolas"/>
              </a:rPr>
              <a:t>store all 5 values on the booking row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806440"/>
            <a:ext cx="10789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Calibri"/>
              </a:rPr>
              <a:t>Bug caught at Sprint 3 review: steps 2 &amp; 3 were inverted. Fixed same evening, locked by a unit test.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E / 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F · DATA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Core relational schema (extract)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username, email, password, is_driver, is_student, balance,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driver_profiles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user_id*, license_number, avg_rating, total_trips, reliability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vehicles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user_id*, type, make, model, plate_number, seats, has_ac, has_wifi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rides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driver_id*, vehicle_id*, from_location, to_location, departure_time, price, available_seats, status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bookings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ride_id*, passenger_id*, seats, paid_amount,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payments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user_id*, amount, type, description, ref_id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ratings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ride_id*, from_user_id*, to_user_id*, score, comment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student_verifications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user_id*, university_email, status, verified_at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organizations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name, type, contact_email, email_domain, discount_percent, discount_code,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complaints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from_user_id*, against_user_id*, type, text, status, admin_note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messages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000">
                          <a:solidFill>
                            <a:srgbClr val="1F2A3D"/>
                          </a:solidFill>
                          <a:latin typeface="Calibri"/>
                        </a:rPr>
                        <a:t>id, conversation_id*, sender_id*, body, is_read, sent_at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* foreign key. ~20 tables total in the live schema. Indexes on origin, destination, departure_time, foreign keys.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F / 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G · API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REST API surface (extract)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/api/auth/register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Create account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/api/auth/login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Returns 32-byte bearer token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/api/rides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Search with from/to/date/filters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/api/rides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Driver publishes a ride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/api/rides/{id}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Driver cancels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/api/bookings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Passenger books — 50% prepayment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/api/bookings/group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Group booking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/api/bookings/validate-promo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Org promo code lookup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/api/bookings/requests/{id}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Driver accepts/rejects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/api/student/send-otp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Send OTP to university email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/api/student/verify-otp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Verify OTP, mark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/api/admin/organizations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List org accounts (admin)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/api/admin/organizations/{id}/review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Approve / reject org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/api/feed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100">
                          <a:solidFill>
                            <a:srgbClr val="1F2A3D"/>
                          </a:solidFill>
                          <a:latin typeface="Calibri"/>
                        </a:rPr>
                        <a:t>Social feed (posts + interactions)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All protected endpoints require the Authorization: Bearer &lt;token&gt; header.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G / 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E8B84B"/>
                </a:solidFill>
                <a:latin typeface="Calibri"/>
              </a:rPr>
              <a:t>BACKUP H · RISK &amp; MITIGATIONS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Security posture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0A1628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Password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bcrypt via PHP password_hash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Random 32-byte hex bearer token, 30-day TTL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HTTPS in production (XAMPP HTTP for dev)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SQL injection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PDO with parameterized queries everywhere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XSS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Server-rendered output is escaped (htmlspecialchars)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CSRF (web admin)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Same-origin admin panel + session-based auth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Admin separation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Admin login blocked on the mobile API (web-only)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File uploads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Mime + size validation; served from /Src under XAMPP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40574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Audit trail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Sensitive ops (verification, suspension) logged server-side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Rate limiting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l"/>
                      <a:r>
                        <a:rPr sz="1200">
                          <a:solidFill>
                            <a:srgbClr val="1F2A3D"/>
                          </a:solidFill>
                          <a:latin typeface="Calibri"/>
                        </a:rPr>
                        <a:t>OTP send has a 30s per-account cooldown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ForsaDrive  •  Final Year Project Defense  •  ATOMIC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36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E8B84B"/>
                </a:solidFill>
                <a:latin typeface="Calibri"/>
              </a:rPr>
              <a:t>H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