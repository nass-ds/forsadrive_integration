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Youssef, voici Anas. Nous allons vous présenter ForsaDrive, notre PFE réalisé chez ATOMIC IT sous la supervision de M. Khalil Selmi et Mme Ines Ben Nasr. ~30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Parcourir les 7 sections rapidement. Contexte, solutions existantes, notre proposition, méthodologie Scrum, conception, réalisation sprint par sprint, tests/démo, conclusion. ~30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points d'ancrage : étudiants/travailleurs voyagent beaucoup mais ont peu de budget, et les voitures privées roulent à moitié vides. Lire la problématique en bas — c'est la thèse de tout le projet. ~45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Court. Ils ont fourni l'encadrement technique ET le cadre agile. Ne pas s'attarder, le jury s'intéresse au projet. ~30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lire toute la table. Pointer une ligne : « Regardez la réduction étudiante — aucune ne l'a. Portefeuille — aucune ne l'a. C'est notre niche. » Finir avec la phrase en gras. ~45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piliers structurent le reste de l'exposé. Chiffres à retenir : 3 applis, 4 sprints, 20+ entités, 3 langues. ~45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 qui intéresse l'encadrant. Parcourir la frise : Sprint 0 préparatoire, quatre sprints fonctionnels, groupés en deux releases. Mentionner les stand-ups quotidiens et les revues hebdomadaires. ~1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clients, un backend, une base. Les règles métier sont dans le backend, donc impossible à contourner depuis le mobile. Bearer tokens, bcrypt, HTTPS. ~1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énumérer chaque classe. Dire : une vingtaine d'entités, organisées en cinq groupes logiques — utilisateurs, trajets, paiements, vérification, communication. Renvoyer au rapport pour le détail. ~30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principe : ne pas tout énumérer. « Quatre acteurs — passager, conducteur, admin, et le système lui-même pour les opérations automatiques comme le calcul de la réduction ou du score de fiabilité. » ~30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l'objectif (rail gauche). Mettre l'accent sur US1.4 (OTP) et US1.5 (candidature conducteur) — les plus intéressants. Lire les 3 livrables. ~1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Objectif, puis pointer US2.6 (acompte 50 %) et US2.7 (réservation de groupe). Mentionner la collecte cash dans le diagramme d'activité — ça montre que vous avez pensé au flux complet, pas seulement au scénario nominal. ~1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 Bug du pipeline de prix détecté en revue — la promo s'appliquait AVANT la réduction étudiante, légèrement en faveur du passager. Corrigé le soir même + test unitaire ajouté. » Ça prouve que vous faites de vraies revues. ~1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Mentionner : le chat est en polling 3 secondes, sans WebSocket — un choix délibéré, pas une limite. Le bot HelpDesk couvre 14 catégories FAQ avec escalade. L'arabe bascule automatiquement la mise en page. ~1 min. (Vous devriez être à ~12 min à la fin de cette diapo.)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gauche à droite : auth → recherche avec score → détail trajet avec carte → tableau de bord conducteur avec jauge de fiabilité. ~45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vous êtes en retard, SAUTER cette diapo — le jury peut lire. Sinon : push (FCM), carte interactive (OSM + OSRM), chat intégré, multilingue avec RTL automatique. ~30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en retard, SAUTER aussi. Une phrase par colonne : Web (PHP + Bootstrap), Backend (PHP REST + bearer + SQLite WAL), Mobile (Flutter + Provider + go_router + FCM). ~30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 tests étaient continus, pas reportés. » Mentionner la suite unitaire du pipeline de prix — c'est là que le bug du Sprint 3 a été verrouillé. ~45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DÉMO (3 min, 11 étapes) : (1) Inscription passager sur mobile. (2) Taper un email universitaire reconnu → bannière verte. (3) Déclencher la vérification OTP. (4) Passer sur le web → session conducteur → publier un trajet Tunis-Sfax. (5) Mobile → rechercher Tunis Sfax → le trajet apparaît avec le badge de score. (6) Ouvrir le détail → carte + détail du prix avec la réduction étudiante. (7) Réserver une place → confirmation de l'acompte 50 %. (8) Web → le conducteur accepte. (9) Mobile → réservation confirmée dans Mes Trajets. (10) Ouvrir le chat → envoyer « On arrive dans 5 minutes ». (11) Tableau de bord conducteur → jauge de fiabilité. SECOURS : basculer sur le PDF des captures et narrer.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ÊTRE HONNÊTE — les jurys testent l'honnêteté ici. Reconnaître : portefeuille par rechargement manuel, SQLite pour le dev pas la prod, iOS non vérifié. Puis pivoter vers la feuille de route.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vous remercions pour votre attention. Nous sommes prêts pour vos questions. ~15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320040" cy="246888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058400" cy="365760"/>
          </a:xfrm>
          <a:prstGeom prst="rect">
            <a:avLst/>
          </a:prstGeom>
          <a:noFill/>
        </p:spPr>
        <p:txBody>
          <a:bodyPr wrap="square" anchor="t" lIns="45720" rIns="45720" tIns="18288" bIns="18288">
            <a:spAutoFit/>
          </a:bodyPr>
          <a:lstStyle/>
          <a:p>
            <a:pPr algn="l"/>
            <a:r>
              <a:rPr sz="1400" b="1">
                <a:solidFill>
                  <a:srgbClr val="E8B84B"/>
                </a:solidFill>
                <a:latin typeface="Calibri"/>
              </a:rPr>
              <a:t>PROJET DE FIN D'ÉTUDES  •  2025 — 2026</a:t>
            </a:r>
          </a:p>
        </p:txBody>
      </p:sp>
      <p:sp>
        <p:nvSpPr>
          <p:cNvPr id="5" name="TextBox 4"/>
          <p:cNvSpPr txBox="1"/>
          <p:nvPr/>
        </p:nvSpPr>
        <p:spPr>
          <a:xfrm>
            <a:off x="914400" y="2468880"/>
            <a:ext cx="10515600" cy="1097280"/>
          </a:xfrm>
          <a:prstGeom prst="rect">
            <a:avLst/>
          </a:prstGeom>
          <a:noFill/>
        </p:spPr>
        <p:txBody>
          <a:bodyPr wrap="square" anchor="t" lIns="45720" rIns="45720" tIns="18288" bIns="18288">
            <a:spAutoFit/>
          </a:bodyPr>
          <a:lstStyle/>
          <a:p>
            <a:pPr algn="l"/>
            <a:r>
              <a:rPr sz="6600" b="1">
                <a:solidFill>
                  <a:srgbClr val="FFFFFF"/>
                </a:solidFill>
                <a:latin typeface="Calibri"/>
              </a:rPr>
              <a:t>ForsaDrive</a:t>
            </a:r>
          </a:p>
        </p:txBody>
      </p:sp>
      <p:sp>
        <p:nvSpPr>
          <p:cNvPr id="6" name="TextBox 5"/>
          <p:cNvSpPr txBox="1"/>
          <p:nvPr/>
        </p:nvSpPr>
        <p:spPr>
          <a:xfrm>
            <a:off x="914400" y="3566160"/>
            <a:ext cx="10515600" cy="640080"/>
          </a:xfrm>
          <a:prstGeom prst="rect">
            <a:avLst/>
          </a:prstGeom>
          <a:noFill/>
        </p:spPr>
        <p:txBody>
          <a:bodyPr wrap="square" anchor="t" lIns="45720" rIns="45720" tIns="18288" bIns="18288">
            <a:spAutoFit/>
          </a:bodyPr>
          <a:lstStyle/>
          <a:p>
            <a:pPr algn="l"/>
            <a:r>
              <a:rPr sz="2000" b="0">
                <a:solidFill>
                  <a:srgbClr val="FFF3CD"/>
                </a:solidFill>
                <a:latin typeface="Calibri"/>
              </a:rPr>
              <a:t>Plateforme de covoiturage adaptée au contexte tunisien — Web, Mobile et un backend unifié</a:t>
            </a:r>
          </a:p>
        </p:txBody>
      </p:sp>
      <p:sp>
        <p:nvSpPr>
          <p:cNvPr id="7" name="Rectangle 6"/>
          <p:cNvSpPr/>
          <p:nvPr/>
        </p:nvSpPr>
        <p:spPr>
          <a:xfrm>
            <a:off x="914400" y="4846320"/>
            <a:ext cx="10332720" cy="36576"/>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37760"/>
            <a:ext cx="5029200" cy="365760"/>
          </a:xfrm>
          <a:prstGeom prst="rect">
            <a:avLst/>
          </a:prstGeom>
          <a:noFill/>
        </p:spPr>
        <p:txBody>
          <a:bodyPr wrap="square" anchor="t" lIns="45720" rIns="45720" tIns="18288" bIns="18288">
            <a:spAutoFit/>
          </a:bodyPr>
          <a:lstStyle/>
          <a:p>
            <a:pPr algn="l"/>
            <a:r>
              <a:rPr sz="1100" b="1">
                <a:solidFill>
                  <a:srgbClr val="E8B84B"/>
                </a:solidFill>
                <a:latin typeface="Calibri"/>
              </a:rPr>
              <a:t>Présenté par</a:t>
            </a:r>
          </a:p>
        </p:txBody>
      </p:sp>
      <p:sp>
        <p:nvSpPr>
          <p:cNvPr id="9" name="TextBox 8"/>
          <p:cNvSpPr txBox="1"/>
          <p:nvPr/>
        </p:nvSpPr>
        <p:spPr>
          <a:xfrm>
            <a:off x="914400" y="5166360"/>
            <a:ext cx="5029200" cy="457200"/>
          </a:xfrm>
          <a:prstGeom prst="rect">
            <a:avLst/>
          </a:prstGeom>
          <a:noFill/>
        </p:spPr>
        <p:txBody>
          <a:bodyPr wrap="square" anchor="t" lIns="45720" rIns="45720" tIns="18288" bIns="18288">
            <a:spAutoFit/>
          </a:bodyPr>
          <a:lstStyle/>
          <a:p>
            <a:pPr algn="l"/>
            <a:r>
              <a:rPr sz="1800" b="1">
                <a:solidFill>
                  <a:srgbClr val="FFFFFF"/>
                </a:solidFill>
                <a:latin typeface="Calibri"/>
              </a:rPr>
              <a:t>Youssef BEN ABID  &amp;  Anas YOUNES</a:t>
            </a:r>
          </a:p>
        </p:txBody>
      </p:sp>
      <p:sp>
        <p:nvSpPr>
          <p:cNvPr id="10" name="TextBox 9"/>
          <p:cNvSpPr txBox="1"/>
          <p:nvPr/>
        </p:nvSpPr>
        <p:spPr>
          <a:xfrm>
            <a:off x="6400800" y="4937760"/>
            <a:ext cx="5029200" cy="365760"/>
          </a:xfrm>
          <a:prstGeom prst="rect">
            <a:avLst/>
          </a:prstGeom>
          <a:noFill/>
        </p:spPr>
        <p:txBody>
          <a:bodyPr wrap="square" anchor="t" lIns="45720" rIns="45720" tIns="18288" bIns="18288">
            <a:spAutoFit/>
          </a:bodyPr>
          <a:lstStyle/>
          <a:p>
            <a:pPr algn="l"/>
            <a:r>
              <a:rPr sz="1100" b="1">
                <a:solidFill>
                  <a:srgbClr val="E8B84B"/>
                </a:solidFill>
                <a:latin typeface="Calibri"/>
              </a:rPr>
              <a:t>Encadré par</a:t>
            </a:r>
          </a:p>
        </p:txBody>
      </p:sp>
      <p:sp>
        <p:nvSpPr>
          <p:cNvPr id="11" name="TextBox 10"/>
          <p:cNvSpPr txBox="1"/>
          <p:nvPr/>
        </p:nvSpPr>
        <p:spPr>
          <a:xfrm>
            <a:off x="6400800" y="5166360"/>
            <a:ext cx="5029200" cy="365760"/>
          </a:xfrm>
          <a:prstGeom prst="rect">
            <a:avLst/>
          </a:prstGeom>
          <a:noFill/>
        </p:spPr>
        <p:txBody>
          <a:bodyPr wrap="square" anchor="t" lIns="45720" rIns="45720" tIns="18288" bIns="18288">
            <a:spAutoFit/>
          </a:bodyPr>
          <a:lstStyle/>
          <a:p>
            <a:pPr algn="l"/>
            <a:r>
              <a:rPr sz="1300" b="0">
                <a:solidFill>
                  <a:srgbClr val="FFFFFF"/>
                </a:solidFill>
                <a:latin typeface="Calibri"/>
              </a:rPr>
              <a:t>M. Khalil SELMI  (ATOMIC IT — encadrant professionnel)</a:t>
            </a:r>
          </a:p>
        </p:txBody>
      </p:sp>
      <p:sp>
        <p:nvSpPr>
          <p:cNvPr id="12" name="TextBox 11"/>
          <p:cNvSpPr txBox="1"/>
          <p:nvPr/>
        </p:nvSpPr>
        <p:spPr>
          <a:xfrm>
            <a:off x="6400800" y="5440680"/>
            <a:ext cx="5029200" cy="365760"/>
          </a:xfrm>
          <a:prstGeom prst="rect">
            <a:avLst/>
          </a:prstGeom>
          <a:noFill/>
        </p:spPr>
        <p:txBody>
          <a:bodyPr wrap="square" anchor="t" lIns="45720" rIns="45720" tIns="18288" bIns="18288">
            <a:spAutoFit/>
          </a:bodyPr>
          <a:lstStyle/>
          <a:p>
            <a:pPr algn="l"/>
            <a:r>
              <a:rPr sz="1300" b="0">
                <a:solidFill>
                  <a:srgbClr val="FFFFFF"/>
                </a:solidFill>
                <a:latin typeface="Calibri"/>
              </a:rPr>
              <a:t>Mme Ines BEN NASR  (encadrante académique)</a:t>
            </a:r>
          </a:p>
        </p:txBody>
      </p:sp>
      <p:sp>
        <p:nvSpPr>
          <p:cNvPr id="13" name="Rectangle 12"/>
          <p:cNvSpPr/>
          <p:nvPr/>
        </p:nvSpPr>
        <p:spPr>
          <a:xfrm>
            <a:off x="0" y="6537960"/>
            <a:ext cx="12191695" cy="320040"/>
          </a:xfrm>
          <a:prstGeom prst="rect">
            <a:avLst/>
          </a:prstGeom>
          <a:solidFill>
            <a:srgbClr val="06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83680"/>
            <a:ext cx="10972800" cy="274320"/>
          </a:xfrm>
          <a:prstGeom prst="rect">
            <a:avLst/>
          </a:prstGeom>
          <a:noFill/>
        </p:spPr>
        <p:txBody>
          <a:bodyPr wrap="square" anchor="ctr" lIns="45720" rIns="45720" tIns="18288" bIns="18288">
            <a:spAutoFit/>
          </a:bodyPr>
          <a:lstStyle/>
          <a:p>
            <a:pPr algn="l"/>
            <a:r>
              <a:rPr sz="1000" b="0">
                <a:solidFill>
                  <a:srgbClr val="E8B84B"/>
                </a:solidFill>
                <a:latin typeface="Calibri"/>
              </a:rPr>
              <a:t>ATOMIC IT  •  Kelibia, Nabeul, Tunisia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PLAN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Plan de la soutenance</a:t>
            </a:r>
          </a:p>
        </p:txBody>
      </p:sp>
      <p:sp>
        <p:nvSpPr>
          <p:cNvPr id="7" name="Rectangle 6"/>
          <p:cNvSpPr/>
          <p:nvPr/>
        </p:nvSpPr>
        <p:spPr>
          <a:xfrm>
            <a:off x="548640" y="1554480"/>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54480"/>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01</a:t>
            </a:r>
          </a:p>
        </p:txBody>
      </p:sp>
      <p:sp>
        <p:nvSpPr>
          <p:cNvPr id="9" name="TextBox 8"/>
          <p:cNvSpPr txBox="1"/>
          <p:nvPr/>
        </p:nvSpPr>
        <p:spPr>
          <a:xfrm>
            <a:off x="1280160" y="1536192"/>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Cadre du projet &amp; problématique</a:t>
            </a:r>
          </a:p>
        </p:txBody>
      </p:sp>
      <p:sp>
        <p:nvSpPr>
          <p:cNvPr id="10" name="TextBox 9"/>
          <p:cNvSpPr txBox="1"/>
          <p:nvPr/>
        </p:nvSpPr>
        <p:spPr>
          <a:xfrm>
            <a:off x="1280160" y="1810512"/>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Pourquoi la mobilité en Tunisie est un vrai problème</a:t>
            </a:r>
          </a:p>
        </p:txBody>
      </p:sp>
      <p:sp>
        <p:nvSpPr>
          <p:cNvPr id="11" name="Rectangle 10"/>
          <p:cNvSpPr/>
          <p:nvPr/>
        </p:nvSpPr>
        <p:spPr>
          <a:xfrm>
            <a:off x="548640" y="2212848"/>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212848"/>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02</a:t>
            </a:r>
          </a:p>
        </p:txBody>
      </p:sp>
      <p:sp>
        <p:nvSpPr>
          <p:cNvPr id="13" name="TextBox 12"/>
          <p:cNvSpPr txBox="1"/>
          <p:nvPr/>
        </p:nvSpPr>
        <p:spPr>
          <a:xfrm>
            <a:off x="1280160" y="2194560"/>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Solutions existantes</a:t>
            </a:r>
          </a:p>
        </p:txBody>
      </p:sp>
      <p:sp>
        <p:nvSpPr>
          <p:cNvPr id="14" name="TextBox 13"/>
          <p:cNvSpPr txBox="1"/>
          <p:nvPr/>
        </p:nvSpPr>
        <p:spPr>
          <a:xfrm>
            <a:off x="1280160" y="2468880"/>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Ce qui est utilisé aujourd'hui et ses limites</a:t>
            </a:r>
          </a:p>
        </p:txBody>
      </p:sp>
      <p:sp>
        <p:nvSpPr>
          <p:cNvPr id="15" name="Rectangle 14"/>
          <p:cNvSpPr/>
          <p:nvPr/>
        </p:nvSpPr>
        <p:spPr>
          <a:xfrm>
            <a:off x="548640" y="2871216"/>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871216"/>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03</a:t>
            </a:r>
          </a:p>
        </p:txBody>
      </p:sp>
      <p:sp>
        <p:nvSpPr>
          <p:cNvPr id="17" name="TextBox 16"/>
          <p:cNvSpPr txBox="1"/>
          <p:nvPr/>
        </p:nvSpPr>
        <p:spPr>
          <a:xfrm>
            <a:off x="1280160" y="2852928"/>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Solution proposée &amp; méthodologie</a:t>
            </a:r>
          </a:p>
        </p:txBody>
      </p:sp>
      <p:sp>
        <p:nvSpPr>
          <p:cNvPr id="18" name="TextBox 17"/>
          <p:cNvSpPr txBox="1"/>
          <p:nvPr/>
        </p:nvSpPr>
        <p:spPr>
          <a:xfrm>
            <a:off x="1280160" y="3127248"/>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Le concept ForsaDrive et la démarche Scrum</a:t>
            </a:r>
          </a:p>
        </p:txBody>
      </p:sp>
      <p:sp>
        <p:nvSpPr>
          <p:cNvPr id="19" name="Rectangle 18"/>
          <p:cNvSpPr/>
          <p:nvPr/>
        </p:nvSpPr>
        <p:spPr>
          <a:xfrm>
            <a:off x="548640" y="3529584"/>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529584"/>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04</a:t>
            </a:r>
          </a:p>
        </p:txBody>
      </p:sp>
      <p:sp>
        <p:nvSpPr>
          <p:cNvPr id="21" name="TextBox 20"/>
          <p:cNvSpPr txBox="1"/>
          <p:nvPr/>
        </p:nvSpPr>
        <p:spPr>
          <a:xfrm>
            <a:off x="1280160" y="3511296"/>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Conception</a:t>
            </a:r>
          </a:p>
        </p:txBody>
      </p:sp>
      <p:sp>
        <p:nvSpPr>
          <p:cNvPr id="22" name="TextBox 21"/>
          <p:cNvSpPr txBox="1"/>
          <p:nvPr/>
        </p:nvSpPr>
        <p:spPr>
          <a:xfrm>
            <a:off x="1280160" y="3785616"/>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Architecture, cas d'utilisation, diagramme de classes</a:t>
            </a:r>
          </a:p>
        </p:txBody>
      </p:sp>
      <p:sp>
        <p:nvSpPr>
          <p:cNvPr id="23" name="Rectangle 22"/>
          <p:cNvSpPr/>
          <p:nvPr/>
        </p:nvSpPr>
        <p:spPr>
          <a:xfrm>
            <a:off x="548640" y="4187952"/>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2"/>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05</a:t>
            </a:r>
          </a:p>
        </p:txBody>
      </p:sp>
      <p:sp>
        <p:nvSpPr>
          <p:cNvPr id="25" name="TextBox 24"/>
          <p:cNvSpPr txBox="1"/>
          <p:nvPr/>
        </p:nvSpPr>
        <p:spPr>
          <a:xfrm>
            <a:off x="1280160" y="4169664"/>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Réalisation — sprint par sprint</a:t>
            </a:r>
          </a:p>
        </p:txBody>
      </p:sp>
      <p:sp>
        <p:nvSpPr>
          <p:cNvPr id="26" name="TextBox 25"/>
          <p:cNvSpPr txBox="1"/>
          <p:nvPr/>
        </p:nvSpPr>
        <p:spPr>
          <a:xfrm>
            <a:off x="1280160" y="4443984"/>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Des fondations aux fonctionnalités communautaires</a:t>
            </a:r>
          </a:p>
        </p:txBody>
      </p:sp>
      <p:sp>
        <p:nvSpPr>
          <p:cNvPr id="27" name="Rectangle 26"/>
          <p:cNvSpPr/>
          <p:nvPr/>
        </p:nvSpPr>
        <p:spPr>
          <a:xfrm>
            <a:off x="548640" y="4846320"/>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846320"/>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06</a:t>
            </a:r>
          </a:p>
        </p:txBody>
      </p:sp>
      <p:sp>
        <p:nvSpPr>
          <p:cNvPr id="29" name="TextBox 28"/>
          <p:cNvSpPr txBox="1"/>
          <p:nvPr/>
        </p:nvSpPr>
        <p:spPr>
          <a:xfrm>
            <a:off x="1280160" y="4828032"/>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Tests &amp; démo</a:t>
            </a:r>
          </a:p>
        </p:txBody>
      </p:sp>
      <p:sp>
        <p:nvSpPr>
          <p:cNvPr id="30" name="TextBox 29"/>
          <p:cNvSpPr txBox="1"/>
          <p:nvPr/>
        </p:nvSpPr>
        <p:spPr>
          <a:xfrm>
            <a:off x="1280160" y="5102352"/>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Ce qui fonctionne et démonstration en direct</a:t>
            </a:r>
          </a:p>
        </p:txBody>
      </p:sp>
      <p:sp>
        <p:nvSpPr>
          <p:cNvPr id="31" name="Rectangle 30"/>
          <p:cNvSpPr/>
          <p:nvPr/>
        </p:nvSpPr>
        <p:spPr>
          <a:xfrm>
            <a:off x="548640" y="5504688"/>
            <a:ext cx="502920" cy="5029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504688"/>
            <a:ext cx="502920" cy="502920"/>
          </a:xfrm>
          <a:prstGeom prst="rect">
            <a:avLst/>
          </a:prstGeom>
          <a:noFill/>
        </p:spPr>
        <p:txBody>
          <a:bodyPr wrap="square" anchor="ctr" lIns="45720" rIns="45720" tIns="18288" bIns="18288">
            <a:spAutoFit/>
          </a:bodyPr>
          <a:lstStyle/>
          <a:p>
            <a:pPr algn="ctr"/>
            <a:r>
              <a:rPr sz="1600" b="1">
                <a:solidFill>
                  <a:srgbClr val="0A1628"/>
                </a:solidFill>
                <a:latin typeface="Calibri"/>
              </a:rPr>
              <a:t>07</a:t>
            </a:r>
          </a:p>
        </p:txBody>
      </p:sp>
      <p:sp>
        <p:nvSpPr>
          <p:cNvPr id="33" name="TextBox 32"/>
          <p:cNvSpPr txBox="1"/>
          <p:nvPr/>
        </p:nvSpPr>
        <p:spPr>
          <a:xfrm>
            <a:off x="1280160" y="5486400"/>
            <a:ext cx="10515600" cy="320040"/>
          </a:xfrm>
          <a:prstGeom prst="rect">
            <a:avLst/>
          </a:prstGeom>
          <a:noFill/>
        </p:spPr>
        <p:txBody>
          <a:bodyPr wrap="square" anchor="t" lIns="45720" rIns="45720" tIns="18288" bIns="18288">
            <a:spAutoFit/>
          </a:bodyPr>
          <a:lstStyle/>
          <a:p>
            <a:pPr algn="l"/>
            <a:r>
              <a:rPr sz="1800" b="1">
                <a:solidFill>
                  <a:srgbClr val="0A1628"/>
                </a:solidFill>
                <a:latin typeface="Calibri"/>
              </a:rPr>
              <a:t>Conclusion &amp; perspectives</a:t>
            </a:r>
          </a:p>
        </p:txBody>
      </p:sp>
      <p:sp>
        <p:nvSpPr>
          <p:cNvPr id="34" name="TextBox 33"/>
          <p:cNvSpPr txBox="1"/>
          <p:nvPr/>
        </p:nvSpPr>
        <p:spPr>
          <a:xfrm>
            <a:off x="1280160" y="5760720"/>
            <a:ext cx="10515600" cy="274320"/>
          </a:xfrm>
          <a:prstGeom prst="rect">
            <a:avLst/>
          </a:prstGeom>
          <a:noFill/>
        </p:spPr>
        <p:txBody>
          <a:bodyPr wrap="square" anchor="t" lIns="45720" rIns="45720" tIns="18288" bIns="18288">
            <a:spAutoFit/>
          </a:bodyPr>
          <a:lstStyle/>
          <a:p>
            <a:pPr algn="l"/>
            <a:r>
              <a:rPr sz="1200" b="0">
                <a:solidFill>
                  <a:srgbClr val="6B7280"/>
                </a:solidFill>
                <a:latin typeface="Calibri"/>
              </a:rPr>
              <a:t>Ce qui a été livré et la suite</a:t>
            </a:r>
          </a:p>
        </p:txBody>
      </p:sp>
      <p:sp>
        <p:nvSpPr>
          <p:cNvPr id="35" name="Rectangle 34"/>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37" name="TextBox 36"/>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CONTEXTE &amp; MOTIVATION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Mobilité en Tunisie — un problème quotidien réel</a:t>
            </a:r>
          </a:p>
        </p:txBody>
      </p:sp>
      <p:sp>
        <p:nvSpPr>
          <p:cNvPr id="7" name="TextBox 6"/>
          <p:cNvSpPr txBox="1"/>
          <p:nvPr/>
        </p:nvSpPr>
        <p:spPr>
          <a:xfrm>
            <a:off x="640080" y="1417320"/>
            <a:ext cx="10972800" cy="457200"/>
          </a:xfrm>
          <a:prstGeom prst="rect">
            <a:avLst/>
          </a:prstGeom>
          <a:noFill/>
        </p:spPr>
        <p:txBody>
          <a:bodyPr wrap="square" anchor="t" lIns="45720" rIns="45720" tIns="18288" bIns="18288">
            <a:spAutoFit/>
          </a:bodyPr>
          <a:lstStyle/>
          <a:p>
            <a:pPr algn="l"/>
            <a:r>
              <a:rPr sz="1500" b="0">
                <a:solidFill>
                  <a:srgbClr val="1F2A3D"/>
                </a:solidFill>
                <a:latin typeface="Calibri"/>
              </a:rPr>
              <a:t>Le transport public est irrégulier. Les voitures privées roulent à moitié vides. Les applications existantes ne sont pas pensées pour le marché local.</a:t>
            </a:r>
          </a:p>
        </p:txBody>
      </p:sp>
      <p:sp>
        <p:nvSpPr>
          <p:cNvPr id="8" name="Rectangle 7"/>
          <p:cNvSpPr/>
          <p:nvPr/>
        </p:nvSpPr>
        <p:spPr>
          <a:xfrm>
            <a:off x="640080" y="2194560"/>
            <a:ext cx="3657600"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94560"/>
            <a:ext cx="3657600"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3291840" cy="457200"/>
          </a:xfrm>
          <a:prstGeom prst="rect">
            <a:avLst/>
          </a:prstGeom>
          <a:noFill/>
        </p:spPr>
        <p:txBody>
          <a:bodyPr wrap="square" anchor="t" lIns="45720" rIns="45720" tIns="18288" bIns="18288">
            <a:spAutoFit/>
          </a:bodyPr>
          <a:lstStyle/>
          <a:p>
            <a:pPr algn="l"/>
            <a:r>
              <a:rPr sz="1600" b="1">
                <a:solidFill>
                  <a:srgbClr val="0A1628"/>
                </a:solidFill>
                <a:latin typeface="Calibri"/>
              </a:rPr>
              <a:t>Transport public</a:t>
            </a:r>
          </a:p>
        </p:txBody>
      </p:sp>
      <p:sp>
        <p:nvSpPr>
          <p:cNvPr id="11" name="TextBox 10"/>
          <p:cNvSpPr txBox="1"/>
          <p:nvPr/>
        </p:nvSpPr>
        <p:spPr>
          <a:xfrm>
            <a:off x="868680" y="2788920"/>
            <a:ext cx="3291840" cy="1645920"/>
          </a:xfrm>
          <a:prstGeom prst="rect">
            <a:avLst/>
          </a:prstGeom>
          <a:noFill/>
        </p:spPr>
        <p:txBody>
          <a:bodyPr wrap="square" anchor="t" lIns="45720" rIns="45720" tIns="18288" bIns="18288">
            <a:spAutoFit/>
          </a:bodyPr>
          <a:lstStyle/>
          <a:p>
            <a:pPr algn="l"/>
            <a:r>
              <a:rPr sz="1200" b="0">
                <a:solidFill>
                  <a:srgbClr val="1F2A3D"/>
                </a:solidFill>
                <a:latin typeface="Calibri"/>
              </a:rPr>
              <a:t>Bus bondés, horaires irréguliers, faible couverture des villes secondaires.</a:t>
            </a:r>
          </a:p>
        </p:txBody>
      </p:sp>
      <p:sp>
        <p:nvSpPr>
          <p:cNvPr id="12" name="Rectangle 11"/>
          <p:cNvSpPr/>
          <p:nvPr/>
        </p:nvSpPr>
        <p:spPr>
          <a:xfrm>
            <a:off x="4434840" y="2194560"/>
            <a:ext cx="3657600"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2194560"/>
            <a:ext cx="3657600"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331720"/>
            <a:ext cx="3291840" cy="457200"/>
          </a:xfrm>
          <a:prstGeom prst="rect">
            <a:avLst/>
          </a:prstGeom>
          <a:noFill/>
        </p:spPr>
        <p:txBody>
          <a:bodyPr wrap="square" anchor="t" lIns="45720" rIns="45720" tIns="18288" bIns="18288">
            <a:spAutoFit/>
          </a:bodyPr>
          <a:lstStyle/>
          <a:p>
            <a:pPr algn="l"/>
            <a:r>
              <a:rPr sz="1600" b="1">
                <a:solidFill>
                  <a:srgbClr val="0A1628"/>
                </a:solidFill>
                <a:latin typeface="Calibri"/>
              </a:rPr>
              <a:t>Covoiturage informel</a:t>
            </a:r>
          </a:p>
        </p:txBody>
      </p:sp>
      <p:sp>
        <p:nvSpPr>
          <p:cNvPr id="15" name="TextBox 14"/>
          <p:cNvSpPr txBox="1"/>
          <p:nvPr/>
        </p:nvSpPr>
        <p:spPr>
          <a:xfrm>
            <a:off x="4663440" y="2788920"/>
            <a:ext cx="3291840" cy="1645920"/>
          </a:xfrm>
          <a:prstGeom prst="rect">
            <a:avLst/>
          </a:prstGeom>
          <a:noFill/>
        </p:spPr>
        <p:txBody>
          <a:bodyPr wrap="square" anchor="t" lIns="45720" rIns="45720" tIns="18288" bIns="18288">
            <a:spAutoFit/>
          </a:bodyPr>
          <a:lstStyle/>
          <a:p>
            <a:pPr algn="l"/>
            <a:r>
              <a:rPr sz="1200" b="0">
                <a:solidFill>
                  <a:srgbClr val="1F2A3D"/>
                </a:solidFill>
                <a:latin typeface="Calibri"/>
              </a:rPr>
              <a:t>Groupes Facebook, sans vérification d'identité, sans trace de paiement, sans notation.</a:t>
            </a:r>
          </a:p>
        </p:txBody>
      </p:sp>
      <p:sp>
        <p:nvSpPr>
          <p:cNvPr id="16" name="Rectangle 15"/>
          <p:cNvSpPr/>
          <p:nvPr/>
        </p:nvSpPr>
        <p:spPr>
          <a:xfrm>
            <a:off x="8229600" y="2194560"/>
            <a:ext cx="3657600"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194560"/>
            <a:ext cx="3657600"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331720"/>
            <a:ext cx="3291840" cy="457200"/>
          </a:xfrm>
          <a:prstGeom prst="rect">
            <a:avLst/>
          </a:prstGeom>
          <a:noFill/>
        </p:spPr>
        <p:txBody>
          <a:bodyPr wrap="square" anchor="t" lIns="45720" rIns="45720" tIns="18288" bIns="18288">
            <a:spAutoFit/>
          </a:bodyPr>
          <a:lstStyle/>
          <a:p>
            <a:pPr algn="l"/>
            <a:r>
              <a:rPr sz="1600" b="1">
                <a:solidFill>
                  <a:srgbClr val="0A1628"/>
                </a:solidFill>
                <a:latin typeface="Calibri"/>
              </a:rPr>
              <a:t>Applications internationales</a:t>
            </a:r>
          </a:p>
        </p:txBody>
      </p:sp>
      <p:sp>
        <p:nvSpPr>
          <p:cNvPr id="19" name="TextBox 18"/>
          <p:cNvSpPr txBox="1"/>
          <p:nvPr/>
        </p:nvSpPr>
        <p:spPr>
          <a:xfrm>
            <a:off x="8458200" y="2788920"/>
            <a:ext cx="3291840" cy="1645920"/>
          </a:xfrm>
          <a:prstGeom prst="rect">
            <a:avLst/>
          </a:prstGeom>
          <a:noFill/>
        </p:spPr>
        <p:txBody>
          <a:bodyPr wrap="square" anchor="t" lIns="45720" rIns="45720" tIns="18288" bIns="18288">
            <a:spAutoFit/>
          </a:bodyPr>
          <a:lstStyle/>
          <a:p>
            <a:pPr algn="l"/>
            <a:r>
              <a:rPr sz="1200" b="0">
                <a:solidFill>
                  <a:srgbClr val="1F2A3D"/>
                </a:solidFill>
                <a:latin typeface="Calibri"/>
              </a:rPr>
              <a:t>BlaBlaCar/inDrive/Bolt — moyens de paiement et langue non adaptés à la Tunisie.</a:t>
            </a:r>
          </a:p>
        </p:txBody>
      </p:sp>
      <p:sp>
        <p:nvSpPr>
          <p:cNvPr id="20" name="Rectangle 19"/>
          <p:cNvSpPr/>
          <p:nvPr/>
        </p:nvSpPr>
        <p:spPr>
          <a:xfrm>
            <a:off x="640080" y="4846320"/>
            <a:ext cx="10972800" cy="12801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846320"/>
            <a:ext cx="91440" cy="128016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515600" cy="365760"/>
          </a:xfrm>
          <a:prstGeom prst="rect">
            <a:avLst/>
          </a:prstGeom>
          <a:noFill/>
        </p:spPr>
        <p:txBody>
          <a:bodyPr wrap="square" anchor="t" lIns="45720" rIns="45720" tIns="18288" bIns="18288">
            <a:spAutoFit/>
          </a:bodyPr>
          <a:lstStyle/>
          <a:p>
            <a:pPr algn="l"/>
            <a:r>
              <a:rPr sz="1100" b="1">
                <a:solidFill>
                  <a:srgbClr val="E8B84B"/>
                </a:solidFill>
                <a:latin typeface="Calibri"/>
              </a:rPr>
              <a:t>PROBLÉMATIQUE</a:t>
            </a:r>
          </a:p>
        </p:txBody>
      </p:sp>
      <p:sp>
        <p:nvSpPr>
          <p:cNvPr id="23" name="TextBox 22"/>
          <p:cNvSpPr txBox="1"/>
          <p:nvPr/>
        </p:nvSpPr>
        <p:spPr>
          <a:xfrm>
            <a:off x="914400" y="5257800"/>
            <a:ext cx="10515600" cy="822960"/>
          </a:xfrm>
          <a:prstGeom prst="rect">
            <a:avLst/>
          </a:prstGeom>
          <a:noFill/>
        </p:spPr>
        <p:txBody>
          <a:bodyPr wrap="square" anchor="t" lIns="45720" rIns="45720" tIns="18288" bIns="18288">
            <a:spAutoFit/>
          </a:bodyPr>
          <a:lstStyle/>
          <a:p>
            <a:pPr algn="l"/>
            <a:r>
              <a:rPr sz="1400" b="0">
                <a:solidFill>
                  <a:srgbClr val="FFFFFF"/>
                </a:solidFill>
                <a:latin typeface="Calibri"/>
              </a:rPr>
              <a:t>La Tunisie ne dispose pas d'une solution numérique de covoiturage sécurisée, abordable, adaptée aux habitudes de paiement locales, disponible sur le web et le mobile, et capable d'établir une vraie confiance entre conducteurs et passagers.</a:t>
            </a:r>
          </a:p>
        </p:txBody>
      </p:sp>
      <p:sp>
        <p:nvSpPr>
          <p:cNvPr id="24" name="Rectangle 23"/>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26" name="TextBox 25"/>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CADRE DU STAGE</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ATOMIC IT — entreprise d'accueil</a:t>
            </a:r>
          </a:p>
        </p:txBody>
      </p:sp>
      <p:sp>
        <p:nvSpPr>
          <p:cNvPr id="7" name="TextBox 6"/>
          <p:cNvSpPr txBox="1"/>
          <p:nvPr/>
        </p:nvSpPr>
        <p:spPr>
          <a:xfrm>
            <a:off x="640080" y="1554480"/>
            <a:ext cx="6858000" cy="4114800"/>
          </a:xfrm>
          <a:prstGeom prst="rect">
            <a:avLst/>
          </a:prstGeom>
          <a:noFill/>
        </p:spPr>
        <p:txBody>
          <a:bodyPr wrap="square" lIns="45720">
            <a:spAutoFit/>
          </a:bodyPr>
          <a:lstStyle/>
          <a:p>
            <a:pPr algn="l">
              <a:lnSpc>
                <a:spcPct val="115000"/>
              </a:lnSpc>
              <a:spcAft>
                <a:spcPts val="400"/>
              </a:spcAft>
            </a:pPr>
            <a:r>
              <a:rPr sz="1500" b="1">
                <a:solidFill>
                  <a:srgbClr val="D4A43A"/>
                </a:solidFill>
                <a:latin typeface="Calibri"/>
              </a:rPr>
              <a:t>▸  </a:t>
            </a:r>
            <a:r>
              <a:rPr sz="1500">
                <a:solidFill>
                  <a:srgbClr val="1F2A3D"/>
                </a:solidFill>
                <a:latin typeface="Calibri"/>
              </a:rPr>
              <a:t>Services en ingénierie informatique : développement web/mobile, conseil logiciel.</a:t>
            </a:r>
          </a:p>
          <a:p>
            <a:pPr algn="l">
              <a:lnSpc>
                <a:spcPct val="115000"/>
              </a:lnSpc>
              <a:spcAft>
                <a:spcPts val="400"/>
              </a:spcAft>
            </a:pPr>
            <a:r>
              <a:rPr sz="1500" b="1">
                <a:solidFill>
                  <a:srgbClr val="D4A43A"/>
                </a:solidFill>
                <a:latin typeface="Calibri"/>
              </a:rPr>
              <a:t>▸  </a:t>
            </a:r>
            <a:r>
              <a:rPr sz="1500">
                <a:solidFill>
                  <a:srgbClr val="1F2A3D"/>
                </a:solidFill>
                <a:latin typeface="Calibri"/>
              </a:rPr>
              <a:t>Pile moderne : Linux/Windows, .NET, Java, Android/iOS, PHP.</a:t>
            </a:r>
          </a:p>
          <a:p>
            <a:pPr algn="l">
              <a:lnSpc>
                <a:spcPct val="115000"/>
              </a:lnSpc>
              <a:spcAft>
                <a:spcPts val="400"/>
              </a:spcAft>
            </a:pPr>
            <a:r>
              <a:rPr sz="1500" b="1">
                <a:solidFill>
                  <a:srgbClr val="D4A43A"/>
                </a:solidFill>
                <a:latin typeface="Calibri"/>
              </a:rPr>
              <a:t>▸  </a:t>
            </a:r>
            <a:r>
              <a:rPr sz="1500">
                <a:solidFill>
                  <a:srgbClr val="1F2A3D"/>
                </a:solidFill>
                <a:latin typeface="Calibri"/>
              </a:rPr>
              <a:t>Basée à Kélibia, Nabeul. Directeur : M. Khalil SELMI.</a:t>
            </a:r>
          </a:p>
          <a:p>
            <a:pPr algn="l">
              <a:lnSpc>
                <a:spcPct val="115000"/>
              </a:lnSpc>
              <a:spcAft>
                <a:spcPts val="400"/>
              </a:spcAft>
            </a:pPr>
            <a:r>
              <a:rPr sz="1500" b="1">
                <a:solidFill>
                  <a:srgbClr val="D4A43A"/>
                </a:solidFill>
                <a:latin typeface="Calibri"/>
              </a:rPr>
              <a:t>▸  </a:t>
            </a:r>
            <a:r>
              <a:rPr sz="1500">
                <a:solidFill>
                  <a:srgbClr val="1F2A3D"/>
                </a:solidFill>
                <a:latin typeface="Calibri"/>
              </a:rPr>
              <a:t>Structure plate — boucles de retour courtes entre développeurs et direction.</a:t>
            </a:r>
          </a:p>
          <a:p>
            <a:pPr algn="l">
              <a:lnSpc>
                <a:spcPct val="115000"/>
              </a:lnSpc>
              <a:spcAft>
                <a:spcPts val="400"/>
              </a:spcAft>
            </a:pPr>
            <a:r>
              <a:rPr sz="1500" b="1">
                <a:solidFill>
                  <a:srgbClr val="D4A43A"/>
                </a:solidFill>
                <a:latin typeface="Calibri"/>
              </a:rPr>
              <a:t>▸  </a:t>
            </a:r>
            <a:r>
              <a:rPr sz="1500">
                <a:solidFill>
                  <a:srgbClr val="1F2A3D"/>
                </a:solidFill>
                <a:latin typeface="Calibri"/>
              </a:rPr>
              <a:t>Stage au sein de l'équipe d'ingénierie, encadré par des développeurs seniors.</a:t>
            </a:r>
          </a:p>
          <a:p>
            <a:pPr algn="l">
              <a:lnSpc>
                <a:spcPct val="115000"/>
              </a:lnSpc>
              <a:spcAft>
                <a:spcPts val="400"/>
              </a:spcAft>
            </a:pPr>
            <a:r>
              <a:rPr sz="1500" b="1">
                <a:solidFill>
                  <a:srgbClr val="D4A43A"/>
                </a:solidFill>
                <a:latin typeface="Calibri"/>
              </a:rPr>
              <a:t>▸  </a:t>
            </a:r>
            <a:r>
              <a:rPr sz="1500">
                <a:solidFill>
                  <a:srgbClr val="1F2A3D"/>
                </a:solidFill>
                <a:latin typeface="Calibri"/>
              </a:rPr>
              <a:t>Scrum appliqué : stand-ups quotidiens, revues hebdomadaires avec l'encadrant.</a:t>
            </a:r>
          </a:p>
        </p:txBody>
      </p:sp>
      <p:sp>
        <p:nvSpPr>
          <p:cNvPr id="8" name="Rectangle 7"/>
          <p:cNvSpPr/>
          <p:nvPr/>
        </p:nvSpPr>
        <p:spPr>
          <a:xfrm>
            <a:off x="7955279" y="1554480"/>
            <a:ext cx="3657600" cy="41148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554480"/>
            <a:ext cx="3657600"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691640"/>
            <a:ext cx="3200400" cy="365760"/>
          </a:xfrm>
          <a:prstGeom prst="rect">
            <a:avLst/>
          </a:prstGeom>
          <a:noFill/>
        </p:spPr>
        <p:txBody>
          <a:bodyPr wrap="square" anchor="t" lIns="45720" rIns="45720" tIns="18288" bIns="18288">
            <a:spAutoFit/>
          </a:bodyPr>
          <a:lstStyle/>
          <a:p>
            <a:pPr algn="l"/>
            <a:r>
              <a:rPr sz="1100" b="1">
                <a:solidFill>
                  <a:srgbClr val="0A1628"/>
                </a:solidFill>
                <a:latin typeface="Calibri"/>
              </a:rPr>
              <a:t>EN BREF</a:t>
            </a:r>
          </a:p>
        </p:txBody>
      </p:sp>
      <p:sp>
        <p:nvSpPr>
          <p:cNvPr id="11" name="TextBox 10"/>
          <p:cNvSpPr txBox="1"/>
          <p:nvPr/>
        </p:nvSpPr>
        <p:spPr>
          <a:xfrm>
            <a:off x="8183879" y="2148840"/>
            <a:ext cx="1188720" cy="292608"/>
          </a:xfrm>
          <a:prstGeom prst="rect">
            <a:avLst/>
          </a:prstGeom>
          <a:noFill/>
        </p:spPr>
        <p:txBody>
          <a:bodyPr wrap="square" anchor="t" lIns="45720" rIns="45720" tIns="18288" bIns="18288">
            <a:spAutoFit/>
          </a:bodyPr>
          <a:lstStyle/>
          <a:p>
            <a:pPr algn="l"/>
            <a:r>
              <a:rPr sz="1000" b="1">
                <a:solidFill>
                  <a:srgbClr val="6B7280"/>
                </a:solidFill>
                <a:latin typeface="Calibri"/>
              </a:rPr>
              <a:t>Activité</a:t>
            </a:r>
          </a:p>
        </p:txBody>
      </p:sp>
      <p:sp>
        <p:nvSpPr>
          <p:cNvPr id="12" name="TextBox 11"/>
          <p:cNvSpPr txBox="1"/>
          <p:nvPr/>
        </p:nvSpPr>
        <p:spPr>
          <a:xfrm>
            <a:off x="9372600" y="2148840"/>
            <a:ext cx="2194560" cy="292608"/>
          </a:xfrm>
          <a:prstGeom prst="rect">
            <a:avLst/>
          </a:prstGeom>
          <a:noFill/>
        </p:spPr>
        <p:txBody>
          <a:bodyPr wrap="square" anchor="t" lIns="45720" rIns="45720" tIns="18288" bIns="18288">
            <a:spAutoFit/>
          </a:bodyPr>
          <a:lstStyle/>
          <a:p>
            <a:pPr algn="l"/>
            <a:r>
              <a:rPr sz="1100" b="0">
                <a:solidFill>
                  <a:srgbClr val="1F2A3D"/>
                </a:solidFill>
                <a:latin typeface="Calibri"/>
              </a:rPr>
              <a:t>Développement web &amp; mobile</a:t>
            </a:r>
          </a:p>
        </p:txBody>
      </p:sp>
      <p:sp>
        <p:nvSpPr>
          <p:cNvPr id="13" name="TextBox 12"/>
          <p:cNvSpPr txBox="1"/>
          <p:nvPr/>
        </p:nvSpPr>
        <p:spPr>
          <a:xfrm>
            <a:off x="8183879" y="2478024"/>
            <a:ext cx="1188720" cy="292608"/>
          </a:xfrm>
          <a:prstGeom prst="rect">
            <a:avLst/>
          </a:prstGeom>
          <a:noFill/>
        </p:spPr>
        <p:txBody>
          <a:bodyPr wrap="square" anchor="t" lIns="45720" rIns="45720" tIns="18288" bIns="18288">
            <a:spAutoFit/>
          </a:bodyPr>
          <a:lstStyle/>
          <a:p>
            <a:pPr algn="l"/>
            <a:r>
              <a:rPr sz="1000" b="1">
                <a:solidFill>
                  <a:srgbClr val="6B7280"/>
                </a:solidFill>
                <a:latin typeface="Calibri"/>
              </a:rPr>
              <a:t>Directeur</a:t>
            </a:r>
          </a:p>
        </p:txBody>
      </p:sp>
      <p:sp>
        <p:nvSpPr>
          <p:cNvPr id="14" name="TextBox 13"/>
          <p:cNvSpPr txBox="1"/>
          <p:nvPr/>
        </p:nvSpPr>
        <p:spPr>
          <a:xfrm>
            <a:off x="9372600" y="2478024"/>
            <a:ext cx="2194560" cy="292608"/>
          </a:xfrm>
          <a:prstGeom prst="rect">
            <a:avLst/>
          </a:prstGeom>
          <a:noFill/>
        </p:spPr>
        <p:txBody>
          <a:bodyPr wrap="square" anchor="t" lIns="45720" rIns="45720" tIns="18288" bIns="18288">
            <a:spAutoFit/>
          </a:bodyPr>
          <a:lstStyle/>
          <a:p>
            <a:pPr algn="l"/>
            <a:r>
              <a:rPr sz="1100" b="0">
                <a:solidFill>
                  <a:srgbClr val="1F2A3D"/>
                </a:solidFill>
                <a:latin typeface="Calibri"/>
              </a:rPr>
              <a:t>M. Khalil SELMI</a:t>
            </a:r>
          </a:p>
        </p:txBody>
      </p:sp>
      <p:sp>
        <p:nvSpPr>
          <p:cNvPr id="15" name="TextBox 14"/>
          <p:cNvSpPr txBox="1"/>
          <p:nvPr/>
        </p:nvSpPr>
        <p:spPr>
          <a:xfrm>
            <a:off x="8183879" y="2807208"/>
            <a:ext cx="1188720" cy="292608"/>
          </a:xfrm>
          <a:prstGeom prst="rect">
            <a:avLst/>
          </a:prstGeom>
          <a:noFill/>
        </p:spPr>
        <p:txBody>
          <a:bodyPr wrap="square" anchor="t" lIns="45720" rIns="45720" tIns="18288" bIns="18288">
            <a:spAutoFit/>
          </a:bodyPr>
          <a:lstStyle/>
          <a:p>
            <a:pPr algn="l"/>
            <a:r>
              <a:rPr sz="1000" b="1">
                <a:solidFill>
                  <a:srgbClr val="6B7280"/>
                </a:solidFill>
                <a:latin typeface="Calibri"/>
              </a:rPr>
              <a:t>Lieu</a:t>
            </a:r>
          </a:p>
        </p:txBody>
      </p:sp>
      <p:sp>
        <p:nvSpPr>
          <p:cNvPr id="16" name="TextBox 15"/>
          <p:cNvSpPr txBox="1"/>
          <p:nvPr/>
        </p:nvSpPr>
        <p:spPr>
          <a:xfrm>
            <a:off x="9372600" y="2807208"/>
            <a:ext cx="2194560" cy="292608"/>
          </a:xfrm>
          <a:prstGeom prst="rect">
            <a:avLst/>
          </a:prstGeom>
          <a:noFill/>
        </p:spPr>
        <p:txBody>
          <a:bodyPr wrap="square" anchor="t" lIns="45720" rIns="45720" tIns="18288" bIns="18288">
            <a:spAutoFit/>
          </a:bodyPr>
          <a:lstStyle/>
          <a:p>
            <a:pPr algn="l"/>
            <a:r>
              <a:rPr sz="1100" b="0">
                <a:solidFill>
                  <a:srgbClr val="1F2A3D"/>
                </a:solidFill>
                <a:latin typeface="Calibri"/>
              </a:rPr>
              <a:t>Kélibia, Nabeul</a:t>
            </a:r>
          </a:p>
        </p:txBody>
      </p:sp>
      <p:sp>
        <p:nvSpPr>
          <p:cNvPr id="17" name="TextBox 16"/>
          <p:cNvSpPr txBox="1"/>
          <p:nvPr/>
        </p:nvSpPr>
        <p:spPr>
          <a:xfrm>
            <a:off x="8183879" y="3136392"/>
            <a:ext cx="1188720" cy="292608"/>
          </a:xfrm>
          <a:prstGeom prst="rect">
            <a:avLst/>
          </a:prstGeom>
          <a:noFill/>
        </p:spPr>
        <p:txBody>
          <a:bodyPr wrap="square" anchor="t" lIns="45720" rIns="45720" tIns="18288" bIns="18288">
            <a:spAutoFit/>
          </a:bodyPr>
          <a:lstStyle/>
          <a:p>
            <a:pPr algn="l"/>
            <a:r>
              <a:rPr sz="1000" b="1">
                <a:solidFill>
                  <a:srgbClr val="6B7280"/>
                </a:solidFill>
                <a:latin typeface="Calibri"/>
              </a:rPr>
              <a:t>Téléphone</a:t>
            </a:r>
          </a:p>
        </p:txBody>
      </p:sp>
      <p:sp>
        <p:nvSpPr>
          <p:cNvPr id="18" name="TextBox 17"/>
          <p:cNvSpPr txBox="1"/>
          <p:nvPr/>
        </p:nvSpPr>
        <p:spPr>
          <a:xfrm>
            <a:off x="9372600" y="3136392"/>
            <a:ext cx="2194560" cy="292608"/>
          </a:xfrm>
          <a:prstGeom prst="rect">
            <a:avLst/>
          </a:prstGeom>
          <a:noFill/>
        </p:spPr>
        <p:txBody>
          <a:bodyPr wrap="square" anchor="t" lIns="45720" rIns="45720" tIns="18288" bIns="18288">
            <a:spAutoFit/>
          </a:bodyPr>
          <a:lstStyle/>
          <a:p>
            <a:pPr algn="l"/>
            <a:r>
              <a:rPr sz="1100" b="0">
                <a:solidFill>
                  <a:srgbClr val="1F2A3D"/>
                </a:solidFill>
                <a:latin typeface="Calibri"/>
              </a:rPr>
              <a:t>+216 55 343 224</a:t>
            </a:r>
          </a:p>
        </p:txBody>
      </p:sp>
      <p:sp>
        <p:nvSpPr>
          <p:cNvPr id="19" name="TextBox 18"/>
          <p:cNvSpPr txBox="1"/>
          <p:nvPr/>
        </p:nvSpPr>
        <p:spPr>
          <a:xfrm>
            <a:off x="8183879" y="3465576"/>
            <a:ext cx="1188720" cy="292608"/>
          </a:xfrm>
          <a:prstGeom prst="rect">
            <a:avLst/>
          </a:prstGeom>
          <a:noFill/>
        </p:spPr>
        <p:txBody>
          <a:bodyPr wrap="square" anchor="t" lIns="45720" rIns="45720" tIns="18288" bIns="18288">
            <a:spAutoFit/>
          </a:bodyPr>
          <a:lstStyle/>
          <a:p>
            <a:pPr algn="l"/>
            <a:r>
              <a:rPr sz="1000" b="1">
                <a:solidFill>
                  <a:srgbClr val="6B7280"/>
                </a:solidFill>
                <a:latin typeface="Calibri"/>
              </a:rPr>
              <a:t>Email</a:t>
            </a:r>
          </a:p>
        </p:txBody>
      </p:sp>
      <p:sp>
        <p:nvSpPr>
          <p:cNvPr id="20" name="TextBox 19"/>
          <p:cNvSpPr txBox="1"/>
          <p:nvPr/>
        </p:nvSpPr>
        <p:spPr>
          <a:xfrm>
            <a:off x="9372600" y="3465576"/>
            <a:ext cx="2194560" cy="292608"/>
          </a:xfrm>
          <a:prstGeom prst="rect">
            <a:avLst/>
          </a:prstGeom>
          <a:noFill/>
        </p:spPr>
        <p:txBody>
          <a:bodyPr wrap="square" anchor="t" lIns="45720" rIns="45720" tIns="18288" bIns="18288">
            <a:spAutoFit/>
          </a:bodyPr>
          <a:lstStyle/>
          <a:p>
            <a:pPr algn="l"/>
            <a:r>
              <a:rPr sz="1100" b="0">
                <a:solidFill>
                  <a:srgbClr val="1F2A3D"/>
                </a:solidFill>
                <a:latin typeface="Calibri"/>
              </a:rPr>
              <a:t>contact@atomicitpro.com</a:t>
            </a:r>
          </a:p>
        </p:txBody>
      </p:sp>
      <p:sp>
        <p:nvSpPr>
          <p:cNvPr id="21" name="TextBox 20"/>
          <p:cNvSpPr txBox="1"/>
          <p:nvPr/>
        </p:nvSpPr>
        <p:spPr>
          <a:xfrm>
            <a:off x="8183879" y="3794760"/>
            <a:ext cx="1188720" cy="292608"/>
          </a:xfrm>
          <a:prstGeom prst="rect">
            <a:avLst/>
          </a:prstGeom>
          <a:noFill/>
        </p:spPr>
        <p:txBody>
          <a:bodyPr wrap="square" anchor="t" lIns="45720" rIns="45720" tIns="18288" bIns="18288">
            <a:spAutoFit/>
          </a:bodyPr>
          <a:lstStyle/>
          <a:p>
            <a:pPr algn="l"/>
            <a:r>
              <a:rPr sz="1000" b="1">
                <a:solidFill>
                  <a:srgbClr val="6B7280"/>
                </a:solidFill>
                <a:latin typeface="Calibri"/>
              </a:rPr>
              <a:t>Méthodologie</a:t>
            </a:r>
          </a:p>
        </p:txBody>
      </p:sp>
      <p:sp>
        <p:nvSpPr>
          <p:cNvPr id="22" name="TextBox 21"/>
          <p:cNvSpPr txBox="1"/>
          <p:nvPr/>
        </p:nvSpPr>
        <p:spPr>
          <a:xfrm>
            <a:off x="9372600" y="3794760"/>
            <a:ext cx="2194560" cy="292608"/>
          </a:xfrm>
          <a:prstGeom prst="rect">
            <a:avLst/>
          </a:prstGeom>
          <a:noFill/>
        </p:spPr>
        <p:txBody>
          <a:bodyPr wrap="square" anchor="t" lIns="45720" rIns="45720" tIns="18288" bIns="18288">
            <a:spAutoFit/>
          </a:bodyPr>
          <a:lstStyle/>
          <a:p>
            <a:pPr algn="l"/>
            <a:r>
              <a:rPr sz="1100" b="0">
                <a:solidFill>
                  <a:srgbClr val="1F2A3D"/>
                </a:solidFill>
                <a:latin typeface="Calibri"/>
              </a:rPr>
              <a:t>Agile / Scrum</a:t>
            </a:r>
          </a:p>
        </p:txBody>
      </p:sp>
      <p:sp>
        <p:nvSpPr>
          <p:cNvPr id="23" name="Rectangle 22"/>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25" name="TextBox 24"/>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ÉTUDE CRITIQUE</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Ce qui est utilisé aujourd'hui</a:t>
            </a:r>
          </a:p>
        </p:txBody>
      </p:sp>
      <p:graphicFrame>
        <p:nvGraphicFramePr>
          <p:cNvPr id="7" name="Table 6"/>
          <p:cNvGraphicFramePr>
            <a:graphicFrameLocks noGrp="1"/>
          </p:cNvGraphicFramePr>
          <p:nvPr/>
        </p:nvGraphicFramePr>
        <p:xfrm>
          <a:off x="640080" y="1554480"/>
          <a:ext cx="10972800" cy="420624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525780">
                <a:tc>
                  <a:txBody>
                    <a:bodyPr lIns="73152" rIns="73152" tIns="36576" bIns="36576"/>
                    <a:lstStyle/>
                    <a:p>
                      <a:pPr algn="l"/>
                      <a:r>
                        <a:rPr sz="1200" b="1">
                          <a:solidFill>
                            <a:srgbClr val="FFFFFF"/>
                          </a:solidFill>
                          <a:latin typeface="Calibri"/>
                        </a:rPr>
                        <a:t>Critère</a:t>
                      </a:r>
                    </a:p>
                  </a:txBody>
                  <a:tcPr>
                    <a:solidFill>
                      <a:srgbClr val="0A1628"/>
                    </a:solidFill>
                  </a:tcPr>
                </a:tc>
                <a:tc>
                  <a:txBody>
                    <a:bodyPr lIns="73152" rIns="73152" tIns="36576" bIns="36576"/>
                    <a:lstStyle/>
                    <a:p>
                      <a:pPr algn="l"/>
                      <a:r>
                        <a:rPr sz="1200" b="1">
                          <a:solidFill>
                            <a:srgbClr val="FFFFFF"/>
                          </a:solidFill>
                          <a:latin typeface="Calibri"/>
                        </a:rPr>
                        <a:t>Facebook</a:t>
                      </a:r>
                    </a:p>
                  </a:txBody>
                  <a:tcPr>
                    <a:solidFill>
                      <a:srgbClr val="0A1628"/>
                    </a:solidFill>
                  </a:tcPr>
                </a:tc>
                <a:tc>
                  <a:txBody>
                    <a:bodyPr lIns="73152" rIns="73152" tIns="36576" bIns="36576"/>
                    <a:lstStyle/>
                    <a:p>
                      <a:pPr algn="l"/>
                      <a:r>
                        <a:rPr sz="1200" b="1">
                          <a:solidFill>
                            <a:srgbClr val="FFFFFF"/>
                          </a:solidFill>
                          <a:latin typeface="Calibri"/>
                        </a:rPr>
                        <a:t>inDrive</a:t>
                      </a:r>
                    </a:p>
                  </a:txBody>
                  <a:tcPr>
                    <a:solidFill>
                      <a:srgbClr val="0A1628"/>
                    </a:solidFill>
                  </a:tcPr>
                </a:tc>
                <a:tc>
                  <a:txBody>
                    <a:bodyPr lIns="73152" rIns="73152" tIns="36576" bIns="36576"/>
                    <a:lstStyle/>
                    <a:p>
                      <a:pPr algn="l"/>
                      <a:r>
                        <a:rPr sz="1200" b="1">
                          <a:solidFill>
                            <a:srgbClr val="FFFFFF"/>
                          </a:solidFill>
                          <a:latin typeface="Calibri"/>
                        </a:rPr>
                        <a:t>Bolt</a:t>
                      </a:r>
                    </a:p>
                  </a:txBody>
                  <a:tcPr>
                    <a:solidFill>
                      <a:srgbClr val="0A1628"/>
                    </a:solidFill>
                  </a:tcPr>
                </a:tc>
                <a:tc>
                  <a:txBody>
                    <a:bodyPr lIns="73152" rIns="73152" tIns="36576" bIns="36576"/>
                    <a:lstStyle/>
                    <a:p>
                      <a:pPr algn="l"/>
                      <a:r>
                        <a:rPr sz="1200" b="1">
                          <a:solidFill>
                            <a:srgbClr val="FFFFFF"/>
                          </a:solidFill>
                          <a:latin typeface="Calibri"/>
                        </a:rPr>
                        <a:t>BlaBlaCar</a:t>
                      </a:r>
                    </a:p>
                  </a:txBody>
                  <a:tcPr>
                    <a:solidFill>
                      <a:srgbClr val="0A1628"/>
                    </a:solidFill>
                  </a:tcPr>
                </a:tc>
                <a:tc>
                  <a:txBody>
                    <a:bodyPr lIns="73152" rIns="73152" tIns="36576" bIns="36576"/>
                    <a:lstStyle/>
                    <a:p>
                      <a:pPr algn="l"/>
                      <a:r>
                        <a:rPr sz="1200" b="1">
                          <a:solidFill>
                            <a:srgbClr val="FFFFFF"/>
                          </a:solidFill>
                          <a:latin typeface="Calibri"/>
                        </a:rPr>
                        <a:t>ForsaDrive</a:t>
                      </a:r>
                    </a:p>
                  </a:txBody>
                  <a:tcPr>
                    <a:solidFill>
                      <a:srgbClr val="0A1628"/>
                    </a:solidFill>
                  </a:tcPr>
                </a:tc>
              </a:tr>
              <a:tr h="525780">
                <a:tc>
                  <a:txBody>
                    <a:bodyPr lIns="73152" rIns="73152" tIns="36576" bIns="36576"/>
                    <a:lstStyle/>
                    <a:p>
                      <a:pPr algn="l"/>
                      <a:r>
                        <a:rPr sz="1200">
                          <a:solidFill>
                            <a:srgbClr val="1F2A3D"/>
                          </a:solidFill>
                          <a:latin typeface="Calibri"/>
                        </a:rPr>
                        <a:t>Vérification d'identité</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Partielle</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r>
              <a:tr h="525780">
                <a:tc>
                  <a:txBody>
                    <a:bodyPr lIns="73152" rIns="73152" tIns="36576" bIns="36576"/>
                    <a:lstStyle/>
                    <a:p>
                      <a:pPr algn="l"/>
                      <a:r>
                        <a:rPr sz="1200">
                          <a:solidFill>
                            <a:srgbClr val="1F2A3D"/>
                          </a:solidFill>
                          <a:latin typeface="Calibri"/>
                        </a:rPr>
                        <a:t>Paiement intégré</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r>
              <a:tr h="525780">
                <a:tc>
                  <a:txBody>
                    <a:bodyPr lIns="73152" rIns="73152" tIns="36576" bIns="36576"/>
                    <a:lstStyle/>
                    <a:p>
                      <a:pPr algn="l"/>
                      <a:r>
                        <a:rPr sz="1200">
                          <a:solidFill>
                            <a:srgbClr val="1F2A3D"/>
                          </a:solidFill>
                          <a:latin typeface="Calibri"/>
                        </a:rPr>
                        <a:t>Trajets longue distance</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r>
              <a:tr h="525780">
                <a:tc>
                  <a:txBody>
                    <a:bodyPr lIns="73152" rIns="73152" tIns="36576" bIns="36576"/>
                    <a:lstStyle/>
                    <a:p>
                      <a:pPr algn="l"/>
                      <a:r>
                        <a:rPr sz="1200">
                          <a:solidFill>
                            <a:srgbClr val="1F2A3D"/>
                          </a:solidFill>
                          <a:latin typeface="Calibri"/>
                        </a:rPr>
                        <a:t>Système de notation</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r>
              <a:tr h="525780">
                <a:tc>
                  <a:txBody>
                    <a:bodyPr lIns="73152" rIns="73152" tIns="36576" bIns="36576"/>
                    <a:lstStyle/>
                    <a:p>
                      <a:pPr algn="l"/>
                      <a:r>
                        <a:rPr sz="1200">
                          <a:solidFill>
                            <a:srgbClr val="1F2A3D"/>
                          </a:solidFill>
                          <a:latin typeface="Calibri"/>
                        </a:rPr>
                        <a:t>Adapté au contexte local</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Partiel</a:t>
                      </a:r>
                    </a:p>
                  </a:txBody>
                  <a:tcPr>
                    <a:solidFill>
                      <a:srgbClr val="FFFFFF"/>
                    </a:solidFill>
                  </a:tcPr>
                </a:tc>
                <a:tc>
                  <a:txBody>
                    <a:bodyPr lIns="73152" rIns="73152" tIns="36576" bIns="36576"/>
                    <a:lstStyle/>
                    <a:p>
                      <a:pPr algn="l"/>
                      <a:r>
                        <a:rPr sz="1200">
                          <a:solidFill>
                            <a:srgbClr val="1F2A3D"/>
                          </a:solidFill>
                          <a:latin typeface="Calibri"/>
                        </a:rPr>
                        <a:t>Partiel</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r>
              <a:tr h="525780">
                <a:tc>
                  <a:txBody>
                    <a:bodyPr lIns="73152" rIns="73152" tIns="36576" bIns="36576"/>
                    <a:lstStyle/>
                    <a:p>
                      <a:pPr algn="l"/>
                      <a:r>
                        <a:rPr sz="1200">
                          <a:solidFill>
                            <a:srgbClr val="1F2A3D"/>
                          </a:solidFill>
                          <a:latin typeface="Calibri"/>
                        </a:rPr>
                        <a:t>Réduction étudiante (50%)</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c>
                  <a:txBody>
                    <a:bodyPr lIns="73152" rIns="73152" tIns="36576" bIns="36576"/>
                    <a:lstStyle/>
                    <a:p>
                      <a:pPr algn="l"/>
                      <a:r>
                        <a:rPr sz="1200">
                          <a:solidFill>
                            <a:srgbClr val="1F2A3D"/>
                          </a:solidFill>
                          <a:latin typeface="Calibri"/>
                        </a:rPr>
                        <a:t>✓</a:t>
                      </a:r>
                    </a:p>
                  </a:txBody>
                  <a:tcPr>
                    <a:solidFill>
                      <a:srgbClr val="F3F4F6"/>
                    </a:solidFill>
                  </a:tcPr>
                </a:tc>
              </a:tr>
              <a:tr h="525780">
                <a:tc>
                  <a:txBody>
                    <a:bodyPr lIns="73152" rIns="73152" tIns="36576" bIns="36576"/>
                    <a:lstStyle/>
                    <a:p>
                      <a:pPr algn="l"/>
                      <a:r>
                        <a:rPr sz="1200">
                          <a:solidFill>
                            <a:srgbClr val="1F2A3D"/>
                          </a:solidFill>
                          <a:latin typeface="Calibri"/>
                        </a:rPr>
                        <a:t>Portefeuille interne</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c>
                  <a:txBody>
                    <a:bodyPr lIns="73152" rIns="73152" tIns="36576" bIns="36576"/>
                    <a:lstStyle/>
                    <a:p>
                      <a:pPr algn="l"/>
                      <a:r>
                        <a:rPr sz="1200">
                          <a:solidFill>
                            <a:srgbClr val="1F2A3D"/>
                          </a:solidFill>
                          <a:latin typeface="Calibri"/>
                        </a:rPr>
                        <a:t>✓</a:t>
                      </a:r>
                    </a:p>
                  </a:txBody>
                  <a:tcPr>
                    <a:solidFill>
                      <a:srgbClr val="FFFFFF"/>
                    </a:solidFill>
                  </a:tcPr>
                </a:tc>
              </a:tr>
            </a:tbl>
          </a:graphicData>
        </a:graphic>
      </p:graphicFrame>
      <p:sp>
        <p:nvSpPr>
          <p:cNvPr id="8" name="TextBox 7"/>
          <p:cNvSpPr txBox="1"/>
          <p:nvPr/>
        </p:nvSpPr>
        <p:spPr>
          <a:xfrm>
            <a:off x="640080" y="5897880"/>
            <a:ext cx="10972800" cy="457200"/>
          </a:xfrm>
          <a:prstGeom prst="rect">
            <a:avLst/>
          </a:prstGeom>
          <a:noFill/>
        </p:spPr>
        <p:txBody>
          <a:bodyPr wrap="square" anchor="t" lIns="45720" rIns="45720" tIns="18288" bIns="18288">
            <a:spAutoFit/>
          </a:bodyPr>
          <a:lstStyle/>
          <a:p>
            <a:pPr algn="l"/>
            <a:r>
              <a:rPr sz="1300" b="1">
                <a:solidFill>
                  <a:srgbClr val="0A1628"/>
                </a:solidFill>
                <a:latin typeface="Calibri"/>
              </a:rPr>
              <a:t>Aucune solution existante ne combine l'adaptation locale et des mécanismes de confiance structurés. ForsaDrive se positionne précisément dans ce vide.</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SOLUTION PROPOSÉE</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ForsaDrive — ce que nous avons construit</a:t>
            </a:r>
          </a:p>
        </p:txBody>
      </p:sp>
      <p:sp>
        <p:nvSpPr>
          <p:cNvPr id="7" name="TextBox 6"/>
          <p:cNvSpPr txBox="1"/>
          <p:nvPr/>
        </p:nvSpPr>
        <p:spPr>
          <a:xfrm>
            <a:off x="640080" y="1417320"/>
            <a:ext cx="10972800" cy="548640"/>
          </a:xfrm>
          <a:prstGeom prst="rect">
            <a:avLst/>
          </a:prstGeom>
          <a:noFill/>
        </p:spPr>
        <p:txBody>
          <a:bodyPr wrap="square" anchor="t" lIns="45720" rIns="45720" tIns="18288" bIns="18288">
            <a:spAutoFit/>
          </a:bodyPr>
          <a:lstStyle/>
          <a:p>
            <a:pPr algn="l"/>
            <a:r>
              <a:rPr sz="1400" b="0">
                <a:solidFill>
                  <a:srgbClr val="1F2A3D"/>
                </a:solidFill>
                <a:latin typeface="Calibri"/>
              </a:rPr>
              <a:t>Un écosystème intégré : application web, application mobile et un backend partagé, couvrant tout le cycle de vie, de l'inscription jusqu'à la notation post-trajet.</a:t>
            </a:r>
          </a:p>
        </p:txBody>
      </p:sp>
      <p:sp>
        <p:nvSpPr>
          <p:cNvPr id="8" name="Rectangle 7"/>
          <p:cNvSpPr/>
          <p:nvPr/>
        </p:nvSpPr>
        <p:spPr>
          <a:xfrm>
            <a:off x="640080" y="2286000"/>
            <a:ext cx="3657600" cy="2743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286000"/>
            <a:ext cx="3657600" cy="73152"/>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23160"/>
            <a:ext cx="3291840" cy="457200"/>
          </a:xfrm>
          <a:prstGeom prst="rect">
            <a:avLst/>
          </a:prstGeom>
          <a:noFill/>
        </p:spPr>
        <p:txBody>
          <a:bodyPr wrap="square" anchor="t" lIns="45720" rIns="45720" tIns="18288" bIns="18288">
            <a:spAutoFit/>
          </a:bodyPr>
          <a:lstStyle/>
          <a:p>
            <a:pPr algn="l"/>
            <a:r>
              <a:rPr sz="1800" b="1">
                <a:solidFill>
                  <a:srgbClr val="E8B84B"/>
                </a:solidFill>
                <a:latin typeface="Calibri"/>
              </a:rPr>
              <a:t>Adaptation locale</a:t>
            </a:r>
          </a:p>
        </p:txBody>
      </p:sp>
      <p:sp>
        <p:nvSpPr>
          <p:cNvPr id="11" name="TextBox 10"/>
          <p:cNvSpPr txBox="1"/>
          <p:nvPr/>
        </p:nvSpPr>
        <p:spPr>
          <a:xfrm>
            <a:off x="868680" y="2880360"/>
            <a:ext cx="3291840" cy="2011680"/>
          </a:xfrm>
          <a:prstGeom prst="rect">
            <a:avLst/>
          </a:prstGeom>
          <a:noFill/>
        </p:spPr>
        <p:txBody>
          <a:bodyPr wrap="square" anchor="t" lIns="45720" rIns="45720" tIns="18288" bIns="18288">
            <a:spAutoFit/>
          </a:bodyPr>
          <a:lstStyle/>
          <a:p>
            <a:pPr algn="l"/>
            <a:r>
              <a:rPr sz="1300" b="0">
                <a:solidFill>
                  <a:srgbClr val="FFFFFF"/>
                </a:solidFill>
                <a:latin typeface="Calibri"/>
              </a:rPr>
              <a:t>Acompte de 50 % + règlement en cash, français/anglais/arabe avec RTL, domaines universitaires tunisiens reconnus.</a:t>
            </a:r>
          </a:p>
        </p:txBody>
      </p:sp>
      <p:sp>
        <p:nvSpPr>
          <p:cNvPr id="12" name="Rectangle 11"/>
          <p:cNvSpPr/>
          <p:nvPr/>
        </p:nvSpPr>
        <p:spPr>
          <a:xfrm>
            <a:off x="4434840" y="2286000"/>
            <a:ext cx="3657600" cy="2743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2286000"/>
            <a:ext cx="3657600" cy="73152"/>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423160"/>
            <a:ext cx="3291840" cy="457200"/>
          </a:xfrm>
          <a:prstGeom prst="rect">
            <a:avLst/>
          </a:prstGeom>
          <a:noFill/>
        </p:spPr>
        <p:txBody>
          <a:bodyPr wrap="square" anchor="t" lIns="45720" rIns="45720" tIns="18288" bIns="18288">
            <a:spAutoFit/>
          </a:bodyPr>
          <a:lstStyle/>
          <a:p>
            <a:pPr algn="l"/>
            <a:r>
              <a:rPr sz="1800" b="1">
                <a:solidFill>
                  <a:srgbClr val="E8B84B"/>
                </a:solidFill>
                <a:latin typeface="Calibri"/>
              </a:rPr>
              <a:t>Confiance</a:t>
            </a:r>
          </a:p>
        </p:txBody>
      </p:sp>
      <p:sp>
        <p:nvSpPr>
          <p:cNvPr id="15" name="TextBox 14"/>
          <p:cNvSpPr txBox="1"/>
          <p:nvPr/>
        </p:nvSpPr>
        <p:spPr>
          <a:xfrm>
            <a:off x="4663440" y="2880360"/>
            <a:ext cx="3291840" cy="2011680"/>
          </a:xfrm>
          <a:prstGeom prst="rect">
            <a:avLst/>
          </a:prstGeom>
          <a:noFill/>
        </p:spPr>
        <p:txBody>
          <a:bodyPr wrap="square" anchor="t" lIns="45720" rIns="45720" tIns="18288" bIns="18288">
            <a:spAutoFit/>
          </a:bodyPr>
          <a:lstStyle/>
          <a:p>
            <a:pPr algn="l"/>
            <a:r>
              <a:rPr sz="1300" b="0">
                <a:solidFill>
                  <a:srgbClr val="FFFFFF"/>
                </a:solidFill>
                <a:latin typeface="Calibri"/>
              </a:rPr>
              <a:t>Vérification d'identité et de statut étudiant, notation des deux côtés, gestion des plaintes, score de fiabilité.</a:t>
            </a:r>
          </a:p>
        </p:txBody>
      </p:sp>
      <p:sp>
        <p:nvSpPr>
          <p:cNvPr id="16" name="Rectangle 15"/>
          <p:cNvSpPr/>
          <p:nvPr/>
        </p:nvSpPr>
        <p:spPr>
          <a:xfrm>
            <a:off x="8229600" y="2286000"/>
            <a:ext cx="3657600" cy="2743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286000"/>
            <a:ext cx="3657600" cy="73152"/>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423160"/>
            <a:ext cx="3291840" cy="457200"/>
          </a:xfrm>
          <a:prstGeom prst="rect">
            <a:avLst/>
          </a:prstGeom>
          <a:noFill/>
        </p:spPr>
        <p:txBody>
          <a:bodyPr wrap="square" anchor="t" lIns="45720" rIns="45720" tIns="18288" bIns="18288">
            <a:spAutoFit/>
          </a:bodyPr>
          <a:lstStyle/>
          <a:p>
            <a:pPr algn="l"/>
            <a:r>
              <a:rPr sz="1800" b="1">
                <a:solidFill>
                  <a:srgbClr val="E8B84B"/>
                </a:solidFill>
                <a:latin typeface="Calibri"/>
              </a:rPr>
              <a:t>Fonctions intelligentes</a:t>
            </a:r>
          </a:p>
        </p:txBody>
      </p:sp>
      <p:sp>
        <p:nvSpPr>
          <p:cNvPr id="19" name="TextBox 18"/>
          <p:cNvSpPr txBox="1"/>
          <p:nvPr/>
        </p:nvSpPr>
        <p:spPr>
          <a:xfrm>
            <a:off x="8458200" y="2880360"/>
            <a:ext cx="3291840" cy="2011680"/>
          </a:xfrm>
          <a:prstGeom prst="rect">
            <a:avLst/>
          </a:prstGeom>
          <a:noFill/>
        </p:spPr>
        <p:txBody>
          <a:bodyPr wrap="square" anchor="t" lIns="45720" rIns="45720" tIns="18288" bIns="18288">
            <a:spAutoFit/>
          </a:bodyPr>
          <a:lstStyle/>
          <a:p>
            <a:pPr algn="l"/>
            <a:r>
              <a:rPr sz="1300" b="0">
                <a:solidFill>
                  <a:srgbClr val="FFFFFF"/>
                </a:solidFill>
                <a:latin typeface="Calibri"/>
              </a:rPr>
              <a:t>Score de compatibilité, tableau de bord conducteur, mise en avant des trajets, fil social, messagerie intégrée, helpdesk assisté.</a:t>
            </a:r>
          </a:p>
        </p:txBody>
      </p:sp>
      <p:sp>
        <p:nvSpPr>
          <p:cNvPr id="20" name="Rectangle 19"/>
          <p:cNvSpPr/>
          <p:nvPr/>
        </p:nvSpPr>
        <p:spPr>
          <a:xfrm>
            <a:off x="640080" y="5212080"/>
            <a:ext cx="2697480" cy="96012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257800"/>
            <a:ext cx="2697480" cy="502920"/>
          </a:xfrm>
          <a:prstGeom prst="rect">
            <a:avLst/>
          </a:prstGeom>
          <a:noFill/>
        </p:spPr>
        <p:txBody>
          <a:bodyPr wrap="square" anchor="ctr" lIns="45720" rIns="45720" tIns="18288" bIns="18288">
            <a:spAutoFit/>
          </a:bodyPr>
          <a:lstStyle/>
          <a:p>
            <a:pPr algn="ctr"/>
            <a:r>
              <a:rPr sz="2800" b="1">
                <a:solidFill>
                  <a:srgbClr val="0A1628"/>
                </a:solidFill>
                <a:latin typeface="Calibri"/>
              </a:rPr>
              <a:t>3</a:t>
            </a:r>
          </a:p>
        </p:txBody>
      </p:sp>
      <p:sp>
        <p:nvSpPr>
          <p:cNvPr id="22" name="TextBox 21"/>
          <p:cNvSpPr txBox="1"/>
          <p:nvPr/>
        </p:nvSpPr>
        <p:spPr>
          <a:xfrm>
            <a:off x="640080" y="5715000"/>
            <a:ext cx="2697480" cy="365760"/>
          </a:xfrm>
          <a:prstGeom prst="rect">
            <a:avLst/>
          </a:prstGeom>
          <a:noFill/>
        </p:spPr>
        <p:txBody>
          <a:bodyPr wrap="square" anchor="t" lIns="45720" rIns="45720" tIns="18288" bIns="18288">
            <a:spAutoFit/>
          </a:bodyPr>
          <a:lstStyle/>
          <a:p>
            <a:pPr algn="ctr"/>
            <a:r>
              <a:rPr sz="1100" b="0">
                <a:solidFill>
                  <a:srgbClr val="1F2A3D"/>
                </a:solidFill>
                <a:latin typeface="Calibri"/>
              </a:rPr>
              <a:t>applications coordonnées</a:t>
            </a:r>
          </a:p>
        </p:txBody>
      </p:sp>
      <p:sp>
        <p:nvSpPr>
          <p:cNvPr id="23" name="Rectangle 22"/>
          <p:cNvSpPr/>
          <p:nvPr/>
        </p:nvSpPr>
        <p:spPr>
          <a:xfrm>
            <a:off x="3429000" y="5212080"/>
            <a:ext cx="2697480" cy="96012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9000" y="5257800"/>
            <a:ext cx="2697480" cy="502920"/>
          </a:xfrm>
          <a:prstGeom prst="rect">
            <a:avLst/>
          </a:prstGeom>
          <a:noFill/>
        </p:spPr>
        <p:txBody>
          <a:bodyPr wrap="square" anchor="ctr" lIns="45720" rIns="45720" tIns="18288" bIns="18288">
            <a:spAutoFit/>
          </a:bodyPr>
          <a:lstStyle/>
          <a:p>
            <a:pPr algn="ctr"/>
            <a:r>
              <a:rPr sz="2800" b="1">
                <a:solidFill>
                  <a:srgbClr val="0A1628"/>
                </a:solidFill>
                <a:latin typeface="Calibri"/>
              </a:rPr>
              <a:t>4</a:t>
            </a:r>
          </a:p>
        </p:txBody>
      </p:sp>
      <p:sp>
        <p:nvSpPr>
          <p:cNvPr id="25" name="TextBox 24"/>
          <p:cNvSpPr txBox="1"/>
          <p:nvPr/>
        </p:nvSpPr>
        <p:spPr>
          <a:xfrm>
            <a:off x="3429000" y="5715000"/>
            <a:ext cx="2697480" cy="365760"/>
          </a:xfrm>
          <a:prstGeom prst="rect">
            <a:avLst/>
          </a:prstGeom>
          <a:noFill/>
        </p:spPr>
        <p:txBody>
          <a:bodyPr wrap="square" anchor="t" lIns="45720" rIns="45720" tIns="18288" bIns="18288">
            <a:spAutoFit/>
          </a:bodyPr>
          <a:lstStyle/>
          <a:p>
            <a:pPr algn="ctr"/>
            <a:r>
              <a:rPr sz="1100" b="0">
                <a:solidFill>
                  <a:srgbClr val="1F2A3D"/>
                </a:solidFill>
                <a:latin typeface="Calibri"/>
              </a:rPr>
              <a:t>sprints fonctionnels</a:t>
            </a:r>
          </a:p>
        </p:txBody>
      </p:sp>
      <p:sp>
        <p:nvSpPr>
          <p:cNvPr id="26" name="Rectangle 25"/>
          <p:cNvSpPr/>
          <p:nvPr/>
        </p:nvSpPr>
        <p:spPr>
          <a:xfrm>
            <a:off x="6217920" y="5212080"/>
            <a:ext cx="2697480" cy="96012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5257800"/>
            <a:ext cx="2697480" cy="502920"/>
          </a:xfrm>
          <a:prstGeom prst="rect">
            <a:avLst/>
          </a:prstGeom>
          <a:noFill/>
        </p:spPr>
        <p:txBody>
          <a:bodyPr wrap="square" anchor="ctr" lIns="45720" rIns="45720" tIns="18288" bIns="18288">
            <a:spAutoFit/>
          </a:bodyPr>
          <a:lstStyle/>
          <a:p>
            <a:pPr algn="ctr"/>
            <a:r>
              <a:rPr sz="2800" b="1">
                <a:solidFill>
                  <a:srgbClr val="0A1628"/>
                </a:solidFill>
                <a:latin typeface="Calibri"/>
              </a:rPr>
              <a:t>20+</a:t>
            </a:r>
          </a:p>
        </p:txBody>
      </p:sp>
      <p:sp>
        <p:nvSpPr>
          <p:cNvPr id="28" name="TextBox 27"/>
          <p:cNvSpPr txBox="1"/>
          <p:nvPr/>
        </p:nvSpPr>
        <p:spPr>
          <a:xfrm>
            <a:off x="6217920" y="5715000"/>
            <a:ext cx="2697480" cy="365760"/>
          </a:xfrm>
          <a:prstGeom prst="rect">
            <a:avLst/>
          </a:prstGeom>
          <a:noFill/>
        </p:spPr>
        <p:txBody>
          <a:bodyPr wrap="square" anchor="t" lIns="45720" rIns="45720" tIns="18288" bIns="18288">
            <a:spAutoFit/>
          </a:bodyPr>
          <a:lstStyle/>
          <a:p>
            <a:pPr algn="ctr"/>
            <a:r>
              <a:rPr sz="1100" b="0">
                <a:solidFill>
                  <a:srgbClr val="1F2A3D"/>
                </a:solidFill>
                <a:latin typeface="Calibri"/>
              </a:rPr>
              <a:t>entités métier</a:t>
            </a:r>
          </a:p>
        </p:txBody>
      </p:sp>
      <p:sp>
        <p:nvSpPr>
          <p:cNvPr id="29" name="Rectangle 28"/>
          <p:cNvSpPr/>
          <p:nvPr/>
        </p:nvSpPr>
        <p:spPr>
          <a:xfrm>
            <a:off x="9006840" y="5212080"/>
            <a:ext cx="2697480" cy="96012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5257800"/>
            <a:ext cx="2697480" cy="502920"/>
          </a:xfrm>
          <a:prstGeom prst="rect">
            <a:avLst/>
          </a:prstGeom>
          <a:noFill/>
        </p:spPr>
        <p:txBody>
          <a:bodyPr wrap="square" anchor="ctr" lIns="45720" rIns="45720" tIns="18288" bIns="18288">
            <a:spAutoFit/>
          </a:bodyPr>
          <a:lstStyle/>
          <a:p>
            <a:pPr algn="ctr"/>
            <a:r>
              <a:rPr sz="2800" b="1">
                <a:solidFill>
                  <a:srgbClr val="0A1628"/>
                </a:solidFill>
                <a:latin typeface="Calibri"/>
              </a:rPr>
              <a:t>3</a:t>
            </a:r>
          </a:p>
        </p:txBody>
      </p:sp>
      <p:sp>
        <p:nvSpPr>
          <p:cNvPr id="31" name="TextBox 30"/>
          <p:cNvSpPr txBox="1"/>
          <p:nvPr/>
        </p:nvSpPr>
        <p:spPr>
          <a:xfrm>
            <a:off x="9006840" y="5715000"/>
            <a:ext cx="2697480" cy="365760"/>
          </a:xfrm>
          <a:prstGeom prst="rect">
            <a:avLst/>
          </a:prstGeom>
          <a:noFill/>
        </p:spPr>
        <p:txBody>
          <a:bodyPr wrap="square" anchor="t" lIns="45720" rIns="45720" tIns="18288" bIns="18288">
            <a:spAutoFit/>
          </a:bodyPr>
          <a:lstStyle/>
          <a:p>
            <a:pPr algn="ctr"/>
            <a:r>
              <a:rPr sz="1100" b="0">
                <a:solidFill>
                  <a:srgbClr val="1F2A3D"/>
                </a:solidFill>
                <a:latin typeface="Calibri"/>
              </a:rPr>
              <a:t>langues supportées</a:t>
            </a:r>
          </a:p>
        </p:txBody>
      </p:sp>
      <p:sp>
        <p:nvSpPr>
          <p:cNvPr id="32" name="Rectangle 31"/>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34" name="TextBox 33"/>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MÉTHODOLOGIE</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Scrum — cinq itérations en deux releases</a:t>
            </a:r>
          </a:p>
        </p:txBody>
      </p:sp>
      <p:sp>
        <p:nvSpPr>
          <p:cNvPr id="7" name="TextBox 6"/>
          <p:cNvSpPr txBox="1"/>
          <p:nvPr/>
        </p:nvSpPr>
        <p:spPr>
          <a:xfrm>
            <a:off x="640080" y="1417320"/>
            <a:ext cx="10972800" cy="457200"/>
          </a:xfrm>
          <a:prstGeom prst="rect">
            <a:avLst/>
          </a:prstGeom>
          <a:noFill/>
        </p:spPr>
        <p:txBody>
          <a:bodyPr wrap="square" anchor="t" lIns="45720" rIns="45720" tIns="18288" bIns="18288">
            <a:spAutoFit/>
          </a:bodyPr>
          <a:lstStyle/>
          <a:p>
            <a:pPr algn="l"/>
            <a:r>
              <a:rPr sz="1400" b="0">
                <a:solidFill>
                  <a:srgbClr val="1F2A3D"/>
                </a:solidFill>
                <a:latin typeface="Calibri"/>
              </a:rPr>
              <a:t>Le Sprint 0 a préparé le terrain. Quatre sprints fonctionnels ont ensuite livré deux releases cohérentes du produit.</a:t>
            </a:r>
          </a:p>
        </p:txBody>
      </p:sp>
      <p:sp>
        <p:nvSpPr>
          <p:cNvPr id="8" name="Rectangle 7"/>
          <p:cNvSpPr/>
          <p:nvPr/>
        </p:nvSpPr>
        <p:spPr>
          <a:xfrm>
            <a:off x="563727" y="2377440"/>
            <a:ext cx="2103120" cy="18288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727" y="2514600"/>
            <a:ext cx="2103120" cy="457200"/>
          </a:xfrm>
          <a:prstGeom prst="rect">
            <a:avLst/>
          </a:prstGeom>
          <a:noFill/>
        </p:spPr>
        <p:txBody>
          <a:bodyPr wrap="square" anchor="ctr" lIns="45720" rIns="45720" tIns="18288" bIns="18288">
            <a:spAutoFit/>
          </a:bodyPr>
          <a:lstStyle/>
          <a:p>
            <a:pPr algn="ctr"/>
            <a:r>
              <a:rPr sz="2200" b="1">
                <a:solidFill>
                  <a:srgbClr val="E8B84B"/>
                </a:solidFill>
                <a:latin typeface="Calibri"/>
              </a:rPr>
              <a:t>S0</a:t>
            </a:r>
          </a:p>
        </p:txBody>
      </p:sp>
      <p:sp>
        <p:nvSpPr>
          <p:cNvPr id="10" name="TextBox 9"/>
          <p:cNvSpPr txBox="1"/>
          <p:nvPr/>
        </p:nvSpPr>
        <p:spPr>
          <a:xfrm>
            <a:off x="655167" y="3154680"/>
            <a:ext cx="1920240" cy="914400"/>
          </a:xfrm>
          <a:prstGeom prst="rect">
            <a:avLst/>
          </a:prstGeom>
          <a:noFill/>
        </p:spPr>
        <p:txBody>
          <a:bodyPr wrap="square" anchor="ctr" lIns="45720" rIns="45720" tIns="18288" bIns="18288">
            <a:spAutoFit/>
          </a:bodyPr>
          <a:lstStyle/>
          <a:p>
            <a:pPr algn="ctr"/>
            <a:r>
              <a:rPr sz="1200" b="1">
                <a:solidFill>
                  <a:srgbClr val="E8B84B"/>
                </a:solidFill>
                <a:latin typeface="Calibri"/>
              </a:rPr>
              <a:t>Architecture</a:t>
            </a:r>
          </a:p>
          <a:p>
            <a:pPr algn="ctr"/>
            <a:r>
              <a:rPr sz="1200" b="1">
                <a:solidFill>
                  <a:srgbClr val="E8B84B"/>
                </a:solidFill>
                <a:latin typeface="Calibri"/>
              </a:rPr>
              <a:t>&amp; Conception</a:t>
            </a:r>
          </a:p>
        </p:txBody>
      </p:sp>
      <p:sp>
        <p:nvSpPr>
          <p:cNvPr id="11" name="Rectangle 10"/>
          <p:cNvSpPr/>
          <p:nvPr/>
        </p:nvSpPr>
        <p:spPr>
          <a:xfrm>
            <a:off x="2804007" y="2377440"/>
            <a:ext cx="2103120" cy="18288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4007" y="2514600"/>
            <a:ext cx="2103120" cy="457200"/>
          </a:xfrm>
          <a:prstGeom prst="rect">
            <a:avLst/>
          </a:prstGeom>
          <a:noFill/>
        </p:spPr>
        <p:txBody>
          <a:bodyPr wrap="square" anchor="ctr" lIns="45720" rIns="45720" tIns="18288" bIns="18288">
            <a:spAutoFit/>
          </a:bodyPr>
          <a:lstStyle/>
          <a:p>
            <a:pPr algn="ctr"/>
            <a:r>
              <a:rPr sz="2200" b="1">
                <a:solidFill>
                  <a:srgbClr val="0A1628"/>
                </a:solidFill>
                <a:latin typeface="Calibri"/>
              </a:rPr>
              <a:t>S1</a:t>
            </a:r>
          </a:p>
        </p:txBody>
      </p:sp>
      <p:sp>
        <p:nvSpPr>
          <p:cNvPr id="13" name="TextBox 12"/>
          <p:cNvSpPr txBox="1"/>
          <p:nvPr/>
        </p:nvSpPr>
        <p:spPr>
          <a:xfrm>
            <a:off x="2895447" y="3154680"/>
            <a:ext cx="1920240" cy="914400"/>
          </a:xfrm>
          <a:prstGeom prst="rect">
            <a:avLst/>
          </a:prstGeom>
          <a:noFill/>
        </p:spPr>
        <p:txBody>
          <a:bodyPr wrap="square" anchor="ctr" lIns="45720" rIns="45720" tIns="18288" bIns="18288">
            <a:spAutoFit/>
          </a:bodyPr>
          <a:lstStyle/>
          <a:p>
            <a:pPr algn="ctr"/>
            <a:r>
              <a:rPr sz="1200" b="1">
                <a:solidFill>
                  <a:srgbClr val="0A1628"/>
                </a:solidFill>
                <a:latin typeface="Calibri"/>
              </a:rPr>
              <a:t>Fondations</a:t>
            </a:r>
          </a:p>
          <a:p>
            <a:pPr algn="ctr"/>
            <a:r>
              <a:rPr sz="1200" b="1">
                <a:solidFill>
                  <a:srgbClr val="0A1628"/>
                </a:solidFill>
                <a:latin typeface="Calibri"/>
              </a:rPr>
              <a:t>(Auth + Profils)</a:t>
            </a:r>
          </a:p>
        </p:txBody>
      </p:sp>
      <p:sp>
        <p:nvSpPr>
          <p:cNvPr id="14" name="Rectangle 13"/>
          <p:cNvSpPr/>
          <p:nvPr/>
        </p:nvSpPr>
        <p:spPr>
          <a:xfrm>
            <a:off x="5044287" y="2377440"/>
            <a:ext cx="2103120" cy="18288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4287" y="2514600"/>
            <a:ext cx="2103120" cy="457200"/>
          </a:xfrm>
          <a:prstGeom prst="rect">
            <a:avLst/>
          </a:prstGeom>
          <a:noFill/>
        </p:spPr>
        <p:txBody>
          <a:bodyPr wrap="square" anchor="ctr" lIns="45720" rIns="45720" tIns="18288" bIns="18288">
            <a:spAutoFit/>
          </a:bodyPr>
          <a:lstStyle/>
          <a:p>
            <a:pPr algn="ctr"/>
            <a:r>
              <a:rPr sz="2200" b="1">
                <a:solidFill>
                  <a:srgbClr val="0A1628"/>
                </a:solidFill>
                <a:latin typeface="Calibri"/>
              </a:rPr>
              <a:t>S2</a:t>
            </a:r>
          </a:p>
        </p:txBody>
      </p:sp>
      <p:sp>
        <p:nvSpPr>
          <p:cNvPr id="16" name="TextBox 15"/>
          <p:cNvSpPr txBox="1"/>
          <p:nvPr/>
        </p:nvSpPr>
        <p:spPr>
          <a:xfrm>
            <a:off x="5135727" y="3154680"/>
            <a:ext cx="1920240" cy="914400"/>
          </a:xfrm>
          <a:prstGeom prst="rect">
            <a:avLst/>
          </a:prstGeom>
          <a:noFill/>
        </p:spPr>
        <p:txBody>
          <a:bodyPr wrap="square" anchor="ctr" lIns="45720" rIns="45720" tIns="18288" bIns="18288">
            <a:spAutoFit/>
          </a:bodyPr>
          <a:lstStyle/>
          <a:p>
            <a:pPr algn="ctr"/>
            <a:r>
              <a:rPr sz="1200" b="1">
                <a:solidFill>
                  <a:srgbClr val="0A1628"/>
                </a:solidFill>
                <a:latin typeface="Calibri"/>
              </a:rPr>
              <a:t>Trajets</a:t>
            </a:r>
          </a:p>
          <a:p>
            <a:pPr algn="ctr"/>
            <a:r>
              <a:rPr sz="1200" b="1">
                <a:solidFill>
                  <a:srgbClr val="0A1628"/>
                </a:solidFill>
                <a:latin typeface="Calibri"/>
              </a:rPr>
              <a:t>&amp; Réservations</a:t>
            </a:r>
          </a:p>
        </p:txBody>
      </p:sp>
      <p:sp>
        <p:nvSpPr>
          <p:cNvPr id="17" name="Rectangle 16"/>
          <p:cNvSpPr/>
          <p:nvPr/>
        </p:nvSpPr>
        <p:spPr>
          <a:xfrm>
            <a:off x="7284567" y="2377440"/>
            <a:ext cx="2103120" cy="18288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84567" y="2514600"/>
            <a:ext cx="2103120" cy="457200"/>
          </a:xfrm>
          <a:prstGeom prst="rect">
            <a:avLst/>
          </a:prstGeom>
          <a:noFill/>
        </p:spPr>
        <p:txBody>
          <a:bodyPr wrap="square" anchor="ctr" lIns="45720" rIns="45720" tIns="18288" bIns="18288">
            <a:spAutoFit/>
          </a:bodyPr>
          <a:lstStyle/>
          <a:p>
            <a:pPr algn="ctr"/>
            <a:r>
              <a:rPr sz="2200" b="1">
                <a:solidFill>
                  <a:srgbClr val="0A1628"/>
                </a:solidFill>
                <a:latin typeface="Calibri"/>
              </a:rPr>
              <a:t>S3</a:t>
            </a:r>
          </a:p>
        </p:txBody>
      </p:sp>
      <p:sp>
        <p:nvSpPr>
          <p:cNvPr id="19" name="TextBox 18"/>
          <p:cNvSpPr txBox="1"/>
          <p:nvPr/>
        </p:nvSpPr>
        <p:spPr>
          <a:xfrm>
            <a:off x="7376007" y="3154680"/>
            <a:ext cx="1920240" cy="914400"/>
          </a:xfrm>
          <a:prstGeom prst="rect">
            <a:avLst/>
          </a:prstGeom>
          <a:noFill/>
        </p:spPr>
        <p:txBody>
          <a:bodyPr wrap="square" anchor="ctr" lIns="45720" rIns="45720" tIns="18288" bIns="18288">
            <a:spAutoFit/>
          </a:bodyPr>
          <a:lstStyle/>
          <a:p>
            <a:pPr algn="ctr"/>
            <a:r>
              <a:rPr sz="1200" b="1">
                <a:solidFill>
                  <a:srgbClr val="0A1628"/>
                </a:solidFill>
                <a:latin typeface="Calibri"/>
              </a:rPr>
              <a:t>Paiements</a:t>
            </a:r>
          </a:p>
          <a:p>
            <a:pPr algn="ctr"/>
            <a:r>
              <a:rPr sz="1200" b="1">
                <a:solidFill>
                  <a:srgbClr val="0A1628"/>
                </a:solidFill>
                <a:latin typeface="Calibri"/>
              </a:rPr>
              <a:t>&amp; Intelligence</a:t>
            </a:r>
          </a:p>
        </p:txBody>
      </p:sp>
      <p:sp>
        <p:nvSpPr>
          <p:cNvPr id="20" name="Rectangle 19"/>
          <p:cNvSpPr/>
          <p:nvPr/>
        </p:nvSpPr>
        <p:spPr>
          <a:xfrm>
            <a:off x="9524847" y="2377440"/>
            <a:ext cx="2103120" cy="18288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24847" y="2514600"/>
            <a:ext cx="2103120" cy="457200"/>
          </a:xfrm>
          <a:prstGeom prst="rect">
            <a:avLst/>
          </a:prstGeom>
          <a:noFill/>
        </p:spPr>
        <p:txBody>
          <a:bodyPr wrap="square" anchor="ctr" lIns="45720" rIns="45720" tIns="18288" bIns="18288">
            <a:spAutoFit/>
          </a:bodyPr>
          <a:lstStyle/>
          <a:p>
            <a:pPr algn="ctr"/>
            <a:r>
              <a:rPr sz="2200" b="1">
                <a:solidFill>
                  <a:srgbClr val="0A1628"/>
                </a:solidFill>
                <a:latin typeface="Calibri"/>
              </a:rPr>
              <a:t>S4</a:t>
            </a:r>
          </a:p>
        </p:txBody>
      </p:sp>
      <p:sp>
        <p:nvSpPr>
          <p:cNvPr id="22" name="TextBox 21"/>
          <p:cNvSpPr txBox="1"/>
          <p:nvPr/>
        </p:nvSpPr>
        <p:spPr>
          <a:xfrm>
            <a:off x="9616287" y="3154680"/>
            <a:ext cx="1920240" cy="914400"/>
          </a:xfrm>
          <a:prstGeom prst="rect">
            <a:avLst/>
          </a:prstGeom>
          <a:noFill/>
        </p:spPr>
        <p:txBody>
          <a:bodyPr wrap="square" anchor="ctr" lIns="45720" rIns="45720" tIns="18288" bIns="18288">
            <a:spAutoFit/>
          </a:bodyPr>
          <a:lstStyle/>
          <a:p>
            <a:pPr algn="ctr"/>
            <a:r>
              <a:rPr sz="1200" b="1">
                <a:solidFill>
                  <a:srgbClr val="0A1628"/>
                </a:solidFill>
                <a:latin typeface="Calibri"/>
              </a:rPr>
              <a:t>Communauté</a:t>
            </a:r>
          </a:p>
          <a:p>
            <a:pPr algn="ctr"/>
            <a:r>
              <a:rPr sz="1200" b="1">
                <a:solidFill>
                  <a:srgbClr val="0A1628"/>
                </a:solidFill>
                <a:latin typeface="Calibri"/>
              </a:rPr>
              <a:t>&amp; Finalisation</a:t>
            </a:r>
          </a:p>
        </p:txBody>
      </p:sp>
      <p:sp>
        <p:nvSpPr>
          <p:cNvPr id="23" name="Rectangle 22"/>
          <p:cNvSpPr/>
          <p:nvPr/>
        </p:nvSpPr>
        <p:spPr>
          <a:xfrm>
            <a:off x="2743200" y="4434840"/>
            <a:ext cx="4206240" cy="36576"/>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 y="4526280"/>
            <a:ext cx="4206240" cy="365760"/>
          </a:xfrm>
          <a:prstGeom prst="rect">
            <a:avLst/>
          </a:prstGeom>
          <a:noFill/>
        </p:spPr>
        <p:txBody>
          <a:bodyPr wrap="square" anchor="t" lIns="45720" rIns="45720" tIns="18288" bIns="18288">
            <a:spAutoFit/>
          </a:bodyPr>
          <a:lstStyle/>
          <a:p>
            <a:pPr algn="ctr"/>
            <a:r>
              <a:rPr sz="1100" b="1">
                <a:solidFill>
                  <a:srgbClr val="0A1628"/>
                </a:solidFill>
                <a:latin typeface="Calibri"/>
              </a:rPr>
              <a:t>RELEASE 1 — boucle de réservation utilisable</a:t>
            </a:r>
          </a:p>
        </p:txBody>
      </p:sp>
      <p:sp>
        <p:nvSpPr>
          <p:cNvPr id="25" name="Rectangle 24"/>
          <p:cNvSpPr/>
          <p:nvPr/>
        </p:nvSpPr>
        <p:spPr>
          <a:xfrm>
            <a:off x="7040880" y="4434840"/>
            <a:ext cx="4206240" cy="36576"/>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4526280"/>
            <a:ext cx="4206240" cy="365760"/>
          </a:xfrm>
          <a:prstGeom prst="rect">
            <a:avLst/>
          </a:prstGeom>
          <a:noFill/>
        </p:spPr>
        <p:txBody>
          <a:bodyPr wrap="square" anchor="t" lIns="45720" rIns="45720" tIns="18288" bIns="18288">
            <a:spAutoFit/>
          </a:bodyPr>
          <a:lstStyle/>
          <a:p>
            <a:pPr algn="ctr"/>
            <a:r>
              <a:rPr sz="1100" b="1">
                <a:solidFill>
                  <a:srgbClr val="0A1628"/>
                </a:solidFill>
                <a:latin typeface="Calibri"/>
              </a:rPr>
              <a:t>RELEASE 2 — intelligence + communauté</a:t>
            </a:r>
          </a:p>
        </p:txBody>
      </p:sp>
      <p:sp>
        <p:nvSpPr>
          <p:cNvPr id="27" name="TextBox 26"/>
          <p:cNvSpPr txBox="1"/>
          <p:nvPr/>
        </p:nvSpPr>
        <p:spPr>
          <a:xfrm>
            <a:off x="640080" y="5120640"/>
            <a:ext cx="10972800" cy="1280160"/>
          </a:xfrm>
          <a:prstGeom prst="rect">
            <a:avLst/>
          </a:prstGeom>
          <a:noFill/>
        </p:spPr>
        <p:txBody>
          <a:bodyPr wrap="square" lIns="45720">
            <a:spAutoFit/>
          </a:bodyPr>
          <a:lstStyle/>
          <a:p>
            <a:pPr algn="l">
              <a:lnSpc>
                <a:spcPct val="115000"/>
              </a:lnSpc>
              <a:spcAft>
                <a:spcPts val="400"/>
              </a:spcAft>
            </a:pPr>
            <a:r>
              <a:rPr sz="1300" b="1">
                <a:solidFill>
                  <a:srgbClr val="D4A43A"/>
                </a:solidFill>
                <a:latin typeface="Calibri"/>
              </a:rPr>
              <a:t>▸  </a:t>
            </a:r>
            <a:r>
              <a:rPr sz="1300">
                <a:solidFill>
                  <a:srgbClr val="1F2A3D"/>
                </a:solidFill>
                <a:latin typeface="Calibri"/>
              </a:rPr>
              <a:t>Stand-ups quotidiens au sein de l'équipe — revues hebdomadaires avec l'encadrant.</a:t>
            </a:r>
          </a:p>
          <a:p>
            <a:pPr algn="l">
              <a:lnSpc>
                <a:spcPct val="115000"/>
              </a:lnSpc>
              <a:spcAft>
                <a:spcPts val="400"/>
              </a:spcAft>
            </a:pPr>
            <a:r>
              <a:rPr sz="1300" b="1">
                <a:solidFill>
                  <a:srgbClr val="D4A43A"/>
                </a:solidFill>
                <a:latin typeface="Calibri"/>
              </a:rPr>
              <a:t>▸  </a:t>
            </a:r>
            <a:r>
              <a:rPr sz="1300">
                <a:solidFill>
                  <a:srgbClr val="1F2A3D"/>
                </a:solidFill>
                <a:latin typeface="Calibri"/>
              </a:rPr>
              <a:t>Chaque sprint a produit un incrément utilisable, revu et démontré.</a:t>
            </a:r>
          </a:p>
          <a:p>
            <a:pPr algn="l">
              <a:lnSpc>
                <a:spcPct val="115000"/>
              </a:lnSpc>
              <a:spcAft>
                <a:spcPts val="400"/>
              </a:spcAft>
            </a:pPr>
            <a:r>
              <a:rPr sz="1300" b="1">
                <a:solidFill>
                  <a:srgbClr val="D4A43A"/>
                </a:solidFill>
                <a:latin typeface="Calibri"/>
              </a:rPr>
              <a:t>▸  </a:t>
            </a:r>
            <a:r>
              <a:rPr sz="1300">
                <a:solidFill>
                  <a:srgbClr val="1F2A3D"/>
                </a:solidFill>
                <a:latin typeface="Calibri"/>
              </a:rPr>
              <a:t>Tableau Trello pour garder le backlog visible — story points sur une échelle Fibonacci.</a:t>
            </a:r>
          </a:p>
        </p:txBody>
      </p:sp>
      <p:sp>
        <p:nvSpPr>
          <p:cNvPr id="28" name="Rectangle 27"/>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30" name="TextBox 29"/>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SPRINT 0 · CONCEPTION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Architecture — client / serveur, trois couches</a:t>
            </a:r>
          </a:p>
        </p:txBody>
      </p:sp>
      <p:sp>
        <p:nvSpPr>
          <p:cNvPr id="7" name="TextBox 6"/>
          <p:cNvSpPr txBox="1"/>
          <p:nvPr/>
        </p:nvSpPr>
        <p:spPr>
          <a:xfrm>
            <a:off x="640080" y="1554480"/>
            <a:ext cx="4937760" cy="4572000"/>
          </a:xfrm>
          <a:prstGeom prst="rect">
            <a:avLst/>
          </a:prstGeom>
          <a:noFill/>
        </p:spPr>
        <p:txBody>
          <a:bodyPr wrap="square" lIns="45720">
            <a:spAutoFit/>
          </a:bodyPr>
          <a:lstStyle/>
          <a:p>
            <a:pPr algn="l">
              <a:lnSpc>
                <a:spcPct val="115000"/>
              </a:lnSpc>
              <a:spcAft>
                <a:spcPts val="400"/>
              </a:spcAft>
            </a:pPr>
            <a:r>
              <a:rPr sz="1400" b="1">
                <a:solidFill>
                  <a:srgbClr val="D4A43A"/>
                </a:solidFill>
                <a:latin typeface="Calibri"/>
              </a:rPr>
              <a:t>▸  </a:t>
            </a:r>
            <a:r>
              <a:rPr sz="1400">
                <a:solidFill>
                  <a:srgbClr val="1F2A3D"/>
                </a:solidFill>
                <a:latin typeface="Calibri"/>
              </a:rPr>
              <a:t>Deux clients (web + mobile) consomment une seule API REST.</a:t>
            </a:r>
          </a:p>
          <a:p>
            <a:pPr algn="l">
              <a:lnSpc>
                <a:spcPct val="115000"/>
              </a:lnSpc>
              <a:spcAft>
                <a:spcPts val="400"/>
              </a:spcAft>
            </a:pPr>
            <a:r>
              <a:rPr sz="1400" b="1">
                <a:solidFill>
                  <a:srgbClr val="D4A43A"/>
                </a:solidFill>
                <a:latin typeface="Calibri"/>
              </a:rPr>
              <a:t>▸  </a:t>
            </a:r>
            <a:r>
              <a:rPr sz="1400">
                <a:solidFill>
                  <a:srgbClr val="1F2A3D"/>
                </a:solidFill>
                <a:latin typeface="Calibri"/>
              </a:rPr>
              <a:t>Backend en PHP, exposé sous /api/, sécurisé par bearer tokens.</a:t>
            </a:r>
          </a:p>
          <a:p>
            <a:pPr algn="l">
              <a:lnSpc>
                <a:spcPct val="115000"/>
              </a:lnSpc>
              <a:spcAft>
                <a:spcPts val="400"/>
              </a:spcAft>
            </a:pPr>
            <a:r>
              <a:rPr sz="1400" b="1">
                <a:solidFill>
                  <a:srgbClr val="D4A43A"/>
                </a:solidFill>
                <a:latin typeface="Calibri"/>
              </a:rPr>
              <a:t>▸  </a:t>
            </a:r>
            <a:r>
              <a:rPr sz="1400">
                <a:solidFill>
                  <a:srgbClr val="1F2A3D"/>
                </a:solidFill>
                <a:latin typeface="Calibri"/>
              </a:rPr>
              <a:t>Trois couches : présentation, application, données.</a:t>
            </a:r>
          </a:p>
          <a:p>
            <a:pPr algn="l">
              <a:lnSpc>
                <a:spcPct val="115000"/>
              </a:lnSpc>
              <a:spcAft>
                <a:spcPts val="400"/>
              </a:spcAft>
            </a:pPr>
            <a:r>
              <a:rPr sz="1400" b="1">
                <a:solidFill>
                  <a:srgbClr val="D4A43A"/>
                </a:solidFill>
                <a:latin typeface="Calibri"/>
              </a:rPr>
              <a:t>▸  </a:t>
            </a:r>
            <a:r>
              <a:rPr sz="1400">
                <a:solidFill>
                  <a:srgbClr val="1F2A3D"/>
                </a:solidFill>
                <a:latin typeface="Calibri"/>
              </a:rPr>
              <a:t>Services externes (paiement, notifications, stockage) joignables uniquement via le backend — aucun secret côté client.</a:t>
            </a:r>
          </a:p>
          <a:p>
            <a:pPr algn="l">
              <a:lnSpc>
                <a:spcPct val="115000"/>
              </a:lnSpc>
              <a:spcAft>
                <a:spcPts val="400"/>
              </a:spcAft>
            </a:pPr>
            <a:r>
              <a:rPr sz="1400" b="1">
                <a:solidFill>
                  <a:srgbClr val="D4A43A"/>
                </a:solidFill>
                <a:latin typeface="Calibri"/>
              </a:rPr>
              <a:t>▸  </a:t>
            </a:r>
            <a:r>
              <a:rPr sz="1400">
                <a:solidFill>
                  <a:srgbClr val="1F2A3D"/>
                </a:solidFill>
                <a:latin typeface="Calibri"/>
              </a:rPr>
              <a:t>HTTPS en production. Mots de passe bcrypt. Journal d'audit sur les opérations sensibles.</a:t>
            </a:r>
          </a:p>
        </p:txBody>
      </p:sp>
      <p:sp>
        <p:nvSpPr>
          <p:cNvPr id="8" name="Rectangle 7"/>
          <p:cNvSpPr/>
          <p:nvPr/>
        </p:nvSpPr>
        <p:spPr>
          <a:xfrm>
            <a:off x="6400800" y="1691640"/>
            <a:ext cx="2377440" cy="82296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2377440" cy="822960"/>
          </a:xfrm>
          <a:prstGeom prst="rect">
            <a:avLst/>
          </a:prstGeom>
          <a:noFill/>
        </p:spPr>
        <p:txBody>
          <a:bodyPr wrap="square" anchor="ctr" lIns="45720" rIns="45720" tIns="18288" bIns="18288">
            <a:spAutoFit/>
          </a:bodyPr>
          <a:lstStyle/>
          <a:p>
            <a:pPr algn="ctr"/>
            <a:r>
              <a:rPr sz="1400" b="1">
                <a:solidFill>
                  <a:srgbClr val="0A1628"/>
                </a:solidFill>
                <a:latin typeface="Calibri"/>
              </a:rPr>
              <a:t>Application Web</a:t>
            </a:r>
          </a:p>
        </p:txBody>
      </p:sp>
      <p:sp>
        <p:nvSpPr>
          <p:cNvPr id="10" name="Rectangle 9"/>
          <p:cNvSpPr/>
          <p:nvPr/>
        </p:nvSpPr>
        <p:spPr>
          <a:xfrm>
            <a:off x="9144000" y="1691640"/>
            <a:ext cx="2377440" cy="82296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691640"/>
            <a:ext cx="2377440" cy="822960"/>
          </a:xfrm>
          <a:prstGeom prst="rect">
            <a:avLst/>
          </a:prstGeom>
          <a:noFill/>
        </p:spPr>
        <p:txBody>
          <a:bodyPr wrap="square" anchor="ctr" lIns="45720" rIns="45720" tIns="18288" bIns="18288">
            <a:spAutoFit/>
          </a:bodyPr>
          <a:lstStyle/>
          <a:p>
            <a:pPr algn="ctr"/>
            <a:r>
              <a:rPr sz="1300" b="1">
                <a:solidFill>
                  <a:srgbClr val="0A1628"/>
                </a:solidFill>
                <a:latin typeface="Calibri"/>
              </a:rPr>
              <a:t>Application Mobile</a:t>
            </a:r>
          </a:p>
        </p:txBody>
      </p:sp>
      <p:sp>
        <p:nvSpPr>
          <p:cNvPr id="12" name="Rectangle 11"/>
          <p:cNvSpPr/>
          <p:nvPr/>
        </p:nvSpPr>
        <p:spPr>
          <a:xfrm>
            <a:off x="7772400" y="2971800"/>
            <a:ext cx="2377440" cy="8686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2971800"/>
            <a:ext cx="2377440" cy="868680"/>
          </a:xfrm>
          <a:prstGeom prst="rect">
            <a:avLst/>
          </a:prstGeom>
          <a:noFill/>
        </p:spPr>
        <p:txBody>
          <a:bodyPr wrap="square" anchor="ctr" lIns="45720" rIns="45720" tIns="18288" bIns="18288">
            <a:spAutoFit/>
          </a:bodyPr>
          <a:lstStyle/>
          <a:p>
            <a:pPr algn="ctr"/>
            <a:r>
              <a:rPr sz="1400" b="1">
                <a:solidFill>
                  <a:srgbClr val="FFFFFF"/>
                </a:solidFill>
                <a:latin typeface="Calibri"/>
              </a:rPr>
              <a:t>Backend</a:t>
            </a:r>
          </a:p>
          <a:p>
            <a:pPr algn="ctr"/>
            <a:r>
              <a:rPr sz="1400" b="1">
                <a:solidFill>
                  <a:srgbClr val="FFFFFF"/>
                </a:solidFill>
                <a:latin typeface="Calibri"/>
              </a:rPr>
              <a:t>(API REST)</a:t>
            </a:r>
          </a:p>
        </p:txBody>
      </p:sp>
      <p:sp>
        <p:nvSpPr>
          <p:cNvPr id="14" name="Rectangle 13"/>
          <p:cNvSpPr/>
          <p:nvPr/>
        </p:nvSpPr>
        <p:spPr>
          <a:xfrm>
            <a:off x="7772400" y="4297680"/>
            <a:ext cx="2377440" cy="77724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4297680"/>
            <a:ext cx="2377440" cy="777240"/>
          </a:xfrm>
          <a:prstGeom prst="rect">
            <a:avLst/>
          </a:prstGeom>
          <a:noFill/>
        </p:spPr>
        <p:txBody>
          <a:bodyPr wrap="square" anchor="ctr" lIns="45720" rIns="45720" tIns="18288" bIns="18288">
            <a:spAutoFit/>
          </a:bodyPr>
          <a:lstStyle/>
          <a:p>
            <a:pPr algn="ctr"/>
            <a:r>
              <a:rPr sz="1300" b="1">
                <a:solidFill>
                  <a:srgbClr val="0A1628"/>
                </a:solidFill>
                <a:latin typeface="Calibri"/>
              </a:rPr>
              <a:t>SQLite (WAL)</a:t>
            </a:r>
          </a:p>
        </p:txBody>
      </p:sp>
      <p:cxnSp>
        <p:nvCxnSpPr>
          <p:cNvPr id="16" name="Connector 15"/>
          <p:cNvCxnSpPr/>
          <p:nvPr/>
        </p:nvCxnSpPr>
        <p:spPr>
          <a:xfrm>
            <a:off x="7589520" y="2514600"/>
            <a:ext cx="1097280" cy="457200"/>
          </a:xfrm>
          <a:prstGeom prst="bentConnector3">
            <a:avLst/>
          </a:prstGeom>
          <a:ln>
            <a:solidFill>
              <a:srgbClr val="0A162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0" y="2514600"/>
            <a:ext cx="1188720" cy="457200"/>
          </a:xfrm>
          <a:prstGeom prst="bentConnector3">
            <a:avLst/>
          </a:prstGeom>
          <a:ln>
            <a:solidFill>
              <a:srgbClr val="0A162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961120" y="3840480"/>
            <a:ext cx="0" cy="457200"/>
          </a:xfrm>
          <a:prstGeom prst="bentConnector3">
            <a:avLst/>
          </a:prstGeom>
          <a:ln>
            <a:solidFill>
              <a:srgbClr val="0A162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21" name="TextBox 2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SPRINT 0 · CONCEPTION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Diagramme de classes — 20+ entités, 5 groupes</a:t>
            </a:r>
          </a:p>
        </p:txBody>
      </p:sp>
      <p:pic>
        <p:nvPicPr>
          <p:cNvPr id="7" name="Picture 6" descr="forsadrive_class_diagram.png"/>
          <p:cNvPicPr>
            <a:picLocks noChangeAspect="1"/>
          </p:cNvPicPr>
          <p:nvPr/>
        </p:nvPicPr>
        <p:blipFill>
          <a:blip r:embed="rId2"/>
          <a:stretch>
            <a:fillRect/>
          </a:stretch>
        </p:blipFill>
        <p:spPr>
          <a:xfrm>
            <a:off x="838047" y="1280160"/>
            <a:ext cx="10515600" cy="4526280"/>
          </a:xfrm>
          <a:prstGeom prst="rect">
            <a:avLst/>
          </a:prstGeom>
        </p:spPr>
      </p:pic>
      <p:sp>
        <p:nvSpPr>
          <p:cNvPr id="8" name="TextBox 7"/>
          <p:cNvSpPr txBox="1"/>
          <p:nvPr/>
        </p:nvSpPr>
        <p:spPr>
          <a:xfrm>
            <a:off x="640080" y="5989320"/>
            <a:ext cx="10972800" cy="365760"/>
          </a:xfrm>
          <a:prstGeom prst="rect">
            <a:avLst/>
          </a:prstGeom>
          <a:noFill/>
        </p:spPr>
        <p:txBody>
          <a:bodyPr wrap="square" anchor="t" lIns="45720" rIns="45720" tIns="18288" bIns="18288">
            <a:spAutoFit/>
          </a:bodyPr>
          <a:lstStyle/>
          <a:p>
            <a:pPr algn="ctr"/>
            <a:r>
              <a:rPr sz="1200" b="1">
                <a:solidFill>
                  <a:srgbClr val="0A1628"/>
                </a:solidFill>
                <a:latin typeface="Calibri"/>
              </a:rPr>
              <a:t>Utilisateurs &amp; profils  ·  Trajets &amp; réservations  ·  Paiements &amp; notations  ·  Vérification &amp; réductions  ·  Communication &amp; modération</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SPRINT 0 · CONCEPTION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Cas d'utilisation global — quatre acteurs</a:t>
            </a:r>
          </a:p>
        </p:txBody>
      </p:sp>
      <p:pic>
        <p:nvPicPr>
          <p:cNvPr id="7" name="Picture 6" descr="ForsaDrive_UseCase.png"/>
          <p:cNvPicPr>
            <a:picLocks noChangeAspect="1"/>
          </p:cNvPicPr>
          <p:nvPr/>
        </p:nvPicPr>
        <p:blipFill>
          <a:blip r:embed="rId2"/>
          <a:stretch>
            <a:fillRect/>
          </a:stretch>
        </p:blipFill>
        <p:spPr>
          <a:xfrm>
            <a:off x="838047" y="1280160"/>
            <a:ext cx="10515600" cy="4526280"/>
          </a:xfrm>
          <a:prstGeom prst="rect">
            <a:avLst/>
          </a:prstGeom>
        </p:spPr>
      </p:pic>
      <p:sp>
        <p:nvSpPr>
          <p:cNvPr id="8" name="TextBox 7"/>
          <p:cNvSpPr txBox="1"/>
          <p:nvPr/>
        </p:nvSpPr>
        <p:spPr>
          <a:xfrm>
            <a:off x="640080" y="5989320"/>
            <a:ext cx="10972800" cy="365760"/>
          </a:xfrm>
          <a:prstGeom prst="rect">
            <a:avLst/>
          </a:prstGeom>
          <a:noFill/>
        </p:spPr>
        <p:txBody>
          <a:bodyPr wrap="square" anchor="t" lIns="45720" rIns="45720" tIns="18288" bIns="18288">
            <a:spAutoFit/>
          </a:bodyPr>
          <a:lstStyle/>
          <a:p>
            <a:pPr algn="ctr"/>
            <a:r>
              <a:rPr sz="1200" b="1">
                <a:solidFill>
                  <a:srgbClr val="0A1628"/>
                </a:solidFill>
                <a:latin typeface="Calibri"/>
              </a:rPr>
              <a:t>Passager  ·  Conducteur  ·  Administrateur  ·  Système (automatique)</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0"/>
            <a:ext cx="2377440" cy="457200"/>
          </a:xfrm>
          <a:prstGeom prst="rect">
            <a:avLst/>
          </a:prstGeom>
          <a:noFill/>
        </p:spPr>
        <p:txBody>
          <a:bodyPr wrap="square" anchor="t" lIns="45720" rIns="45720" tIns="18288" bIns="18288">
            <a:spAutoFit/>
          </a:bodyPr>
          <a:lstStyle/>
          <a:p>
            <a:pPr algn="l"/>
            <a:r>
              <a:rPr sz="1400" b="1">
                <a:solidFill>
                  <a:srgbClr val="E8B84B"/>
                </a:solidFill>
                <a:latin typeface="Calibri"/>
              </a:rPr>
              <a:t>SPRINT 1</a:t>
            </a:r>
          </a:p>
        </p:txBody>
      </p:sp>
      <p:sp>
        <p:nvSpPr>
          <p:cNvPr id="5" name="TextBox 4"/>
          <p:cNvSpPr txBox="1"/>
          <p:nvPr/>
        </p:nvSpPr>
        <p:spPr>
          <a:xfrm>
            <a:off x="365760" y="914400"/>
            <a:ext cx="2377440" cy="1828800"/>
          </a:xfrm>
          <a:prstGeom prst="rect">
            <a:avLst/>
          </a:prstGeom>
          <a:noFill/>
        </p:spPr>
        <p:txBody>
          <a:bodyPr wrap="square" anchor="t" lIns="45720" rIns="45720" tIns="18288" bIns="18288">
            <a:spAutoFit/>
          </a:bodyPr>
          <a:lstStyle/>
          <a:p>
            <a:pPr algn="l"/>
            <a:r>
              <a:rPr sz="2800" b="1">
                <a:solidFill>
                  <a:srgbClr val="FFFFFF"/>
                </a:solidFill>
                <a:latin typeface="Calibri"/>
              </a:rPr>
              <a:t>Fondations</a:t>
            </a:r>
          </a:p>
        </p:txBody>
      </p:sp>
      <p:sp>
        <p:nvSpPr>
          <p:cNvPr id="6" name="TextBox 5"/>
          <p:cNvSpPr txBox="1"/>
          <p:nvPr/>
        </p:nvSpPr>
        <p:spPr>
          <a:xfrm>
            <a:off x="365760" y="3108960"/>
            <a:ext cx="2377440" cy="365760"/>
          </a:xfrm>
          <a:prstGeom prst="rect">
            <a:avLst/>
          </a:prstGeom>
          <a:noFill/>
        </p:spPr>
        <p:txBody>
          <a:bodyPr wrap="square" anchor="t" lIns="45720" rIns="45720" tIns="18288" bIns="18288">
            <a:spAutoFit/>
          </a:bodyPr>
          <a:lstStyle/>
          <a:p>
            <a:pPr algn="l"/>
            <a:r>
              <a:rPr sz="1100" b="1">
                <a:solidFill>
                  <a:srgbClr val="E8B84B"/>
                </a:solidFill>
                <a:latin typeface="Calibri"/>
              </a:rPr>
              <a:t>OBJECTIF</a:t>
            </a:r>
          </a:p>
        </p:txBody>
      </p:sp>
      <p:sp>
        <p:nvSpPr>
          <p:cNvPr id="7" name="TextBox 6"/>
          <p:cNvSpPr txBox="1"/>
          <p:nvPr/>
        </p:nvSpPr>
        <p:spPr>
          <a:xfrm>
            <a:off x="365760" y="3383280"/>
            <a:ext cx="2468880" cy="1828800"/>
          </a:xfrm>
          <a:prstGeom prst="rect">
            <a:avLst/>
          </a:prstGeom>
          <a:noFill/>
        </p:spPr>
        <p:txBody>
          <a:bodyPr wrap="square" anchor="t" lIns="45720" rIns="45720" tIns="18288" bIns="18288">
            <a:spAutoFit/>
          </a:bodyPr>
          <a:lstStyle/>
          <a:p>
            <a:pPr algn="l"/>
            <a:r>
              <a:rPr sz="1200" b="0">
                <a:solidFill>
                  <a:srgbClr val="FFFFFF"/>
                </a:solidFill>
                <a:latin typeface="Calibri"/>
              </a:rPr>
              <a:t>Création de compte, authentification, profil, vérification étudiante, candidature conducteur et validation par l'admin.</a:t>
            </a:r>
          </a:p>
        </p:txBody>
      </p:sp>
      <p:sp>
        <p:nvSpPr>
          <p:cNvPr id="8" name="TextBox 7"/>
          <p:cNvSpPr txBox="1"/>
          <p:nvPr/>
        </p:nvSpPr>
        <p:spPr>
          <a:xfrm>
            <a:off x="3383280" y="365760"/>
            <a:ext cx="8229600" cy="457200"/>
          </a:xfrm>
          <a:prstGeom prst="rect">
            <a:avLst/>
          </a:prstGeom>
          <a:noFill/>
        </p:spPr>
        <p:txBody>
          <a:bodyPr wrap="square" anchor="t" lIns="45720" rIns="45720" tIns="18288" bIns="18288">
            <a:spAutoFit/>
          </a:bodyPr>
          <a:lstStyle/>
          <a:p>
            <a:pPr algn="l"/>
            <a:r>
              <a:rPr sz="1400" b="1">
                <a:solidFill>
                  <a:srgbClr val="0A1628"/>
                </a:solidFill>
                <a:latin typeface="Calibri"/>
              </a:rPr>
              <a:t>Backlog du sprint (extrait)</a:t>
            </a:r>
          </a:p>
        </p:txBody>
      </p:sp>
      <p:graphicFrame>
        <p:nvGraphicFramePr>
          <p:cNvPr id="9" name="Table 8"/>
          <p:cNvGraphicFramePr>
            <a:graphicFrameLocks noGrp="1"/>
          </p:cNvGraphicFramePr>
          <p:nvPr/>
        </p:nvGraphicFramePr>
        <p:xfrm>
          <a:off x="3383280" y="777240"/>
          <a:ext cx="8503920" cy="3017520"/>
        </p:xfrm>
        <a:graphic>
          <a:graphicData uri="http://schemas.openxmlformats.org/drawingml/2006/table">
            <a:tbl>
              <a:tblPr firstRow="1" bandRow="1">
                <a:tableStyleId>{5C22544A-7EE6-4342-B048-85BDC9FD1C3A}</a:tableStyleId>
              </a:tblPr>
              <a:tblGrid>
                <a:gridCol w="2834640"/>
                <a:gridCol w="2834640"/>
                <a:gridCol w="2834640"/>
              </a:tblGrid>
              <a:tr h="377190">
                <a:tc>
                  <a:txBody>
                    <a:bodyPr lIns="73152" rIns="73152" tIns="36576" bIns="36576"/>
                    <a:lstStyle/>
                    <a:p>
                      <a:pPr algn="l"/>
                      <a:r>
                        <a:rPr sz="1100" b="1">
                          <a:solidFill>
                            <a:srgbClr val="FFFFFF"/>
                          </a:solidFill>
                          <a:latin typeface="Calibri"/>
                        </a:rPr>
                        <a:t>#</a:t>
                      </a:r>
                    </a:p>
                  </a:txBody>
                  <a:tcPr>
                    <a:solidFill>
                      <a:srgbClr val="0A1628"/>
                    </a:solidFill>
                  </a:tcPr>
                </a:tc>
                <a:tc>
                  <a:txBody>
                    <a:bodyPr lIns="73152" rIns="73152" tIns="36576" bIns="36576"/>
                    <a:lstStyle/>
                    <a:p>
                      <a:pPr algn="l"/>
                      <a:r>
                        <a:rPr sz="1100" b="1">
                          <a:solidFill>
                            <a:srgbClr val="FFFFFF"/>
                          </a:solidFill>
                          <a:latin typeface="Calibri"/>
                        </a:rPr>
                        <a:t>User story</a:t>
                      </a:r>
                    </a:p>
                  </a:txBody>
                  <a:tcPr>
                    <a:solidFill>
                      <a:srgbClr val="0A1628"/>
                    </a:solidFill>
                  </a:tcPr>
                </a:tc>
                <a:tc>
                  <a:txBody>
                    <a:bodyPr lIns="73152" rIns="73152" tIns="36576" bIns="36576"/>
                    <a:lstStyle/>
                    <a:p>
                      <a:pPr algn="l"/>
                      <a:r>
                        <a:rPr sz="1100" b="1">
                          <a:solidFill>
                            <a:srgbClr val="FFFFFF"/>
                          </a:solidFill>
                          <a:latin typeface="Calibri"/>
                        </a:rPr>
                        <a:t>Pts</a:t>
                      </a:r>
                    </a:p>
                  </a:txBody>
                  <a:tcPr>
                    <a:solidFill>
                      <a:srgbClr val="0A1628"/>
                    </a:solidFill>
                  </a:tcPr>
                </a:tc>
              </a:tr>
              <a:tr h="377190">
                <a:tc>
                  <a:txBody>
                    <a:bodyPr lIns="73152" rIns="73152" tIns="36576" bIns="36576"/>
                    <a:lstStyle/>
                    <a:p>
                      <a:pPr algn="l"/>
                      <a:r>
                        <a:rPr sz="1100">
                          <a:solidFill>
                            <a:srgbClr val="1F2A3D"/>
                          </a:solidFill>
                          <a:latin typeface="Calibri"/>
                        </a:rPr>
                        <a:t>US1.1</a:t>
                      </a:r>
                    </a:p>
                  </a:txBody>
                  <a:tcPr>
                    <a:solidFill>
                      <a:srgbClr val="FFFFFF"/>
                    </a:solidFill>
                  </a:tcPr>
                </a:tc>
                <a:tc>
                  <a:txBody>
                    <a:bodyPr lIns="73152" rIns="73152" tIns="36576" bIns="36576"/>
                    <a:lstStyle/>
                    <a:p>
                      <a:pPr algn="l"/>
                      <a:r>
                        <a:rPr sz="1100">
                          <a:solidFill>
                            <a:srgbClr val="1F2A3D"/>
                          </a:solidFill>
                          <a:latin typeface="Calibri"/>
                        </a:rPr>
                        <a:t>Créer un compte</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77190">
                <a:tc>
                  <a:txBody>
                    <a:bodyPr lIns="73152" rIns="73152" tIns="36576" bIns="36576"/>
                    <a:lstStyle/>
                    <a:p>
                      <a:pPr algn="l"/>
                      <a:r>
                        <a:rPr sz="1100">
                          <a:solidFill>
                            <a:srgbClr val="1F2A3D"/>
                          </a:solidFill>
                          <a:latin typeface="Calibri"/>
                        </a:rPr>
                        <a:t>US1.2</a:t>
                      </a:r>
                    </a:p>
                  </a:txBody>
                  <a:tcPr>
                    <a:solidFill>
                      <a:srgbClr val="F3F4F6"/>
                    </a:solidFill>
                  </a:tcPr>
                </a:tc>
                <a:tc>
                  <a:txBody>
                    <a:bodyPr lIns="73152" rIns="73152" tIns="36576" bIns="36576"/>
                    <a:lstStyle/>
                    <a:p>
                      <a:pPr algn="l"/>
                      <a:r>
                        <a:rPr sz="1100">
                          <a:solidFill>
                            <a:srgbClr val="1F2A3D"/>
                          </a:solidFill>
                          <a:latin typeface="Calibri"/>
                        </a:rPr>
                        <a:t>Se connecter avec email + mot de passe</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r h="377190">
                <a:tc>
                  <a:txBody>
                    <a:bodyPr lIns="73152" rIns="73152" tIns="36576" bIns="36576"/>
                    <a:lstStyle/>
                    <a:p>
                      <a:pPr algn="l"/>
                      <a:r>
                        <a:rPr sz="1100">
                          <a:solidFill>
                            <a:srgbClr val="1F2A3D"/>
                          </a:solidFill>
                          <a:latin typeface="Calibri"/>
                        </a:rPr>
                        <a:t>US1.3</a:t>
                      </a:r>
                    </a:p>
                  </a:txBody>
                  <a:tcPr>
                    <a:solidFill>
                      <a:srgbClr val="FFFFFF"/>
                    </a:solidFill>
                  </a:tcPr>
                </a:tc>
                <a:tc>
                  <a:txBody>
                    <a:bodyPr lIns="73152" rIns="73152" tIns="36576" bIns="36576"/>
                    <a:lstStyle/>
                    <a:p>
                      <a:pPr algn="l"/>
                      <a:r>
                        <a:rPr sz="1100">
                          <a:solidFill>
                            <a:srgbClr val="1F2A3D"/>
                          </a:solidFill>
                          <a:latin typeface="Calibri"/>
                        </a:rPr>
                        <a:t>Voir / modifier le profil</a:t>
                      </a:r>
                    </a:p>
                  </a:txBody>
                  <a:tcPr>
                    <a:solidFill>
                      <a:srgbClr val="FFFFFF"/>
                    </a:solidFill>
                  </a:tcPr>
                </a:tc>
                <a:tc>
                  <a:txBody>
                    <a:bodyPr lIns="73152" rIns="73152" tIns="36576" bIns="36576"/>
                    <a:lstStyle/>
                    <a:p>
                      <a:pPr algn="l"/>
                      <a:r>
                        <a:rPr sz="1100">
                          <a:solidFill>
                            <a:srgbClr val="1F2A3D"/>
                          </a:solidFill>
                          <a:latin typeface="Calibri"/>
                        </a:rPr>
                        <a:t>3</a:t>
                      </a:r>
                    </a:p>
                  </a:txBody>
                  <a:tcPr>
                    <a:solidFill>
                      <a:srgbClr val="FFFFFF"/>
                    </a:solidFill>
                  </a:tcPr>
                </a:tc>
              </a:tr>
              <a:tr h="377190">
                <a:tc>
                  <a:txBody>
                    <a:bodyPr lIns="73152" rIns="73152" tIns="36576" bIns="36576"/>
                    <a:lstStyle/>
                    <a:p>
                      <a:pPr algn="l"/>
                      <a:r>
                        <a:rPr sz="1100">
                          <a:solidFill>
                            <a:srgbClr val="1F2A3D"/>
                          </a:solidFill>
                          <a:latin typeface="Calibri"/>
                        </a:rPr>
                        <a:t>US1.4</a:t>
                      </a:r>
                    </a:p>
                  </a:txBody>
                  <a:tcPr>
                    <a:solidFill>
                      <a:srgbClr val="F3F4F6"/>
                    </a:solidFill>
                  </a:tcPr>
                </a:tc>
                <a:tc>
                  <a:txBody>
                    <a:bodyPr lIns="73152" rIns="73152" tIns="36576" bIns="36576"/>
                    <a:lstStyle/>
                    <a:p>
                      <a:pPr algn="l"/>
                      <a:r>
                        <a:rPr sz="1100">
                          <a:solidFill>
                            <a:srgbClr val="1F2A3D"/>
                          </a:solidFill>
                          <a:latin typeface="Calibri"/>
                        </a:rPr>
                        <a:t>Vérification étudiante par OTP universitaire</a:t>
                      </a:r>
                    </a:p>
                  </a:txBody>
                  <a:tcPr>
                    <a:solidFill>
                      <a:srgbClr val="F3F4F6"/>
                    </a:solidFill>
                  </a:tcPr>
                </a:tc>
                <a:tc>
                  <a:txBody>
                    <a:bodyPr lIns="73152" rIns="73152" tIns="36576" bIns="36576"/>
                    <a:lstStyle/>
                    <a:p>
                      <a:pPr algn="l"/>
                      <a:r>
                        <a:rPr sz="1100">
                          <a:solidFill>
                            <a:srgbClr val="1F2A3D"/>
                          </a:solidFill>
                          <a:latin typeface="Calibri"/>
                        </a:rPr>
                        <a:t>8</a:t>
                      </a:r>
                    </a:p>
                  </a:txBody>
                  <a:tcPr>
                    <a:solidFill>
                      <a:srgbClr val="F3F4F6"/>
                    </a:solidFill>
                  </a:tcPr>
                </a:tc>
              </a:tr>
              <a:tr h="377190">
                <a:tc>
                  <a:txBody>
                    <a:bodyPr lIns="73152" rIns="73152" tIns="36576" bIns="36576"/>
                    <a:lstStyle/>
                    <a:p>
                      <a:pPr algn="l"/>
                      <a:r>
                        <a:rPr sz="1100">
                          <a:solidFill>
                            <a:srgbClr val="1F2A3D"/>
                          </a:solidFill>
                          <a:latin typeface="Calibri"/>
                        </a:rPr>
                        <a:t>US1.5</a:t>
                      </a:r>
                    </a:p>
                  </a:txBody>
                  <a:tcPr>
                    <a:solidFill>
                      <a:srgbClr val="FFFFFF"/>
                    </a:solidFill>
                  </a:tcPr>
                </a:tc>
                <a:tc>
                  <a:txBody>
                    <a:bodyPr lIns="73152" rIns="73152" tIns="36576" bIns="36576"/>
                    <a:lstStyle/>
                    <a:p>
                      <a:pPr algn="l"/>
                      <a:r>
                        <a:rPr sz="1100">
                          <a:solidFill>
                            <a:srgbClr val="1F2A3D"/>
                          </a:solidFill>
                          <a:latin typeface="Calibri"/>
                        </a:rPr>
                        <a:t>Postuler comme conducteur (permis + véhicule)</a:t>
                      </a:r>
                    </a:p>
                  </a:txBody>
                  <a:tcPr>
                    <a:solidFill>
                      <a:srgbClr val="FFFFFF"/>
                    </a:solidFill>
                  </a:tcPr>
                </a:tc>
                <a:tc>
                  <a:txBody>
                    <a:bodyPr lIns="73152" rIns="73152" tIns="36576" bIns="36576"/>
                    <a:lstStyle/>
                    <a:p>
                      <a:pPr algn="l"/>
                      <a:r>
                        <a:rPr sz="1100">
                          <a:solidFill>
                            <a:srgbClr val="1F2A3D"/>
                          </a:solidFill>
                          <a:latin typeface="Calibri"/>
                        </a:rPr>
                        <a:t>8</a:t>
                      </a:r>
                    </a:p>
                  </a:txBody>
                  <a:tcPr>
                    <a:solidFill>
                      <a:srgbClr val="FFFFFF"/>
                    </a:solidFill>
                  </a:tcPr>
                </a:tc>
              </a:tr>
              <a:tr h="377190">
                <a:tc>
                  <a:txBody>
                    <a:bodyPr lIns="73152" rIns="73152" tIns="36576" bIns="36576"/>
                    <a:lstStyle/>
                    <a:p>
                      <a:pPr algn="l"/>
                      <a:r>
                        <a:rPr sz="1100">
                          <a:solidFill>
                            <a:srgbClr val="1F2A3D"/>
                          </a:solidFill>
                          <a:latin typeface="Calibri"/>
                        </a:rPr>
                        <a:t>US1.6</a:t>
                      </a:r>
                    </a:p>
                  </a:txBody>
                  <a:tcPr>
                    <a:solidFill>
                      <a:srgbClr val="F3F4F6"/>
                    </a:solidFill>
                  </a:tcPr>
                </a:tc>
                <a:tc>
                  <a:txBody>
                    <a:bodyPr lIns="73152" rIns="73152" tIns="36576" bIns="36576"/>
                    <a:lstStyle/>
                    <a:p>
                      <a:pPr algn="l"/>
                      <a:r>
                        <a:rPr sz="1100">
                          <a:solidFill>
                            <a:srgbClr val="1F2A3D"/>
                          </a:solidFill>
                          <a:latin typeface="Calibri"/>
                        </a:rPr>
                        <a:t>L'admin examine les candidatures conducteur</a:t>
                      </a:r>
                    </a:p>
                  </a:txBody>
                  <a:tcPr>
                    <a:solidFill>
                      <a:srgbClr val="F3F4F6"/>
                    </a:solidFill>
                  </a:tcPr>
                </a:tc>
                <a:tc>
                  <a:txBody>
                    <a:bodyPr lIns="73152" rIns="73152" tIns="36576" bIns="36576"/>
                    <a:lstStyle/>
                    <a:p>
                      <a:pPr algn="l"/>
                      <a:r>
                        <a:rPr sz="1100">
                          <a:solidFill>
                            <a:srgbClr val="1F2A3D"/>
                          </a:solidFill>
                          <a:latin typeface="Calibri"/>
                        </a:rPr>
                        <a:t>5</a:t>
                      </a:r>
                    </a:p>
                  </a:txBody>
                  <a:tcPr>
                    <a:solidFill>
                      <a:srgbClr val="F3F4F6"/>
                    </a:solidFill>
                  </a:tcPr>
                </a:tc>
              </a:tr>
              <a:tr h="377190">
                <a:tc>
                  <a:txBody>
                    <a:bodyPr lIns="73152" rIns="73152" tIns="36576" bIns="36576"/>
                    <a:lstStyle/>
                    <a:p>
                      <a:pPr algn="l"/>
                      <a:r>
                        <a:rPr sz="1100">
                          <a:solidFill>
                            <a:srgbClr val="1F2A3D"/>
                          </a:solidFill>
                          <a:latin typeface="Calibri"/>
                        </a:rPr>
                        <a:t>US1.7</a:t>
                      </a:r>
                    </a:p>
                  </a:txBody>
                  <a:tcPr>
                    <a:solidFill>
                      <a:srgbClr val="FFFFFF"/>
                    </a:solidFill>
                  </a:tcPr>
                </a:tc>
                <a:tc>
                  <a:txBody>
                    <a:bodyPr lIns="73152" rIns="73152" tIns="36576" bIns="36576"/>
                    <a:lstStyle/>
                    <a:p>
                      <a:pPr algn="l"/>
                      <a:r>
                        <a:rPr sz="1100">
                          <a:solidFill>
                            <a:srgbClr val="1F2A3D"/>
                          </a:solidFill>
                          <a:latin typeface="Calibri"/>
                        </a:rPr>
                        <a:t>L'admin gère les domaines universitaires</a:t>
                      </a:r>
                    </a:p>
                  </a:txBody>
                  <a:tcPr>
                    <a:solidFill>
                      <a:srgbClr val="FFFFFF"/>
                    </a:solidFill>
                  </a:tcPr>
                </a:tc>
                <a:tc>
                  <a:txBody>
                    <a:bodyPr lIns="73152" rIns="73152" tIns="36576" bIns="36576"/>
                    <a:lstStyle/>
                    <a:p>
                      <a:pPr algn="l"/>
                      <a:r>
                        <a:rPr sz="1100">
                          <a:solidFill>
                            <a:srgbClr val="1F2A3D"/>
                          </a:solidFill>
                          <a:latin typeface="Calibri"/>
                        </a:rPr>
                        <a:t>3</a:t>
                      </a:r>
                    </a:p>
                  </a:txBody>
                  <a:tcPr>
                    <a:solidFill>
                      <a:srgbClr val="FFFFFF"/>
                    </a:solidFill>
                  </a:tcPr>
                </a:tc>
              </a:tr>
            </a:tbl>
          </a:graphicData>
        </a:graphic>
      </p:graphicFrame>
      <p:sp>
        <p:nvSpPr>
          <p:cNvPr id="10" name="TextBox 9"/>
          <p:cNvSpPr txBox="1"/>
          <p:nvPr/>
        </p:nvSpPr>
        <p:spPr>
          <a:xfrm>
            <a:off x="3383280" y="3977639"/>
            <a:ext cx="8229600" cy="365760"/>
          </a:xfrm>
          <a:prstGeom prst="rect">
            <a:avLst/>
          </a:prstGeom>
          <a:noFill/>
        </p:spPr>
        <p:txBody>
          <a:bodyPr wrap="square" anchor="t" lIns="45720" rIns="45720" tIns="18288" bIns="18288">
            <a:spAutoFit/>
          </a:bodyPr>
          <a:lstStyle/>
          <a:p>
            <a:pPr algn="l"/>
            <a:r>
              <a:rPr sz="1400" b="1">
                <a:solidFill>
                  <a:srgbClr val="0A1628"/>
                </a:solidFill>
                <a:latin typeface="Calibri"/>
              </a:rPr>
              <a:t>Livrables</a:t>
            </a:r>
          </a:p>
        </p:txBody>
      </p:sp>
      <p:sp>
        <p:nvSpPr>
          <p:cNvPr id="11" name="TextBox 10"/>
          <p:cNvSpPr txBox="1"/>
          <p:nvPr/>
        </p:nvSpPr>
        <p:spPr>
          <a:xfrm>
            <a:off x="3383280" y="4343400"/>
            <a:ext cx="8503920" cy="2103120"/>
          </a:xfrm>
          <a:prstGeom prst="rect">
            <a:avLst/>
          </a:prstGeom>
          <a:noFill/>
        </p:spPr>
        <p:txBody>
          <a:bodyPr wrap="square" lIns="45720">
            <a:spAutoFit/>
          </a:bodyPr>
          <a:lstStyle/>
          <a:p>
            <a:pPr algn="l">
              <a:lnSpc>
                <a:spcPct val="115000"/>
              </a:lnSpc>
              <a:spcAft>
                <a:spcPts val="400"/>
              </a:spcAft>
            </a:pPr>
            <a:r>
              <a:rPr sz="1200" b="1">
                <a:solidFill>
                  <a:srgbClr val="D4A43A"/>
                </a:solidFill>
                <a:latin typeface="Calibri"/>
              </a:rPr>
              <a:t>▸  </a:t>
            </a:r>
            <a:r>
              <a:rPr sz="1200">
                <a:solidFill>
                  <a:srgbClr val="1F2A3D"/>
                </a:solidFill>
                <a:latin typeface="Calibri"/>
              </a:rPr>
              <a:t>Flux OTP en libre-service (code 10 min, 5 tentatives max, 30 s entre envois).</a:t>
            </a:r>
          </a:p>
          <a:p>
            <a:pPr algn="l">
              <a:lnSpc>
                <a:spcPct val="115000"/>
              </a:lnSpc>
              <a:spcAft>
                <a:spcPts val="400"/>
              </a:spcAft>
            </a:pPr>
            <a:r>
              <a:rPr sz="1200" b="1">
                <a:solidFill>
                  <a:srgbClr val="D4A43A"/>
                </a:solidFill>
                <a:latin typeface="Calibri"/>
              </a:rPr>
              <a:t>▸  </a:t>
            </a:r>
            <a:r>
              <a:rPr sz="1200">
                <a:solidFill>
                  <a:srgbClr val="1F2A3D"/>
                </a:solidFill>
                <a:latin typeface="Calibri"/>
              </a:rPr>
              <a:t>À l'approbation, création automatique de DriverProfile + Véhicule.</a:t>
            </a:r>
          </a:p>
          <a:p>
            <a:pPr algn="l">
              <a:lnSpc>
                <a:spcPct val="115000"/>
              </a:lnSpc>
              <a:spcAft>
                <a:spcPts val="400"/>
              </a:spcAft>
            </a:pPr>
            <a:r>
              <a:rPr sz="1200" b="1">
                <a:solidFill>
                  <a:srgbClr val="D4A43A"/>
                </a:solidFill>
                <a:latin typeface="Calibri"/>
              </a:rPr>
              <a:t>▸  </a:t>
            </a:r>
            <a:r>
              <a:rPr sz="1200">
                <a:solidFill>
                  <a:srgbClr val="1F2A3D"/>
                </a:solidFill>
                <a:latin typeface="Calibri"/>
              </a:rPr>
              <a:t>Entrée dans le journal d'audit à chaque vérification.</a:t>
            </a:r>
          </a:p>
        </p:txBody>
      </p:sp>
      <p:sp>
        <p:nvSpPr>
          <p:cNvPr id="12" name="Rectangle 11"/>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4" name="TextBox 13"/>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0"/>
            <a:ext cx="2377440" cy="457200"/>
          </a:xfrm>
          <a:prstGeom prst="rect">
            <a:avLst/>
          </a:prstGeom>
          <a:noFill/>
        </p:spPr>
        <p:txBody>
          <a:bodyPr wrap="square" anchor="t" lIns="45720" rIns="45720" tIns="18288" bIns="18288">
            <a:spAutoFit/>
          </a:bodyPr>
          <a:lstStyle/>
          <a:p>
            <a:pPr algn="l"/>
            <a:r>
              <a:rPr sz="1400" b="1">
                <a:solidFill>
                  <a:srgbClr val="E8B84B"/>
                </a:solidFill>
                <a:latin typeface="Calibri"/>
              </a:rPr>
              <a:t>SPRINT 2</a:t>
            </a:r>
          </a:p>
        </p:txBody>
      </p:sp>
      <p:sp>
        <p:nvSpPr>
          <p:cNvPr id="5" name="TextBox 4"/>
          <p:cNvSpPr txBox="1"/>
          <p:nvPr/>
        </p:nvSpPr>
        <p:spPr>
          <a:xfrm>
            <a:off x="365760" y="914400"/>
            <a:ext cx="2377440" cy="1828800"/>
          </a:xfrm>
          <a:prstGeom prst="rect">
            <a:avLst/>
          </a:prstGeom>
          <a:noFill/>
        </p:spPr>
        <p:txBody>
          <a:bodyPr wrap="square" anchor="t" lIns="45720" rIns="45720" tIns="18288" bIns="18288">
            <a:spAutoFit/>
          </a:bodyPr>
          <a:lstStyle/>
          <a:p>
            <a:pPr algn="l"/>
            <a:r>
              <a:rPr sz="2800" b="1">
                <a:solidFill>
                  <a:srgbClr val="FFFFFF"/>
                </a:solidFill>
                <a:latin typeface="Calibri"/>
              </a:rPr>
              <a:t>Trajets &amp; Réservations</a:t>
            </a:r>
          </a:p>
        </p:txBody>
      </p:sp>
      <p:sp>
        <p:nvSpPr>
          <p:cNvPr id="6" name="TextBox 5"/>
          <p:cNvSpPr txBox="1"/>
          <p:nvPr/>
        </p:nvSpPr>
        <p:spPr>
          <a:xfrm>
            <a:off x="365760" y="3108960"/>
            <a:ext cx="2377440" cy="365760"/>
          </a:xfrm>
          <a:prstGeom prst="rect">
            <a:avLst/>
          </a:prstGeom>
          <a:noFill/>
        </p:spPr>
        <p:txBody>
          <a:bodyPr wrap="square" anchor="t" lIns="45720" rIns="45720" tIns="18288" bIns="18288">
            <a:spAutoFit/>
          </a:bodyPr>
          <a:lstStyle/>
          <a:p>
            <a:pPr algn="l"/>
            <a:r>
              <a:rPr sz="1100" b="1">
                <a:solidFill>
                  <a:srgbClr val="E8B84B"/>
                </a:solidFill>
                <a:latin typeface="Calibri"/>
              </a:rPr>
              <a:t>OBJECTIF</a:t>
            </a:r>
          </a:p>
        </p:txBody>
      </p:sp>
      <p:sp>
        <p:nvSpPr>
          <p:cNvPr id="7" name="TextBox 6"/>
          <p:cNvSpPr txBox="1"/>
          <p:nvPr/>
        </p:nvSpPr>
        <p:spPr>
          <a:xfrm>
            <a:off x="365760" y="3383280"/>
            <a:ext cx="2468880" cy="1828800"/>
          </a:xfrm>
          <a:prstGeom prst="rect">
            <a:avLst/>
          </a:prstGeom>
          <a:noFill/>
        </p:spPr>
        <p:txBody>
          <a:bodyPr wrap="square" anchor="t" lIns="45720" rIns="45720" tIns="18288" bIns="18288">
            <a:spAutoFit/>
          </a:bodyPr>
          <a:lstStyle/>
          <a:p>
            <a:pPr algn="l"/>
            <a:r>
              <a:rPr sz="1200" b="0">
                <a:solidFill>
                  <a:srgbClr val="FFFFFF"/>
                </a:solidFill>
                <a:latin typeface="Calibri"/>
              </a:rPr>
              <a:t>Un conducteur publie un trajet. Un passager cherche, filtre, réserve avec un acompte de 50 %.</a:t>
            </a:r>
          </a:p>
        </p:txBody>
      </p:sp>
      <p:sp>
        <p:nvSpPr>
          <p:cNvPr id="8" name="TextBox 7"/>
          <p:cNvSpPr txBox="1"/>
          <p:nvPr/>
        </p:nvSpPr>
        <p:spPr>
          <a:xfrm>
            <a:off x="3383280" y="365760"/>
            <a:ext cx="8229600" cy="457200"/>
          </a:xfrm>
          <a:prstGeom prst="rect">
            <a:avLst/>
          </a:prstGeom>
          <a:noFill/>
        </p:spPr>
        <p:txBody>
          <a:bodyPr wrap="square" anchor="t" lIns="45720" rIns="45720" tIns="18288" bIns="18288">
            <a:spAutoFit/>
          </a:bodyPr>
          <a:lstStyle/>
          <a:p>
            <a:pPr algn="l"/>
            <a:r>
              <a:rPr sz="1400" b="1">
                <a:solidFill>
                  <a:srgbClr val="0A1628"/>
                </a:solidFill>
                <a:latin typeface="Calibri"/>
              </a:rPr>
              <a:t>Backlog du sprint (extrait)</a:t>
            </a:r>
          </a:p>
        </p:txBody>
      </p:sp>
      <p:graphicFrame>
        <p:nvGraphicFramePr>
          <p:cNvPr id="9" name="Table 8"/>
          <p:cNvGraphicFramePr>
            <a:graphicFrameLocks noGrp="1"/>
          </p:cNvGraphicFramePr>
          <p:nvPr/>
        </p:nvGraphicFramePr>
        <p:xfrm>
          <a:off x="3383280" y="777240"/>
          <a:ext cx="8503920" cy="3017520"/>
        </p:xfrm>
        <a:graphic>
          <a:graphicData uri="http://schemas.openxmlformats.org/drawingml/2006/table">
            <a:tbl>
              <a:tblPr firstRow="1" bandRow="1">
                <a:tableStyleId>{5C22544A-7EE6-4342-B048-85BDC9FD1C3A}</a:tableStyleId>
              </a:tblPr>
              <a:tblGrid>
                <a:gridCol w="2834640"/>
                <a:gridCol w="2834640"/>
                <a:gridCol w="2834640"/>
              </a:tblGrid>
              <a:tr h="335280">
                <a:tc>
                  <a:txBody>
                    <a:bodyPr lIns="73152" rIns="73152" tIns="36576" bIns="36576"/>
                    <a:lstStyle/>
                    <a:p>
                      <a:pPr algn="l"/>
                      <a:r>
                        <a:rPr sz="1100" b="1">
                          <a:solidFill>
                            <a:srgbClr val="FFFFFF"/>
                          </a:solidFill>
                          <a:latin typeface="Calibri"/>
                        </a:rPr>
                        <a:t>#</a:t>
                      </a:r>
                    </a:p>
                  </a:txBody>
                  <a:tcPr>
                    <a:solidFill>
                      <a:srgbClr val="0A1628"/>
                    </a:solidFill>
                  </a:tcPr>
                </a:tc>
                <a:tc>
                  <a:txBody>
                    <a:bodyPr lIns="73152" rIns="73152" tIns="36576" bIns="36576"/>
                    <a:lstStyle/>
                    <a:p>
                      <a:pPr algn="l"/>
                      <a:r>
                        <a:rPr sz="1100" b="1">
                          <a:solidFill>
                            <a:srgbClr val="FFFFFF"/>
                          </a:solidFill>
                          <a:latin typeface="Calibri"/>
                        </a:rPr>
                        <a:t>User story</a:t>
                      </a:r>
                    </a:p>
                  </a:txBody>
                  <a:tcPr>
                    <a:solidFill>
                      <a:srgbClr val="0A1628"/>
                    </a:solidFill>
                  </a:tcPr>
                </a:tc>
                <a:tc>
                  <a:txBody>
                    <a:bodyPr lIns="73152" rIns="73152" tIns="36576" bIns="36576"/>
                    <a:lstStyle/>
                    <a:p>
                      <a:pPr algn="l"/>
                      <a:r>
                        <a:rPr sz="1100" b="1">
                          <a:solidFill>
                            <a:srgbClr val="FFFFFF"/>
                          </a:solidFill>
                          <a:latin typeface="Calibri"/>
                        </a:rPr>
                        <a:t>Pts</a:t>
                      </a:r>
                    </a:p>
                  </a:txBody>
                  <a:tcPr>
                    <a:solidFill>
                      <a:srgbClr val="0A1628"/>
                    </a:solidFill>
                  </a:tcPr>
                </a:tc>
              </a:tr>
              <a:tr h="335280">
                <a:tc>
                  <a:txBody>
                    <a:bodyPr lIns="73152" rIns="73152" tIns="36576" bIns="36576"/>
                    <a:lstStyle/>
                    <a:p>
                      <a:pPr algn="l"/>
                      <a:r>
                        <a:rPr sz="1100">
                          <a:solidFill>
                            <a:srgbClr val="1F2A3D"/>
                          </a:solidFill>
                          <a:latin typeface="Calibri"/>
                        </a:rPr>
                        <a:t>US2.1</a:t>
                      </a:r>
                    </a:p>
                  </a:txBody>
                  <a:tcPr>
                    <a:solidFill>
                      <a:srgbClr val="FFFFFF"/>
                    </a:solidFill>
                  </a:tcPr>
                </a:tc>
                <a:tc>
                  <a:txBody>
                    <a:bodyPr lIns="73152" rIns="73152" tIns="36576" bIns="36576"/>
                    <a:lstStyle/>
                    <a:p>
                      <a:pPr algn="l"/>
                      <a:r>
                        <a:rPr sz="1100">
                          <a:solidFill>
                            <a:srgbClr val="1F2A3D"/>
                          </a:solidFill>
                          <a:latin typeface="Calibri"/>
                        </a:rPr>
                        <a:t>Publier un trajet (origine, destination, date, prix, places)</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US2.2</a:t>
                      </a:r>
                    </a:p>
                  </a:txBody>
                  <a:tcPr>
                    <a:solidFill>
                      <a:srgbClr val="F3F4F6"/>
                    </a:solidFill>
                  </a:tcPr>
                </a:tc>
                <a:tc>
                  <a:txBody>
                    <a:bodyPr lIns="73152" rIns="73152" tIns="36576" bIns="36576"/>
                    <a:lstStyle/>
                    <a:p>
                      <a:pPr algn="l"/>
                      <a:r>
                        <a:rPr sz="1100">
                          <a:solidFill>
                            <a:srgbClr val="1F2A3D"/>
                          </a:solidFill>
                          <a:latin typeface="Calibri"/>
                        </a:rPr>
                        <a:t>Modifier ou annuler un trajet</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r h="335280">
                <a:tc>
                  <a:txBody>
                    <a:bodyPr lIns="73152" rIns="73152" tIns="36576" bIns="36576"/>
                    <a:lstStyle/>
                    <a:p>
                      <a:pPr algn="l"/>
                      <a:r>
                        <a:rPr sz="1100">
                          <a:solidFill>
                            <a:srgbClr val="1F2A3D"/>
                          </a:solidFill>
                          <a:latin typeface="Calibri"/>
                        </a:rPr>
                        <a:t>US2.3</a:t>
                      </a:r>
                    </a:p>
                  </a:txBody>
                  <a:tcPr>
                    <a:solidFill>
                      <a:srgbClr val="FFFFFF"/>
                    </a:solidFill>
                  </a:tcPr>
                </a:tc>
                <a:tc>
                  <a:txBody>
                    <a:bodyPr lIns="73152" rIns="73152" tIns="36576" bIns="36576"/>
                    <a:lstStyle/>
                    <a:p>
                      <a:pPr algn="l"/>
                      <a:r>
                        <a:rPr sz="1100">
                          <a:solidFill>
                            <a:srgbClr val="1F2A3D"/>
                          </a:solidFill>
                          <a:latin typeface="Calibri"/>
                        </a:rPr>
                        <a:t>Rechercher des trajets par origine / destination / date</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US2.4</a:t>
                      </a:r>
                    </a:p>
                  </a:txBody>
                  <a:tcPr>
                    <a:solidFill>
                      <a:srgbClr val="F3F4F6"/>
                    </a:solidFill>
                  </a:tcPr>
                </a:tc>
                <a:tc>
                  <a:txBody>
                    <a:bodyPr lIns="73152" rIns="73152" tIns="36576" bIns="36576"/>
                    <a:lstStyle/>
                    <a:p>
                      <a:pPr algn="l"/>
                      <a:r>
                        <a:rPr sz="1100">
                          <a:solidFill>
                            <a:srgbClr val="1F2A3D"/>
                          </a:solidFill>
                          <a:latin typeface="Calibri"/>
                        </a:rPr>
                        <a:t>Filtrer par prix, heure de départ, note du conducteur</a:t>
                      </a:r>
                    </a:p>
                  </a:txBody>
                  <a:tcPr>
                    <a:solidFill>
                      <a:srgbClr val="F3F4F6"/>
                    </a:solidFill>
                  </a:tcPr>
                </a:tc>
                <a:tc>
                  <a:txBody>
                    <a:bodyPr lIns="73152" rIns="73152" tIns="36576" bIns="36576"/>
                    <a:lstStyle/>
                    <a:p>
                      <a:pPr algn="l"/>
                      <a:r>
                        <a:rPr sz="1100">
                          <a:solidFill>
                            <a:srgbClr val="1F2A3D"/>
                          </a:solidFill>
                          <a:latin typeface="Calibri"/>
                        </a:rPr>
                        <a:t>5</a:t>
                      </a:r>
                    </a:p>
                  </a:txBody>
                  <a:tcPr>
                    <a:solidFill>
                      <a:srgbClr val="F3F4F6"/>
                    </a:solidFill>
                  </a:tcPr>
                </a:tc>
              </a:tr>
              <a:tr h="335280">
                <a:tc>
                  <a:txBody>
                    <a:bodyPr lIns="73152" rIns="73152" tIns="36576" bIns="36576"/>
                    <a:lstStyle/>
                    <a:p>
                      <a:pPr algn="l"/>
                      <a:r>
                        <a:rPr sz="1100">
                          <a:solidFill>
                            <a:srgbClr val="1F2A3D"/>
                          </a:solidFill>
                          <a:latin typeface="Calibri"/>
                        </a:rPr>
                        <a:t>US2.5</a:t>
                      </a:r>
                    </a:p>
                  </a:txBody>
                  <a:tcPr>
                    <a:solidFill>
                      <a:srgbClr val="FFFFFF"/>
                    </a:solidFill>
                  </a:tcPr>
                </a:tc>
                <a:tc>
                  <a:txBody>
                    <a:bodyPr lIns="73152" rIns="73152" tIns="36576" bIns="36576"/>
                    <a:lstStyle/>
                    <a:p>
                      <a:pPr algn="l"/>
                      <a:r>
                        <a:rPr sz="1100">
                          <a:solidFill>
                            <a:srgbClr val="1F2A3D"/>
                          </a:solidFill>
                          <a:latin typeface="Calibri"/>
                        </a:rPr>
                        <a:t>Voir le détail du trajet et le profil du conducteur</a:t>
                      </a:r>
                    </a:p>
                  </a:txBody>
                  <a:tcPr>
                    <a:solidFill>
                      <a:srgbClr val="FFFFFF"/>
                    </a:solidFill>
                  </a:tcPr>
                </a:tc>
                <a:tc>
                  <a:txBody>
                    <a:bodyPr lIns="73152" rIns="73152" tIns="36576" bIns="36576"/>
                    <a:lstStyle/>
                    <a:p>
                      <a:pPr algn="l"/>
                      <a:r>
                        <a:rPr sz="1100">
                          <a:solidFill>
                            <a:srgbClr val="1F2A3D"/>
                          </a:solidFill>
                          <a:latin typeface="Calibri"/>
                        </a:rPr>
                        <a:t>3</a:t>
                      </a:r>
                    </a:p>
                  </a:txBody>
                  <a:tcPr>
                    <a:solidFill>
                      <a:srgbClr val="FFFFFF"/>
                    </a:solidFill>
                  </a:tcPr>
                </a:tc>
              </a:tr>
              <a:tr h="335280">
                <a:tc>
                  <a:txBody>
                    <a:bodyPr lIns="73152" rIns="73152" tIns="36576" bIns="36576"/>
                    <a:lstStyle/>
                    <a:p>
                      <a:pPr algn="l"/>
                      <a:r>
                        <a:rPr sz="1100">
                          <a:solidFill>
                            <a:srgbClr val="1F2A3D"/>
                          </a:solidFill>
                          <a:latin typeface="Calibri"/>
                        </a:rPr>
                        <a:t>US2.6</a:t>
                      </a:r>
                    </a:p>
                  </a:txBody>
                  <a:tcPr>
                    <a:solidFill>
                      <a:srgbClr val="F3F4F6"/>
                    </a:solidFill>
                  </a:tcPr>
                </a:tc>
                <a:tc>
                  <a:txBody>
                    <a:bodyPr lIns="73152" rIns="73152" tIns="36576" bIns="36576"/>
                    <a:lstStyle/>
                    <a:p>
                      <a:pPr algn="l"/>
                      <a:r>
                        <a:rPr sz="1100">
                          <a:solidFill>
                            <a:srgbClr val="1F2A3D"/>
                          </a:solidFill>
                          <a:latin typeface="Calibri"/>
                        </a:rPr>
                        <a:t>Réserver des places avec acompte de 50 %</a:t>
                      </a:r>
                    </a:p>
                  </a:txBody>
                  <a:tcPr>
                    <a:solidFill>
                      <a:srgbClr val="F3F4F6"/>
                    </a:solidFill>
                  </a:tcPr>
                </a:tc>
                <a:tc>
                  <a:txBody>
                    <a:bodyPr lIns="73152" rIns="73152" tIns="36576" bIns="36576"/>
                    <a:lstStyle/>
                    <a:p>
                      <a:pPr algn="l"/>
                      <a:r>
                        <a:rPr sz="1100">
                          <a:solidFill>
                            <a:srgbClr val="1F2A3D"/>
                          </a:solidFill>
                          <a:latin typeface="Calibri"/>
                        </a:rPr>
                        <a:t>8</a:t>
                      </a:r>
                    </a:p>
                  </a:txBody>
                  <a:tcPr>
                    <a:solidFill>
                      <a:srgbClr val="F3F4F6"/>
                    </a:solidFill>
                  </a:tcPr>
                </a:tc>
              </a:tr>
              <a:tr h="335280">
                <a:tc>
                  <a:txBody>
                    <a:bodyPr lIns="73152" rIns="73152" tIns="36576" bIns="36576"/>
                    <a:lstStyle/>
                    <a:p>
                      <a:pPr algn="l"/>
                      <a:r>
                        <a:rPr sz="1100">
                          <a:solidFill>
                            <a:srgbClr val="1F2A3D"/>
                          </a:solidFill>
                          <a:latin typeface="Calibri"/>
                        </a:rPr>
                        <a:t>US2.7</a:t>
                      </a:r>
                    </a:p>
                  </a:txBody>
                  <a:tcPr>
                    <a:solidFill>
                      <a:srgbClr val="FFFFFF"/>
                    </a:solidFill>
                  </a:tcPr>
                </a:tc>
                <a:tc>
                  <a:txBody>
                    <a:bodyPr lIns="73152" rIns="73152" tIns="36576" bIns="36576"/>
                    <a:lstStyle/>
                    <a:p>
                      <a:pPr algn="l"/>
                      <a:r>
                        <a:rPr sz="1100">
                          <a:solidFill>
                            <a:srgbClr val="1F2A3D"/>
                          </a:solidFill>
                          <a:latin typeface="Calibri"/>
                        </a:rPr>
                        <a:t>Réservation de groupe pour des amis</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US2.8</a:t>
                      </a:r>
                    </a:p>
                  </a:txBody>
                  <a:tcPr>
                    <a:solidFill>
                      <a:srgbClr val="F3F4F6"/>
                    </a:solidFill>
                  </a:tcPr>
                </a:tc>
                <a:tc>
                  <a:txBody>
                    <a:bodyPr lIns="73152" rIns="73152" tIns="36576" bIns="36576"/>
                    <a:lstStyle/>
                    <a:p>
                      <a:pPr algn="l"/>
                      <a:r>
                        <a:rPr sz="1100">
                          <a:solidFill>
                            <a:srgbClr val="1F2A3D"/>
                          </a:solidFill>
                          <a:latin typeface="Calibri"/>
                        </a:rPr>
                        <a:t>Le conducteur accepte / refuse les demandes</a:t>
                      </a:r>
                    </a:p>
                  </a:txBody>
                  <a:tcPr>
                    <a:solidFill>
                      <a:srgbClr val="F3F4F6"/>
                    </a:solidFill>
                  </a:tcPr>
                </a:tc>
                <a:tc>
                  <a:txBody>
                    <a:bodyPr lIns="73152" rIns="73152" tIns="36576" bIns="36576"/>
                    <a:lstStyle/>
                    <a:p>
                      <a:pPr algn="l"/>
                      <a:r>
                        <a:rPr sz="1100">
                          <a:solidFill>
                            <a:srgbClr val="1F2A3D"/>
                          </a:solidFill>
                          <a:latin typeface="Calibri"/>
                        </a:rPr>
                        <a:t>5</a:t>
                      </a:r>
                    </a:p>
                  </a:txBody>
                  <a:tcPr>
                    <a:solidFill>
                      <a:srgbClr val="F3F4F6"/>
                    </a:solidFill>
                  </a:tcPr>
                </a:tc>
              </a:tr>
            </a:tbl>
          </a:graphicData>
        </a:graphic>
      </p:graphicFrame>
      <p:sp>
        <p:nvSpPr>
          <p:cNvPr id="10" name="TextBox 9"/>
          <p:cNvSpPr txBox="1"/>
          <p:nvPr/>
        </p:nvSpPr>
        <p:spPr>
          <a:xfrm>
            <a:off x="3383280" y="3977639"/>
            <a:ext cx="8229600" cy="365760"/>
          </a:xfrm>
          <a:prstGeom prst="rect">
            <a:avLst/>
          </a:prstGeom>
          <a:noFill/>
        </p:spPr>
        <p:txBody>
          <a:bodyPr wrap="square" anchor="t" lIns="45720" rIns="45720" tIns="18288" bIns="18288">
            <a:spAutoFit/>
          </a:bodyPr>
          <a:lstStyle/>
          <a:p>
            <a:pPr algn="l"/>
            <a:r>
              <a:rPr sz="1400" b="1">
                <a:solidFill>
                  <a:srgbClr val="0A1628"/>
                </a:solidFill>
                <a:latin typeface="Calibri"/>
              </a:rPr>
              <a:t>Livrables</a:t>
            </a:r>
          </a:p>
        </p:txBody>
      </p:sp>
      <p:sp>
        <p:nvSpPr>
          <p:cNvPr id="11" name="TextBox 10"/>
          <p:cNvSpPr txBox="1"/>
          <p:nvPr/>
        </p:nvSpPr>
        <p:spPr>
          <a:xfrm>
            <a:off x="3383280" y="4343400"/>
            <a:ext cx="8503920" cy="2103120"/>
          </a:xfrm>
          <a:prstGeom prst="rect">
            <a:avLst/>
          </a:prstGeom>
          <a:noFill/>
        </p:spPr>
        <p:txBody>
          <a:bodyPr wrap="square" lIns="45720">
            <a:spAutoFit/>
          </a:bodyPr>
          <a:lstStyle/>
          <a:p>
            <a:pPr algn="l">
              <a:lnSpc>
                <a:spcPct val="115000"/>
              </a:lnSpc>
              <a:spcAft>
                <a:spcPts val="400"/>
              </a:spcAft>
            </a:pPr>
            <a:r>
              <a:rPr sz="1200" b="1">
                <a:solidFill>
                  <a:srgbClr val="D4A43A"/>
                </a:solidFill>
                <a:latin typeface="Calibri"/>
              </a:rPr>
              <a:t>▸  </a:t>
            </a:r>
            <a:r>
              <a:rPr sz="1200">
                <a:solidFill>
                  <a:srgbClr val="1F2A3D"/>
                </a:solidFill>
                <a:latin typeface="Calibri"/>
              </a:rPr>
              <a:t>La réservation n'est créée qu'après succès de l'acompte — pas de réservation orpheline.</a:t>
            </a:r>
          </a:p>
          <a:p>
            <a:pPr algn="l">
              <a:lnSpc>
                <a:spcPct val="115000"/>
              </a:lnSpc>
              <a:spcAft>
                <a:spcPts val="400"/>
              </a:spcAft>
            </a:pPr>
            <a:r>
              <a:rPr sz="1200" b="1">
                <a:solidFill>
                  <a:srgbClr val="D4A43A"/>
                </a:solidFill>
                <a:latin typeface="Calibri"/>
              </a:rPr>
              <a:t>▸  </a:t>
            </a:r>
            <a:r>
              <a:rPr sz="1200">
                <a:solidFill>
                  <a:srgbClr val="1F2A3D"/>
                </a:solidFill>
                <a:latin typeface="Calibri"/>
              </a:rPr>
              <a:t>Index sur from_location, to_location et departure_time pour la recherche.</a:t>
            </a:r>
          </a:p>
          <a:p>
            <a:pPr algn="l">
              <a:lnSpc>
                <a:spcPct val="115000"/>
              </a:lnSpc>
              <a:spcAft>
                <a:spcPts val="400"/>
              </a:spcAft>
            </a:pPr>
            <a:r>
              <a:rPr sz="1200" b="1">
                <a:solidFill>
                  <a:srgbClr val="D4A43A"/>
                </a:solidFill>
                <a:latin typeface="Calibri"/>
              </a:rPr>
              <a:t>▸  </a:t>
            </a:r>
            <a:r>
              <a:rPr sz="1200">
                <a:solidFill>
                  <a:srgbClr val="1F2A3D"/>
                </a:solidFill>
                <a:latin typeface="Calibri"/>
              </a:rPr>
              <a:t>Le diagramme d'activité couvre la collecte cash en fin de trajet.</a:t>
            </a:r>
          </a:p>
        </p:txBody>
      </p:sp>
      <p:sp>
        <p:nvSpPr>
          <p:cNvPr id="12" name="Rectangle 11"/>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4" name="TextBox 13"/>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0"/>
            <a:ext cx="2377440" cy="457200"/>
          </a:xfrm>
          <a:prstGeom prst="rect">
            <a:avLst/>
          </a:prstGeom>
          <a:noFill/>
        </p:spPr>
        <p:txBody>
          <a:bodyPr wrap="square" anchor="t" lIns="45720" rIns="45720" tIns="18288" bIns="18288">
            <a:spAutoFit/>
          </a:bodyPr>
          <a:lstStyle/>
          <a:p>
            <a:pPr algn="l"/>
            <a:r>
              <a:rPr sz="1400" b="1">
                <a:solidFill>
                  <a:srgbClr val="E8B84B"/>
                </a:solidFill>
                <a:latin typeface="Calibri"/>
              </a:rPr>
              <a:t>SPRINT 3</a:t>
            </a:r>
          </a:p>
        </p:txBody>
      </p:sp>
      <p:sp>
        <p:nvSpPr>
          <p:cNvPr id="5" name="TextBox 4"/>
          <p:cNvSpPr txBox="1"/>
          <p:nvPr/>
        </p:nvSpPr>
        <p:spPr>
          <a:xfrm>
            <a:off x="365760" y="914400"/>
            <a:ext cx="2377440" cy="1828800"/>
          </a:xfrm>
          <a:prstGeom prst="rect">
            <a:avLst/>
          </a:prstGeom>
          <a:noFill/>
        </p:spPr>
        <p:txBody>
          <a:bodyPr wrap="square" anchor="t" lIns="45720" rIns="45720" tIns="18288" bIns="18288">
            <a:spAutoFit/>
          </a:bodyPr>
          <a:lstStyle/>
          <a:p>
            <a:pPr algn="l"/>
            <a:r>
              <a:rPr sz="2800" b="1">
                <a:solidFill>
                  <a:srgbClr val="FFFFFF"/>
                </a:solidFill>
                <a:latin typeface="Calibri"/>
              </a:rPr>
              <a:t>Paiements &amp; Intelligence</a:t>
            </a:r>
          </a:p>
        </p:txBody>
      </p:sp>
      <p:sp>
        <p:nvSpPr>
          <p:cNvPr id="6" name="TextBox 5"/>
          <p:cNvSpPr txBox="1"/>
          <p:nvPr/>
        </p:nvSpPr>
        <p:spPr>
          <a:xfrm>
            <a:off x="365760" y="3108960"/>
            <a:ext cx="2377440" cy="365760"/>
          </a:xfrm>
          <a:prstGeom prst="rect">
            <a:avLst/>
          </a:prstGeom>
          <a:noFill/>
        </p:spPr>
        <p:txBody>
          <a:bodyPr wrap="square" anchor="t" lIns="45720" rIns="45720" tIns="18288" bIns="18288">
            <a:spAutoFit/>
          </a:bodyPr>
          <a:lstStyle/>
          <a:p>
            <a:pPr algn="l"/>
            <a:r>
              <a:rPr sz="1100" b="1">
                <a:solidFill>
                  <a:srgbClr val="E8B84B"/>
                </a:solidFill>
                <a:latin typeface="Calibri"/>
              </a:rPr>
              <a:t>OBJECTIF</a:t>
            </a:r>
          </a:p>
        </p:txBody>
      </p:sp>
      <p:sp>
        <p:nvSpPr>
          <p:cNvPr id="7" name="TextBox 6"/>
          <p:cNvSpPr txBox="1"/>
          <p:nvPr/>
        </p:nvSpPr>
        <p:spPr>
          <a:xfrm>
            <a:off x="365760" y="3383280"/>
            <a:ext cx="2468880" cy="1828800"/>
          </a:xfrm>
          <a:prstGeom prst="rect">
            <a:avLst/>
          </a:prstGeom>
          <a:noFill/>
        </p:spPr>
        <p:txBody>
          <a:bodyPr wrap="square" anchor="t" lIns="45720" rIns="45720" tIns="18288" bIns="18288">
            <a:spAutoFit/>
          </a:bodyPr>
          <a:lstStyle/>
          <a:p>
            <a:pPr algn="l"/>
            <a:r>
              <a:rPr sz="1200" b="0">
                <a:solidFill>
                  <a:srgbClr val="FFFFFF"/>
                </a:solidFill>
                <a:latin typeface="Calibri"/>
              </a:rPr>
              <a:t>Portefeuille, codes promo, mise en avant de trajets, tableau de bord conducteur, score de compatibilité.</a:t>
            </a:r>
          </a:p>
        </p:txBody>
      </p:sp>
      <p:sp>
        <p:nvSpPr>
          <p:cNvPr id="8" name="TextBox 7"/>
          <p:cNvSpPr txBox="1"/>
          <p:nvPr/>
        </p:nvSpPr>
        <p:spPr>
          <a:xfrm>
            <a:off x="3383280" y="365760"/>
            <a:ext cx="8229600" cy="457200"/>
          </a:xfrm>
          <a:prstGeom prst="rect">
            <a:avLst/>
          </a:prstGeom>
          <a:noFill/>
        </p:spPr>
        <p:txBody>
          <a:bodyPr wrap="square" anchor="t" lIns="45720" rIns="45720" tIns="18288" bIns="18288">
            <a:spAutoFit/>
          </a:bodyPr>
          <a:lstStyle/>
          <a:p>
            <a:pPr algn="l"/>
            <a:r>
              <a:rPr sz="1400" b="1">
                <a:solidFill>
                  <a:srgbClr val="0A1628"/>
                </a:solidFill>
                <a:latin typeface="Calibri"/>
              </a:rPr>
              <a:t>Backlog du sprint (extrait)</a:t>
            </a:r>
          </a:p>
        </p:txBody>
      </p:sp>
      <p:graphicFrame>
        <p:nvGraphicFramePr>
          <p:cNvPr id="9" name="Table 8"/>
          <p:cNvGraphicFramePr>
            <a:graphicFrameLocks noGrp="1"/>
          </p:cNvGraphicFramePr>
          <p:nvPr/>
        </p:nvGraphicFramePr>
        <p:xfrm>
          <a:off x="3383280" y="777240"/>
          <a:ext cx="8503920" cy="3017520"/>
        </p:xfrm>
        <a:graphic>
          <a:graphicData uri="http://schemas.openxmlformats.org/drawingml/2006/table">
            <a:tbl>
              <a:tblPr firstRow="1" bandRow="1">
                <a:tableStyleId>{5C22544A-7EE6-4342-B048-85BDC9FD1C3A}</a:tableStyleId>
              </a:tblPr>
              <a:tblGrid>
                <a:gridCol w="2834640"/>
                <a:gridCol w="2834640"/>
                <a:gridCol w="2834640"/>
              </a:tblGrid>
              <a:tr h="335280">
                <a:tc>
                  <a:txBody>
                    <a:bodyPr lIns="73152" rIns="73152" tIns="36576" bIns="36576"/>
                    <a:lstStyle/>
                    <a:p>
                      <a:pPr algn="l"/>
                      <a:r>
                        <a:rPr sz="1100" b="1">
                          <a:solidFill>
                            <a:srgbClr val="FFFFFF"/>
                          </a:solidFill>
                          <a:latin typeface="Calibri"/>
                        </a:rPr>
                        <a:t>#</a:t>
                      </a:r>
                    </a:p>
                  </a:txBody>
                  <a:tcPr>
                    <a:solidFill>
                      <a:srgbClr val="0A1628"/>
                    </a:solidFill>
                  </a:tcPr>
                </a:tc>
                <a:tc>
                  <a:txBody>
                    <a:bodyPr lIns="73152" rIns="73152" tIns="36576" bIns="36576"/>
                    <a:lstStyle/>
                    <a:p>
                      <a:pPr algn="l"/>
                      <a:r>
                        <a:rPr sz="1100" b="1">
                          <a:solidFill>
                            <a:srgbClr val="FFFFFF"/>
                          </a:solidFill>
                          <a:latin typeface="Calibri"/>
                        </a:rPr>
                        <a:t>User story</a:t>
                      </a:r>
                    </a:p>
                  </a:txBody>
                  <a:tcPr>
                    <a:solidFill>
                      <a:srgbClr val="0A1628"/>
                    </a:solidFill>
                  </a:tcPr>
                </a:tc>
                <a:tc>
                  <a:txBody>
                    <a:bodyPr lIns="73152" rIns="73152" tIns="36576" bIns="36576"/>
                    <a:lstStyle/>
                    <a:p>
                      <a:pPr algn="l"/>
                      <a:r>
                        <a:rPr sz="1100" b="1">
                          <a:solidFill>
                            <a:srgbClr val="FFFFFF"/>
                          </a:solidFill>
                          <a:latin typeface="Calibri"/>
                        </a:rPr>
                        <a:t>Pts</a:t>
                      </a:r>
                    </a:p>
                  </a:txBody>
                  <a:tcPr>
                    <a:solidFill>
                      <a:srgbClr val="0A1628"/>
                    </a:solidFill>
                  </a:tcPr>
                </a:tc>
              </a:tr>
              <a:tr h="335280">
                <a:tc>
                  <a:txBody>
                    <a:bodyPr lIns="73152" rIns="73152" tIns="36576" bIns="36576"/>
                    <a:lstStyle/>
                    <a:p>
                      <a:pPr algn="l"/>
                      <a:r>
                        <a:rPr sz="1100">
                          <a:solidFill>
                            <a:srgbClr val="1F2A3D"/>
                          </a:solidFill>
                          <a:latin typeface="Calibri"/>
                        </a:rPr>
                        <a:t>US3.1</a:t>
                      </a:r>
                    </a:p>
                  </a:txBody>
                  <a:tcPr>
                    <a:solidFill>
                      <a:srgbClr val="FFFFFF"/>
                    </a:solidFill>
                  </a:tcPr>
                </a:tc>
                <a:tc>
                  <a:txBody>
                    <a:bodyPr lIns="73152" rIns="73152" tIns="36576" bIns="36576"/>
                    <a:lstStyle/>
                    <a:p>
                      <a:pPr algn="l"/>
                      <a:r>
                        <a:rPr sz="1100">
                          <a:solidFill>
                            <a:srgbClr val="1F2A3D"/>
                          </a:solidFill>
                          <a:latin typeface="Calibri"/>
                        </a:rPr>
                        <a:t>Voir solde et historique du portefeuille</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US3.2</a:t>
                      </a:r>
                    </a:p>
                  </a:txBody>
                  <a:tcPr>
                    <a:solidFill>
                      <a:srgbClr val="F3F4F6"/>
                    </a:solidFill>
                  </a:tcPr>
                </a:tc>
                <a:tc>
                  <a:txBody>
                    <a:bodyPr lIns="73152" rIns="73152" tIns="36576" bIns="36576"/>
                    <a:lstStyle/>
                    <a:p>
                      <a:pPr algn="l"/>
                      <a:r>
                        <a:rPr sz="1100">
                          <a:solidFill>
                            <a:srgbClr val="1F2A3D"/>
                          </a:solidFill>
                          <a:latin typeface="Calibri"/>
                        </a:rPr>
                        <a:t>Recharger le portefeuille</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r h="335280">
                <a:tc>
                  <a:txBody>
                    <a:bodyPr lIns="73152" rIns="73152" tIns="36576" bIns="36576"/>
                    <a:lstStyle/>
                    <a:p>
                      <a:pPr algn="l"/>
                      <a:r>
                        <a:rPr sz="1100">
                          <a:solidFill>
                            <a:srgbClr val="1F2A3D"/>
                          </a:solidFill>
                          <a:latin typeface="Calibri"/>
                        </a:rPr>
                        <a:t>US3.3</a:t>
                      </a:r>
                    </a:p>
                  </a:txBody>
                  <a:tcPr>
                    <a:solidFill>
                      <a:srgbClr val="FFFFFF"/>
                    </a:solidFill>
                  </a:tcPr>
                </a:tc>
                <a:tc>
                  <a:txBody>
                    <a:bodyPr lIns="73152" rIns="73152" tIns="36576" bIns="36576"/>
                    <a:lstStyle/>
                    <a:p>
                      <a:pPr algn="l"/>
                      <a:r>
                        <a:rPr sz="1100">
                          <a:solidFill>
                            <a:srgbClr val="1F2A3D"/>
                          </a:solidFill>
                          <a:latin typeface="Calibri"/>
                        </a:rPr>
                        <a:t>Appliquer auto. la réduction étudiante (50 %)</a:t>
                      </a:r>
                    </a:p>
                  </a:txBody>
                  <a:tcPr>
                    <a:solidFill>
                      <a:srgbClr val="FFFFFF"/>
                    </a:solidFill>
                  </a:tcPr>
                </a:tc>
                <a:tc>
                  <a:txBody>
                    <a:bodyPr lIns="73152" rIns="73152" tIns="36576" bIns="36576"/>
                    <a:lstStyle/>
                    <a:p>
                      <a:pPr algn="l"/>
                      <a:r>
                        <a:rPr sz="1100">
                          <a:solidFill>
                            <a:srgbClr val="1F2A3D"/>
                          </a:solidFill>
                          <a:latin typeface="Calibri"/>
                        </a:rPr>
                        <a:t>3</a:t>
                      </a:r>
                    </a:p>
                  </a:txBody>
                  <a:tcPr>
                    <a:solidFill>
                      <a:srgbClr val="FFFFFF"/>
                    </a:solidFill>
                  </a:tcPr>
                </a:tc>
              </a:tr>
              <a:tr h="335280">
                <a:tc>
                  <a:txBody>
                    <a:bodyPr lIns="73152" rIns="73152" tIns="36576" bIns="36576"/>
                    <a:lstStyle/>
                    <a:p>
                      <a:pPr algn="l"/>
                      <a:r>
                        <a:rPr sz="1100">
                          <a:solidFill>
                            <a:srgbClr val="1F2A3D"/>
                          </a:solidFill>
                          <a:latin typeface="Calibri"/>
                        </a:rPr>
                        <a:t>US3.4</a:t>
                      </a:r>
                    </a:p>
                  </a:txBody>
                  <a:tcPr>
                    <a:solidFill>
                      <a:srgbClr val="F3F4F6"/>
                    </a:solidFill>
                  </a:tcPr>
                </a:tc>
                <a:tc>
                  <a:txBody>
                    <a:bodyPr lIns="73152" rIns="73152" tIns="36576" bIns="36576"/>
                    <a:lstStyle/>
                    <a:p>
                      <a:pPr algn="l"/>
                      <a:r>
                        <a:rPr sz="1100">
                          <a:solidFill>
                            <a:srgbClr val="1F2A3D"/>
                          </a:solidFill>
                          <a:latin typeface="Calibri"/>
                        </a:rPr>
                        <a:t>Appliquer un code promo organisationnel</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r h="335280">
                <a:tc>
                  <a:txBody>
                    <a:bodyPr lIns="73152" rIns="73152" tIns="36576" bIns="36576"/>
                    <a:lstStyle/>
                    <a:p>
                      <a:pPr algn="l"/>
                      <a:r>
                        <a:rPr sz="1100">
                          <a:solidFill>
                            <a:srgbClr val="1F2A3D"/>
                          </a:solidFill>
                          <a:latin typeface="Calibri"/>
                        </a:rPr>
                        <a:t>US3.5</a:t>
                      </a:r>
                    </a:p>
                  </a:txBody>
                  <a:tcPr>
                    <a:solidFill>
                      <a:srgbClr val="FFFFFF"/>
                    </a:solidFill>
                  </a:tcPr>
                </a:tc>
                <a:tc>
                  <a:txBody>
                    <a:bodyPr lIns="73152" rIns="73152" tIns="36576" bIns="36576"/>
                    <a:lstStyle/>
                    <a:p>
                      <a:pPr algn="l"/>
                      <a:r>
                        <a:rPr sz="1100">
                          <a:solidFill>
                            <a:srgbClr val="1F2A3D"/>
                          </a:solidFill>
                          <a:latin typeface="Calibri"/>
                        </a:rPr>
                        <a:t>Mettre un trajet en avant (boost)</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US3.6</a:t>
                      </a:r>
                    </a:p>
                  </a:txBody>
                  <a:tcPr>
                    <a:solidFill>
                      <a:srgbClr val="F3F4F6"/>
                    </a:solidFill>
                  </a:tcPr>
                </a:tc>
                <a:tc>
                  <a:txBody>
                    <a:bodyPr lIns="73152" rIns="73152" tIns="36576" bIns="36576"/>
                    <a:lstStyle/>
                    <a:p>
                      <a:pPr algn="l"/>
                      <a:r>
                        <a:rPr sz="1100">
                          <a:solidFill>
                            <a:srgbClr val="1F2A3D"/>
                          </a:solidFill>
                          <a:latin typeface="Calibri"/>
                        </a:rPr>
                        <a:t>Tableau de bord : fiabilité + revenus + notes</a:t>
                      </a:r>
                    </a:p>
                  </a:txBody>
                  <a:tcPr>
                    <a:solidFill>
                      <a:srgbClr val="F3F4F6"/>
                    </a:solidFill>
                  </a:tcPr>
                </a:tc>
                <a:tc>
                  <a:txBody>
                    <a:bodyPr lIns="73152" rIns="73152" tIns="36576" bIns="36576"/>
                    <a:lstStyle/>
                    <a:p>
                      <a:pPr algn="l"/>
                      <a:r>
                        <a:rPr sz="1100">
                          <a:solidFill>
                            <a:srgbClr val="1F2A3D"/>
                          </a:solidFill>
                          <a:latin typeface="Calibri"/>
                        </a:rPr>
                        <a:t>8</a:t>
                      </a:r>
                    </a:p>
                  </a:txBody>
                  <a:tcPr>
                    <a:solidFill>
                      <a:srgbClr val="F3F4F6"/>
                    </a:solidFill>
                  </a:tcPr>
                </a:tc>
              </a:tr>
              <a:tr h="335280">
                <a:tc>
                  <a:txBody>
                    <a:bodyPr lIns="73152" rIns="73152" tIns="36576" bIns="36576"/>
                    <a:lstStyle/>
                    <a:p>
                      <a:pPr algn="l"/>
                      <a:r>
                        <a:rPr sz="1100">
                          <a:solidFill>
                            <a:srgbClr val="1F2A3D"/>
                          </a:solidFill>
                          <a:latin typeface="Calibri"/>
                        </a:rPr>
                        <a:t>US3.7</a:t>
                      </a:r>
                    </a:p>
                  </a:txBody>
                  <a:tcPr>
                    <a:solidFill>
                      <a:srgbClr val="FFFFFF"/>
                    </a:solidFill>
                  </a:tcPr>
                </a:tc>
                <a:tc>
                  <a:txBody>
                    <a:bodyPr lIns="73152" rIns="73152" tIns="36576" bIns="36576"/>
                    <a:lstStyle/>
                    <a:p>
                      <a:pPr algn="l"/>
                      <a:r>
                        <a:rPr sz="1100">
                          <a:solidFill>
                            <a:srgbClr val="1F2A3D"/>
                          </a:solidFill>
                          <a:latin typeface="Calibri"/>
                        </a:rPr>
                        <a:t>Badge de score de compatibilité par trajet</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US3.8</a:t>
                      </a:r>
                    </a:p>
                  </a:txBody>
                  <a:tcPr>
                    <a:solidFill>
                      <a:srgbClr val="F3F4F6"/>
                    </a:solidFill>
                  </a:tcPr>
                </a:tc>
                <a:tc>
                  <a:txBody>
                    <a:bodyPr lIns="73152" rIns="73152" tIns="36576" bIns="36576"/>
                    <a:lstStyle/>
                    <a:p>
                      <a:pPr algn="l"/>
                      <a:r>
                        <a:rPr sz="1100">
                          <a:solidFill>
                            <a:srgbClr val="1F2A3D"/>
                          </a:solidFill>
                          <a:latin typeface="Calibri"/>
                        </a:rPr>
                        <a:t>Recalculer la fiabilité après chaque trajet terminé</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bl>
          </a:graphicData>
        </a:graphic>
      </p:graphicFrame>
      <p:sp>
        <p:nvSpPr>
          <p:cNvPr id="10" name="TextBox 9"/>
          <p:cNvSpPr txBox="1"/>
          <p:nvPr/>
        </p:nvSpPr>
        <p:spPr>
          <a:xfrm>
            <a:off x="3383280" y="3977639"/>
            <a:ext cx="8229600" cy="365760"/>
          </a:xfrm>
          <a:prstGeom prst="rect">
            <a:avLst/>
          </a:prstGeom>
          <a:noFill/>
        </p:spPr>
        <p:txBody>
          <a:bodyPr wrap="square" anchor="t" lIns="45720" rIns="45720" tIns="18288" bIns="18288">
            <a:spAutoFit/>
          </a:bodyPr>
          <a:lstStyle/>
          <a:p>
            <a:pPr algn="l"/>
            <a:r>
              <a:rPr sz="1400" b="1">
                <a:solidFill>
                  <a:srgbClr val="0A1628"/>
                </a:solidFill>
                <a:latin typeface="Calibri"/>
              </a:rPr>
              <a:t>Livrables</a:t>
            </a:r>
          </a:p>
        </p:txBody>
      </p:sp>
      <p:sp>
        <p:nvSpPr>
          <p:cNvPr id="11" name="TextBox 10"/>
          <p:cNvSpPr txBox="1"/>
          <p:nvPr/>
        </p:nvSpPr>
        <p:spPr>
          <a:xfrm>
            <a:off x="3383280" y="4343400"/>
            <a:ext cx="8503920" cy="2103120"/>
          </a:xfrm>
          <a:prstGeom prst="rect">
            <a:avLst/>
          </a:prstGeom>
          <a:noFill/>
        </p:spPr>
        <p:txBody>
          <a:bodyPr wrap="square" lIns="45720">
            <a:spAutoFit/>
          </a:bodyPr>
          <a:lstStyle/>
          <a:p>
            <a:pPr algn="l">
              <a:lnSpc>
                <a:spcPct val="115000"/>
              </a:lnSpc>
              <a:spcAft>
                <a:spcPts val="400"/>
              </a:spcAft>
            </a:pPr>
            <a:r>
              <a:rPr sz="1200" b="1">
                <a:solidFill>
                  <a:srgbClr val="D4A43A"/>
                </a:solidFill>
                <a:latin typeface="Calibri"/>
              </a:rPr>
              <a:t>▸  </a:t>
            </a:r>
            <a:r>
              <a:rPr sz="1200">
                <a:solidFill>
                  <a:srgbClr val="1F2A3D"/>
                </a:solidFill>
                <a:latin typeface="Calibri"/>
              </a:rPr>
              <a:t>Pipeline prix : base × places → étudiant 50 % → promo % → acompte 50 %.</a:t>
            </a:r>
          </a:p>
          <a:p>
            <a:pPr algn="l">
              <a:lnSpc>
                <a:spcPct val="115000"/>
              </a:lnSpc>
              <a:spcAft>
                <a:spcPts val="400"/>
              </a:spcAft>
            </a:pPr>
            <a:r>
              <a:rPr sz="1200" b="1">
                <a:solidFill>
                  <a:srgbClr val="D4A43A"/>
                </a:solidFill>
                <a:latin typeface="Calibri"/>
              </a:rPr>
              <a:t>▸  </a:t>
            </a:r>
            <a:r>
              <a:rPr sz="1200">
                <a:solidFill>
                  <a:srgbClr val="1F2A3D"/>
                </a:solidFill>
                <a:latin typeface="Calibri"/>
              </a:rPr>
              <a:t>Score de fiabilité : note × taux de complétion × (1 − taux d'annulation).</a:t>
            </a:r>
          </a:p>
          <a:p>
            <a:pPr algn="l">
              <a:lnSpc>
                <a:spcPct val="115000"/>
              </a:lnSpc>
              <a:spcAft>
                <a:spcPts val="400"/>
              </a:spcAft>
            </a:pPr>
            <a:r>
              <a:rPr sz="1200" b="1">
                <a:solidFill>
                  <a:srgbClr val="D4A43A"/>
                </a:solidFill>
                <a:latin typeface="Calibri"/>
              </a:rPr>
              <a:t>▸  </a:t>
            </a:r>
            <a:r>
              <a:rPr sz="1200">
                <a:solidFill>
                  <a:srgbClr val="1F2A3D"/>
                </a:solidFill>
                <a:latin typeface="Calibri"/>
              </a:rPr>
              <a:t>Bug détecté en revue : la promo s'appliquait avant la réduction étudiante — corrigé.</a:t>
            </a:r>
          </a:p>
        </p:txBody>
      </p:sp>
      <p:sp>
        <p:nvSpPr>
          <p:cNvPr id="12" name="Rectangle 11"/>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4" name="TextBox 13"/>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0"/>
            <a:ext cx="2377440" cy="457200"/>
          </a:xfrm>
          <a:prstGeom prst="rect">
            <a:avLst/>
          </a:prstGeom>
          <a:noFill/>
        </p:spPr>
        <p:txBody>
          <a:bodyPr wrap="square" anchor="t" lIns="45720" rIns="45720" tIns="18288" bIns="18288">
            <a:spAutoFit/>
          </a:bodyPr>
          <a:lstStyle/>
          <a:p>
            <a:pPr algn="l"/>
            <a:r>
              <a:rPr sz="1400" b="1">
                <a:solidFill>
                  <a:srgbClr val="E8B84B"/>
                </a:solidFill>
                <a:latin typeface="Calibri"/>
              </a:rPr>
              <a:t>SPRINT 4</a:t>
            </a:r>
          </a:p>
        </p:txBody>
      </p:sp>
      <p:sp>
        <p:nvSpPr>
          <p:cNvPr id="5" name="TextBox 4"/>
          <p:cNvSpPr txBox="1"/>
          <p:nvPr/>
        </p:nvSpPr>
        <p:spPr>
          <a:xfrm>
            <a:off x="365760" y="914400"/>
            <a:ext cx="2377440" cy="1828800"/>
          </a:xfrm>
          <a:prstGeom prst="rect">
            <a:avLst/>
          </a:prstGeom>
          <a:noFill/>
        </p:spPr>
        <p:txBody>
          <a:bodyPr wrap="square" anchor="t" lIns="45720" rIns="45720" tIns="18288" bIns="18288">
            <a:spAutoFit/>
          </a:bodyPr>
          <a:lstStyle/>
          <a:p>
            <a:pPr algn="l"/>
            <a:r>
              <a:rPr sz="2800" b="1">
                <a:solidFill>
                  <a:srgbClr val="FFFFFF"/>
                </a:solidFill>
                <a:latin typeface="Calibri"/>
              </a:rPr>
              <a:t>Communauté &amp; Finalisation</a:t>
            </a:r>
          </a:p>
        </p:txBody>
      </p:sp>
      <p:sp>
        <p:nvSpPr>
          <p:cNvPr id="6" name="TextBox 5"/>
          <p:cNvSpPr txBox="1"/>
          <p:nvPr/>
        </p:nvSpPr>
        <p:spPr>
          <a:xfrm>
            <a:off x="365760" y="3108960"/>
            <a:ext cx="2377440" cy="365760"/>
          </a:xfrm>
          <a:prstGeom prst="rect">
            <a:avLst/>
          </a:prstGeom>
          <a:noFill/>
        </p:spPr>
        <p:txBody>
          <a:bodyPr wrap="square" anchor="t" lIns="45720" rIns="45720" tIns="18288" bIns="18288">
            <a:spAutoFit/>
          </a:bodyPr>
          <a:lstStyle/>
          <a:p>
            <a:pPr algn="l"/>
            <a:r>
              <a:rPr sz="1100" b="1">
                <a:solidFill>
                  <a:srgbClr val="E8B84B"/>
                </a:solidFill>
                <a:latin typeface="Calibri"/>
              </a:rPr>
              <a:t>OBJECTIF</a:t>
            </a:r>
          </a:p>
        </p:txBody>
      </p:sp>
      <p:sp>
        <p:nvSpPr>
          <p:cNvPr id="7" name="TextBox 6"/>
          <p:cNvSpPr txBox="1"/>
          <p:nvPr/>
        </p:nvSpPr>
        <p:spPr>
          <a:xfrm>
            <a:off x="365760" y="3383280"/>
            <a:ext cx="2468880" cy="1828800"/>
          </a:xfrm>
          <a:prstGeom prst="rect">
            <a:avLst/>
          </a:prstGeom>
          <a:noFill/>
        </p:spPr>
        <p:txBody>
          <a:bodyPr wrap="square" anchor="t" lIns="45720" rIns="45720" tIns="18288" bIns="18288">
            <a:spAutoFit/>
          </a:bodyPr>
          <a:lstStyle/>
          <a:p>
            <a:pPr algn="l"/>
            <a:r>
              <a:rPr sz="1200" b="0">
                <a:solidFill>
                  <a:srgbClr val="FFFFFF"/>
                </a:solidFill>
                <a:latin typeface="Calibri"/>
              </a:rPr>
              <a:t>Messagerie, notations, plaintes, fil social, helpdesk, interface multilingue, panneau d'administration.</a:t>
            </a:r>
          </a:p>
        </p:txBody>
      </p:sp>
      <p:sp>
        <p:nvSpPr>
          <p:cNvPr id="8" name="TextBox 7"/>
          <p:cNvSpPr txBox="1"/>
          <p:nvPr/>
        </p:nvSpPr>
        <p:spPr>
          <a:xfrm>
            <a:off x="3383280" y="365760"/>
            <a:ext cx="8229600" cy="457200"/>
          </a:xfrm>
          <a:prstGeom prst="rect">
            <a:avLst/>
          </a:prstGeom>
          <a:noFill/>
        </p:spPr>
        <p:txBody>
          <a:bodyPr wrap="square" anchor="t" lIns="45720" rIns="45720" tIns="18288" bIns="18288">
            <a:spAutoFit/>
          </a:bodyPr>
          <a:lstStyle/>
          <a:p>
            <a:pPr algn="l"/>
            <a:r>
              <a:rPr sz="1400" b="1">
                <a:solidFill>
                  <a:srgbClr val="0A1628"/>
                </a:solidFill>
                <a:latin typeface="Calibri"/>
              </a:rPr>
              <a:t>Backlog du sprint (extrait)</a:t>
            </a:r>
          </a:p>
        </p:txBody>
      </p:sp>
      <p:graphicFrame>
        <p:nvGraphicFramePr>
          <p:cNvPr id="9" name="Table 8"/>
          <p:cNvGraphicFramePr>
            <a:graphicFrameLocks noGrp="1"/>
          </p:cNvGraphicFramePr>
          <p:nvPr/>
        </p:nvGraphicFramePr>
        <p:xfrm>
          <a:off x="3383280" y="777240"/>
          <a:ext cx="8503920" cy="3017520"/>
        </p:xfrm>
        <a:graphic>
          <a:graphicData uri="http://schemas.openxmlformats.org/drawingml/2006/table">
            <a:tbl>
              <a:tblPr firstRow="1" bandRow="1">
                <a:tableStyleId>{5C22544A-7EE6-4342-B048-85BDC9FD1C3A}</a:tableStyleId>
              </a:tblPr>
              <a:tblGrid>
                <a:gridCol w="2834640"/>
                <a:gridCol w="2834640"/>
                <a:gridCol w="2834640"/>
              </a:tblGrid>
              <a:tr h="335280">
                <a:tc>
                  <a:txBody>
                    <a:bodyPr lIns="73152" rIns="73152" tIns="36576" bIns="36576"/>
                    <a:lstStyle/>
                    <a:p>
                      <a:pPr algn="l"/>
                      <a:r>
                        <a:rPr sz="1100" b="1">
                          <a:solidFill>
                            <a:srgbClr val="FFFFFF"/>
                          </a:solidFill>
                          <a:latin typeface="Calibri"/>
                        </a:rPr>
                        <a:t>#</a:t>
                      </a:r>
                    </a:p>
                  </a:txBody>
                  <a:tcPr>
                    <a:solidFill>
                      <a:srgbClr val="0A1628"/>
                    </a:solidFill>
                  </a:tcPr>
                </a:tc>
                <a:tc>
                  <a:txBody>
                    <a:bodyPr lIns="73152" rIns="73152" tIns="36576" bIns="36576"/>
                    <a:lstStyle/>
                    <a:p>
                      <a:pPr algn="l"/>
                      <a:r>
                        <a:rPr sz="1100" b="1">
                          <a:solidFill>
                            <a:srgbClr val="FFFFFF"/>
                          </a:solidFill>
                          <a:latin typeface="Calibri"/>
                        </a:rPr>
                        <a:t>User story</a:t>
                      </a:r>
                    </a:p>
                  </a:txBody>
                  <a:tcPr>
                    <a:solidFill>
                      <a:srgbClr val="0A1628"/>
                    </a:solidFill>
                  </a:tcPr>
                </a:tc>
                <a:tc>
                  <a:txBody>
                    <a:bodyPr lIns="73152" rIns="73152" tIns="36576" bIns="36576"/>
                    <a:lstStyle/>
                    <a:p>
                      <a:pPr algn="l"/>
                      <a:r>
                        <a:rPr sz="1100" b="1">
                          <a:solidFill>
                            <a:srgbClr val="FFFFFF"/>
                          </a:solidFill>
                          <a:latin typeface="Calibri"/>
                        </a:rPr>
                        <a:t>Pts</a:t>
                      </a:r>
                    </a:p>
                  </a:txBody>
                  <a:tcPr>
                    <a:solidFill>
                      <a:srgbClr val="0A1628"/>
                    </a:solidFill>
                  </a:tcPr>
                </a:tc>
              </a:tr>
              <a:tr h="335280">
                <a:tc>
                  <a:txBody>
                    <a:bodyPr lIns="73152" rIns="73152" tIns="36576" bIns="36576"/>
                    <a:lstStyle/>
                    <a:p>
                      <a:pPr algn="l"/>
                      <a:r>
                        <a:rPr sz="1100">
                          <a:solidFill>
                            <a:srgbClr val="1F2A3D"/>
                          </a:solidFill>
                          <a:latin typeface="Calibri"/>
                        </a:rPr>
                        <a:t>US4.1</a:t>
                      </a:r>
                    </a:p>
                  </a:txBody>
                  <a:tcPr>
                    <a:solidFill>
                      <a:srgbClr val="FFFFFF"/>
                    </a:solidFill>
                  </a:tcPr>
                </a:tc>
                <a:tc>
                  <a:txBody>
                    <a:bodyPr lIns="73152" rIns="73152" tIns="36576" bIns="36576"/>
                    <a:lstStyle/>
                    <a:p>
                      <a:pPr algn="l"/>
                      <a:r>
                        <a:rPr sz="1100">
                          <a:solidFill>
                            <a:srgbClr val="1F2A3D"/>
                          </a:solidFill>
                          <a:latin typeface="Calibri"/>
                        </a:rPr>
                        <a:t>Messagerie en temps réel (polling)</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US4.2</a:t>
                      </a:r>
                    </a:p>
                  </a:txBody>
                  <a:tcPr>
                    <a:solidFill>
                      <a:srgbClr val="F3F4F6"/>
                    </a:solidFill>
                  </a:tcPr>
                </a:tc>
                <a:tc>
                  <a:txBody>
                    <a:bodyPr lIns="73152" rIns="73152" tIns="36576" bIns="36576"/>
                    <a:lstStyle/>
                    <a:p>
                      <a:pPr algn="l"/>
                      <a:r>
                        <a:rPr sz="1100">
                          <a:solidFill>
                            <a:srgbClr val="1F2A3D"/>
                          </a:solidFill>
                          <a:latin typeface="Calibri"/>
                        </a:rPr>
                        <a:t>Notifications push (FCM)</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r h="335280">
                <a:tc>
                  <a:txBody>
                    <a:bodyPr lIns="73152" rIns="73152" tIns="36576" bIns="36576"/>
                    <a:lstStyle/>
                    <a:p>
                      <a:pPr algn="l"/>
                      <a:r>
                        <a:rPr sz="1100">
                          <a:solidFill>
                            <a:srgbClr val="1F2A3D"/>
                          </a:solidFill>
                          <a:latin typeface="Calibri"/>
                        </a:rPr>
                        <a:t>US4.3</a:t>
                      </a:r>
                    </a:p>
                  </a:txBody>
                  <a:tcPr>
                    <a:solidFill>
                      <a:srgbClr val="FFFFFF"/>
                    </a:solidFill>
                  </a:tcPr>
                </a:tc>
                <a:tc>
                  <a:txBody>
                    <a:bodyPr lIns="73152" rIns="73152" tIns="36576" bIns="36576"/>
                    <a:lstStyle/>
                    <a:p>
                      <a:pPr algn="l"/>
                      <a:r>
                        <a:rPr sz="1100">
                          <a:solidFill>
                            <a:srgbClr val="1F2A3D"/>
                          </a:solidFill>
                          <a:latin typeface="Calibri"/>
                        </a:rPr>
                        <a:t>Fil social (posts, likes, commentaires)</a:t>
                      </a:r>
                    </a:p>
                  </a:txBody>
                  <a:tcPr>
                    <a:solidFill>
                      <a:srgbClr val="FFFFFF"/>
                    </a:solidFill>
                  </a:tcPr>
                </a:tc>
                <a:tc>
                  <a:txBody>
                    <a:bodyPr lIns="73152" rIns="73152" tIns="36576" bIns="36576"/>
                    <a:lstStyle/>
                    <a:p>
                      <a:pPr algn="l"/>
                      <a:r>
                        <a:rPr sz="1100">
                          <a:solidFill>
                            <a:srgbClr val="1F2A3D"/>
                          </a:solidFill>
                          <a:latin typeface="Calibri"/>
                        </a:rPr>
                        <a:t>8</a:t>
                      </a:r>
                    </a:p>
                  </a:txBody>
                  <a:tcPr>
                    <a:solidFill>
                      <a:srgbClr val="FFFFFF"/>
                    </a:solidFill>
                  </a:tcPr>
                </a:tc>
              </a:tr>
              <a:tr h="335280">
                <a:tc>
                  <a:txBody>
                    <a:bodyPr lIns="73152" rIns="73152" tIns="36576" bIns="36576"/>
                    <a:lstStyle/>
                    <a:p>
                      <a:pPr algn="l"/>
                      <a:r>
                        <a:rPr sz="1100">
                          <a:solidFill>
                            <a:srgbClr val="1F2A3D"/>
                          </a:solidFill>
                          <a:latin typeface="Calibri"/>
                        </a:rPr>
                        <a:t>US4.4</a:t>
                      </a:r>
                    </a:p>
                  </a:txBody>
                  <a:tcPr>
                    <a:solidFill>
                      <a:srgbClr val="F3F4F6"/>
                    </a:solidFill>
                  </a:tcPr>
                </a:tc>
                <a:tc>
                  <a:txBody>
                    <a:bodyPr lIns="73152" rIns="73152" tIns="36576" bIns="36576"/>
                    <a:lstStyle/>
                    <a:p>
                      <a:pPr algn="l"/>
                      <a:r>
                        <a:rPr sz="1100">
                          <a:solidFill>
                            <a:srgbClr val="1F2A3D"/>
                          </a:solidFill>
                          <a:latin typeface="Calibri"/>
                        </a:rPr>
                        <a:t>Noter l'autre partie après un trajet</a:t>
                      </a:r>
                    </a:p>
                  </a:txBody>
                  <a:tcPr>
                    <a:solidFill>
                      <a:srgbClr val="F3F4F6"/>
                    </a:solidFill>
                  </a:tcPr>
                </a:tc>
                <a:tc>
                  <a:txBody>
                    <a:bodyPr lIns="73152" rIns="73152" tIns="36576" bIns="36576"/>
                    <a:lstStyle/>
                    <a:p>
                      <a:pPr algn="l"/>
                      <a:r>
                        <a:rPr sz="1100">
                          <a:solidFill>
                            <a:srgbClr val="1F2A3D"/>
                          </a:solidFill>
                          <a:latin typeface="Calibri"/>
                        </a:rPr>
                        <a:t>3</a:t>
                      </a:r>
                    </a:p>
                  </a:txBody>
                  <a:tcPr>
                    <a:solidFill>
                      <a:srgbClr val="F3F4F6"/>
                    </a:solidFill>
                  </a:tcPr>
                </a:tc>
              </a:tr>
              <a:tr h="335280">
                <a:tc>
                  <a:txBody>
                    <a:bodyPr lIns="73152" rIns="73152" tIns="36576" bIns="36576"/>
                    <a:lstStyle/>
                    <a:p>
                      <a:pPr algn="l"/>
                      <a:r>
                        <a:rPr sz="1100">
                          <a:solidFill>
                            <a:srgbClr val="1F2A3D"/>
                          </a:solidFill>
                          <a:latin typeface="Calibri"/>
                        </a:rPr>
                        <a:t>US4.5</a:t>
                      </a:r>
                    </a:p>
                  </a:txBody>
                  <a:tcPr>
                    <a:solidFill>
                      <a:srgbClr val="FFFFFF"/>
                    </a:solidFill>
                  </a:tcPr>
                </a:tc>
                <a:tc>
                  <a:txBody>
                    <a:bodyPr lIns="73152" rIns="73152" tIns="36576" bIns="36576"/>
                    <a:lstStyle/>
                    <a:p>
                      <a:pPr algn="l"/>
                      <a:r>
                        <a:rPr sz="1100">
                          <a:solidFill>
                            <a:srgbClr val="1F2A3D"/>
                          </a:solidFill>
                          <a:latin typeface="Calibri"/>
                        </a:rPr>
                        <a:t>Déposer une plainte après un trajet</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US4.6</a:t>
                      </a:r>
                    </a:p>
                  </a:txBody>
                  <a:tcPr>
                    <a:solidFill>
                      <a:srgbClr val="F3F4F6"/>
                    </a:solidFill>
                  </a:tcPr>
                </a:tc>
                <a:tc>
                  <a:txBody>
                    <a:bodyPr lIns="73152" rIns="73152" tIns="36576" bIns="36576"/>
                    <a:lstStyle/>
                    <a:p>
                      <a:pPr algn="l"/>
                      <a:r>
                        <a:rPr sz="1100">
                          <a:solidFill>
                            <a:srgbClr val="1F2A3D"/>
                          </a:solidFill>
                          <a:latin typeface="Calibri"/>
                        </a:rPr>
                        <a:t>HelpDesk assisté avec escalade vers humain</a:t>
                      </a:r>
                    </a:p>
                  </a:txBody>
                  <a:tcPr>
                    <a:solidFill>
                      <a:srgbClr val="F3F4F6"/>
                    </a:solidFill>
                  </a:tcPr>
                </a:tc>
                <a:tc>
                  <a:txBody>
                    <a:bodyPr lIns="73152" rIns="73152" tIns="36576" bIns="36576"/>
                    <a:lstStyle/>
                    <a:p>
                      <a:pPr algn="l"/>
                      <a:r>
                        <a:rPr sz="1100">
                          <a:solidFill>
                            <a:srgbClr val="1F2A3D"/>
                          </a:solidFill>
                          <a:latin typeface="Calibri"/>
                        </a:rPr>
                        <a:t>5</a:t>
                      </a:r>
                    </a:p>
                  </a:txBody>
                  <a:tcPr>
                    <a:solidFill>
                      <a:srgbClr val="F3F4F6"/>
                    </a:solidFill>
                  </a:tcPr>
                </a:tc>
              </a:tr>
              <a:tr h="335280">
                <a:tc>
                  <a:txBody>
                    <a:bodyPr lIns="73152" rIns="73152" tIns="36576" bIns="36576"/>
                    <a:lstStyle/>
                    <a:p>
                      <a:pPr algn="l"/>
                      <a:r>
                        <a:rPr sz="1100">
                          <a:solidFill>
                            <a:srgbClr val="1F2A3D"/>
                          </a:solidFill>
                          <a:latin typeface="Calibri"/>
                        </a:rPr>
                        <a:t>US4.7</a:t>
                      </a:r>
                    </a:p>
                  </a:txBody>
                  <a:tcPr>
                    <a:solidFill>
                      <a:srgbClr val="FFFFFF"/>
                    </a:solidFill>
                  </a:tcPr>
                </a:tc>
                <a:tc>
                  <a:txBody>
                    <a:bodyPr lIns="73152" rIns="73152" tIns="36576" bIns="36576"/>
                    <a:lstStyle/>
                    <a:p>
                      <a:pPr algn="l"/>
                      <a:r>
                        <a:rPr sz="1100">
                          <a:solidFill>
                            <a:srgbClr val="1F2A3D"/>
                          </a:solidFill>
                          <a:latin typeface="Calibri"/>
                        </a:rPr>
                        <a:t>Changer la langue FR / EN / AR (RTL)</a:t>
                      </a:r>
                    </a:p>
                  </a:txBody>
                  <a:tcPr>
                    <a:solidFill>
                      <a:srgbClr val="FFFFFF"/>
                    </a:solidFill>
                  </a:tcPr>
                </a:tc>
                <a:tc>
                  <a:txBody>
                    <a:bodyPr lIns="73152" rIns="73152" tIns="36576" bIns="36576"/>
                    <a:lstStyle/>
                    <a:p>
                      <a:pPr algn="l"/>
                      <a:r>
                        <a:rPr sz="1100">
                          <a:solidFill>
                            <a:srgbClr val="1F2A3D"/>
                          </a:solidFill>
                          <a:latin typeface="Calibri"/>
                        </a:rPr>
                        <a:t>5</a:t>
                      </a:r>
                    </a:p>
                  </a:txBody>
                  <a:tcPr>
                    <a:solidFill>
                      <a:srgbClr val="FFFFFF"/>
                    </a:solidFill>
                  </a:tcPr>
                </a:tc>
              </a:tr>
              <a:tr h="335280">
                <a:tc>
                  <a:txBody>
                    <a:bodyPr lIns="73152" rIns="73152" tIns="36576" bIns="36576"/>
                    <a:lstStyle/>
                    <a:p>
                      <a:pPr algn="l"/>
                      <a:r>
                        <a:rPr sz="1100">
                          <a:solidFill>
                            <a:srgbClr val="1F2A3D"/>
                          </a:solidFill>
                          <a:latin typeface="Calibri"/>
                        </a:rPr>
                        <a:t>US4.8</a:t>
                      </a:r>
                    </a:p>
                  </a:txBody>
                  <a:tcPr>
                    <a:solidFill>
                      <a:srgbClr val="F3F4F6"/>
                    </a:solidFill>
                  </a:tcPr>
                </a:tc>
                <a:tc>
                  <a:txBody>
                    <a:bodyPr lIns="73152" rIns="73152" tIns="36576" bIns="36576"/>
                    <a:lstStyle/>
                    <a:p>
                      <a:pPr algn="l"/>
                      <a:r>
                        <a:rPr sz="1100">
                          <a:solidFill>
                            <a:srgbClr val="1F2A3D"/>
                          </a:solidFill>
                          <a:latin typeface="Calibri"/>
                        </a:rPr>
                        <a:t>Panneau admin — 7 onglets</a:t>
                      </a:r>
                    </a:p>
                  </a:txBody>
                  <a:tcPr>
                    <a:solidFill>
                      <a:srgbClr val="F3F4F6"/>
                    </a:solidFill>
                  </a:tcPr>
                </a:tc>
                <a:tc>
                  <a:txBody>
                    <a:bodyPr lIns="73152" rIns="73152" tIns="36576" bIns="36576"/>
                    <a:lstStyle/>
                    <a:p>
                      <a:pPr algn="l"/>
                      <a:r>
                        <a:rPr sz="1100">
                          <a:solidFill>
                            <a:srgbClr val="1F2A3D"/>
                          </a:solidFill>
                          <a:latin typeface="Calibri"/>
                        </a:rPr>
                        <a:t>8</a:t>
                      </a:r>
                    </a:p>
                  </a:txBody>
                  <a:tcPr>
                    <a:solidFill>
                      <a:srgbClr val="F3F4F6"/>
                    </a:solidFill>
                  </a:tcPr>
                </a:tc>
              </a:tr>
            </a:tbl>
          </a:graphicData>
        </a:graphic>
      </p:graphicFrame>
      <p:sp>
        <p:nvSpPr>
          <p:cNvPr id="10" name="TextBox 9"/>
          <p:cNvSpPr txBox="1"/>
          <p:nvPr/>
        </p:nvSpPr>
        <p:spPr>
          <a:xfrm>
            <a:off x="3383280" y="3977639"/>
            <a:ext cx="8229600" cy="365760"/>
          </a:xfrm>
          <a:prstGeom prst="rect">
            <a:avLst/>
          </a:prstGeom>
          <a:noFill/>
        </p:spPr>
        <p:txBody>
          <a:bodyPr wrap="square" anchor="t" lIns="45720" rIns="45720" tIns="18288" bIns="18288">
            <a:spAutoFit/>
          </a:bodyPr>
          <a:lstStyle/>
          <a:p>
            <a:pPr algn="l"/>
            <a:r>
              <a:rPr sz="1400" b="1">
                <a:solidFill>
                  <a:srgbClr val="0A1628"/>
                </a:solidFill>
                <a:latin typeface="Calibri"/>
              </a:rPr>
              <a:t>Livrables</a:t>
            </a:r>
          </a:p>
        </p:txBody>
      </p:sp>
      <p:sp>
        <p:nvSpPr>
          <p:cNvPr id="11" name="TextBox 10"/>
          <p:cNvSpPr txBox="1"/>
          <p:nvPr/>
        </p:nvSpPr>
        <p:spPr>
          <a:xfrm>
            <a:off x="3383280" y="4343400"/>
            <a:ext cx="8503920" cy="2103120"/>
          </a:xfrm>
          <a:prstGeom prst="rect">
            <a:avLst/>
          </a:prstGeom>
          <a:noFill/>
        </p:spPr>
        <p:txBody>
          <a:bodyPr wrap="square" lIns="45720">
            <a:spAutoFit/>
          </a:bodyPr>
          <a:lstStyle/>
          <a:p>
            <a:pPr algn="l">
              <a:lnSpc>
                <a:spcPct val="115000"/>
              </a:lnSpc>
              <a:spcAft>
                <a:spcPts val="400"/>
              </a:spcAft>
            </a:pPr>
            <a:r>
              <a:rPr sz="1200" b="1">
                <a:solidFill>
                  <a:srgbClr val="D4A43A"/>
                </a:solidFill>
                <a:latin typeface="Calibri"/>
              </a:rPr>
              <a:t>▸  </a:t>
            </a:r>
            <a:r>
              <a:rPr sz="1200">
                <a:solidFill>
                  <a:srgbClr val="1F2A3D"/>
                </a:solidFill>
                <a:latin typeface="Calibri"/>
              </a:rPr>
              <a:t>Polling toutes les 3 s — suffisant à notre échelle, sans dépendance WebSocket.</a:t>
            </a:r>
          </a:p>
          <a:p>
            <a:pPr algn="l">
              <a:lnSpc>
                <a:spcPct val="115000"/>
              </a:lnSpc>
              <a:spcAft>
                <a:spcPts val="400"/>
              </a:spcAft>
            </a:pPr>
            <a:r>
              <a:rPr sz="1200" b="1">
                <a:solidFill>
                  <a:srgbClr val="D4A43A"/>
                </a:solidFill>
                <a:latin typeface="Calibri"/>
              </a:rPr>
              <a:t>▸  </a:t>
            </a:r>
            <a:r>
              <a:rPr sz="1200">
                <a:solidFill>
                  <a:srgbClr val="1F2A3D"/>
                </a:solidFill>
                <a:latin typeface="Calibri"/>
              </a:rPr>
              <a:t>Bot HelpDesk : 14 catégories FAQ, escalade vers un agent humain si besoin.</a:t>
            </a:r>
          </a:p>
          <a:p>
            <a:pPr algn="l">
              <a:lnSpc>
                <a:spcPct val="115000"/>
              </a:lnSpc>
              <a:spcAft>
                <a:spcPts val="400"/>
              </a:spcAft>
            </a:pPr>
            <a:r>
              <a:rPr sz="1200" b="1">
                <a:solidFill>
                  <a:srgbClr val="D4A43A"/>
                </a:solidFill>
                <a:latin typeface="Calibri"/>
              </a:rPr>
              <a:t>▸  </a:t>
            </a:r>
            <a:r>
              <a:rPr sz="1200">
                <a:solidFill>
                  <a:srgbClr val="1F2A3D"/>
                </a:solidFill>
                <a:latin typeface="Calibri"/>
              </a:rPr>
              <a:t>L'arabe bascule automatiquement la mise en page via les localizations Flutter.</a:t>
            </a:r>
          </a:p>
        </p:txBody>
      </p:sp>
      <p:sp>
        <p:nvSpPr>
          <p:cNvPr id="12" name="Rectangle 11"/>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4" name="TextBox 13"/>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RÉALISATION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Quelques écrans</a:t>
            </a:r>
          </a:p>
        </p:txBody>
      </p:sp>
      <p:sp>
        <p:nvSpPr>
          <p:cNvPr id="7" name="Rectangle 6"/>
          <p:cNvSpPr/>
          <p:nvPr/>
        </p:nvSpPr>
        <p:spPr>
          <a:xfrm>
            <a:off x="457200" y="1463040"/>
            <a:ext cx="2743200" cy="40233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2560320" cy="3657600"/>
          </a:xfrm>
          <a:prstGeom prst="rect">
            <a:avLst/>
          </a:prstGeom>
          <a:solidFill>
            <a:srgbClr val="FFFFFF"/>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00400"/>
            <a:ext cx="2560320" cy="365760"/>
          </a:xfrm>
          <a:prstGeom prst="rect">
            <a:avLst/>
          </a:prstGeom>
          <a:noFill/>
        </p:spPr>
        <p:txBody>
          <a:bodyPr wrap="square" anchor="ctr" lIns="45720" rIns="45720" tIns="18288" bIns="18288">
            <a:spAutoFit/>
          </a:bodyPr>
          <a:lstStyle/>
          <a:p>
            <a:pPr algn="ctr"/>
            <a:r>
              <a:rPr sz="1000" b="0">
                <a:solidFill>
                  <a:srgbClr val="6B7280"/>
                </a:solidFill>
                <a:latin typeface="Calibri"/>
              </a:rPr>
              <a:t>[mobile_auth.png]</a:t>
            </a:r>
          </a:p>
        </p:txBody>
      </p:sp>
      <p:sp>
        <p:nvSpPr>
          <p:cNvPr id="10" name="TextBox 9"/>
          <p:cNvSpPr txBox="1"/>
          <p:nvPr/>
        </p:nvSpPr>
        <p:spPr>
          <a:xfrm>
            <a:off x="457200" y="5212079"/>
            <a:ext cx="2743200" cy="274320"/>
          </a:xfrm>
          <a:prstGeom prst="rect">
            <a:avLst/>
          </a:prstGeom>
          <a:noFill/>
        </p:spPr>
        <p:txBody>
          <a:bodyPr wrap="square" anchor="t" lIns="45720" rIns="45720" tIns="18288" bIns="18288">
            <a:spAutoFit/>
          </a:bodyPr>
          <a:lstStyle/>
          <a:p>
            <a:pPr algn="ctr"/>
            <a:r>
              <a:rPr sz="1100" b="1">
                <a:solidFill>
                  <a:srgbClr val="0A1628"/>
                </a:solidFill>
                <a:latin typeface="Calibri"/>
              </a:rPr>
              <a:t>Authentification</a:t>
            </a:r>
          </a:p>
        </p:txBody>
      </p:sp>
      <p:sp>
        <p:nvSpPr>
          <p:cNvPr id="11" name="Rectangle 10"/>
          <p:cNvSpPr/>
          <p:nvPr/>
        </p:nvSpPr>
        <p:spPr>
          <a:xfrm>
            <a:off x="3319272" y="1463040"/>
            <a:ext cx="2743200" cy="40233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0712" y="1554480"/>
            <a:ext cx="2560320" cy="3657600"/>
          </a:xfrm>
          <a:prstGeom prst="rect">
            <a:avLst/>
          </a:prstGeom>
          <a:solidFill>
            <a:srgbClr val="FFFFFF"/>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3200400"/>
            <a:ext cx="2560320" cy="365760"/>
          </a:xfrm>
          <a:prstGeom prst="rect">
            <a:avLst/>
          </a:prstGeom>
          <a:noFill/>
        </p:spPr>
        <p:txBody>
          <a:bodyPr wrap="square" anchor="ctr" lIns="45720" rIns="45720" tIns="18288" bIns="18288">
            <a:spAutoFit/>
          </a:bodyPr>
          <a:lstStyle/>
          <a:p>
            <a:pPr algn="ctr"/>
            <a:r>
              <a:rPr sz="1000" b="0">
                <a:solidFill>
                  <a:srgbClr val="6B7280"/>
                </a:solidFill>
                <a:latin typeface="Calibri"/>
              </a:rPr>
              <a:t>[mobile_search.png]</a:t>
            </a:r>
          </a:p>
        </p:txBody>
      </p:sp>
      <p:sp>
        <p:nvSpPr>
          <p:cNvPr id="14" name="TextBox 13"/>
          <p:cNvSpPr txBox="1"/>
          <p:nvPr/>
        </p:nvSpPr>
        <p:spPr>
          <a:xfrm>
            <a:off x="3319272" y="5212079"/>
            <a:ext cx="2743200" cy="274320"/>
          </a:xfrm>
          <a:prstGeom prst="rect">
            <a:avLst/>
          </a:prstGeom>
          <a:noFill/>
        </p:spPr>
        <p:txBody>
          <a:bodyPr wrap="square" anchor="t" lIns="45720" rIns="45720" tIns="18288" bIns="18288">
            <a:spAutoFit/>
          </a:bodyPr>
          <a:lstStyle/>
          <a:p>
            <a:pPr algn="ctr"/>
            <a:r>
              <a:rPr sz="1100" b="1">
                <a:solidFill>
                  <a:srgbClr val="0A1628"/>
                </a:solidFill>
                <a:latin typeface="Calibri"/>
              </a:rPr>
              <a:t>Recherche + score</a:t>
            </a:r>
          </a:p>
        </p:txBody>
      </p:sp>
      <p:sp>
        <p:nvSpPr>
          <p:cNvPr id="15" name="Rectangle 14"/>
          <p:cNvSpPr/>
          <p:nvPr/>
        </p:nvSpPr>
        <p:spPr>
          <a:xfrm>
            <a:off x="6181344" y="1463040"/>
            <a:ext cx="2743200" cy="40233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1554480"/>
            <a:ext cx="2560320" cy="3657600"/>
          </a:xfrm>
          <a:prstGeom prst="rect">
            <a:avLst/>
          </a:prstGeom>
          <a:solidFill>
            <a:srgbClr val="FFFFFF"/>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4" y="3200400"/>
            <a:ext cx="2560320" cy="365760"/>
          </a:xfrm>
          <a:prstGeom prst="rect">
            <a:avLst/>
          </a:prstGeom>
          <a:noFill/>
        </p:spPr>
        <p:txBody>
          <a:bodyPr wrap="square" anchor="ctr" lIns="45720" rIns="45720" tIns="18288" bIns="18288">
            <a:spAutoFit/>
          </a:bodyPr>
          <a:lstStyle/>
          <a:p>
            <a:pPr algn="ctr"/>
            <a:r>
              <a:rPr sz="1000" b="0">
                <a:solidFill>
                  <a:srgbClr val="6B7280"/>
                </a:solidFill>
                <a:latin typeface="Calibri"/>
              </a:rPr>
              <a:t>[mobile_trip_details.png]</a:t>
            </a:r>
          </a:p>
        </p:txBody>
      </p:sp>
      <p:sp>
        <p:nvSpPr>
          <p:cNvPr id="18" name="TextBox 17"/>
          <p:cNvSpPr txBox="1"/>
          <p:nvPr/>
        </p:nvSpPr>
        <p:spPr>
          <a:xfrm>
            <a:off x="6181344" y="5212079"/>
            <a:ext cx="2743200" cy="274320"/>
          </a:xfrm>
          <a:prstGeom prst="rect">
            <a:avLst/>
          </a:prstGeom>
          <a:noFill/>
        </p:spPr>
        <p:txBody>
          <a:bodyPr wrap="square" anchor="t" lIns="45720" rIns="45720" tIns="18288" bIns="18288">
            <a:spAutoFit/>
          </a:bodyPr>
          <a:lstStyle/>
          <a:p>
            <a:pPr algn="ctr"/>
            <a:r>
              <a:rPr sz="1100" b="1">
                <a:solidFill>
                  <a:srgbClr val="0A1628"/>
                </a:solidFill>
                <a:latin typeface="Calibri"/>
              </a:rPr>
              <a:t>Détail trajet + carte</a:t>
            </a:r>
          </a:p>
        </p:txBody>
      </p:sp>
      <p:sp>
        <p:nvSpPr>
          <p:cNvPr id="19" name="Rectangle 18"/>
          <p:cNvSpPr/>
          <p:nvPr/>
        </p:nvSpPr>
        <p:spPr>
          <a:xfrm>
            <a:off x="9043416" y="1463040"/>
            <a:ext cx="2743200" cy="40233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34856" y="1554480"/>
            <a:ext cx="2560320" cy="3657600"/>
          </a:xfrm>
          <a:prstGeom prst="rect">
            <a:avLst/>
          </a:prstGeom>
          <a:solidFill>
            <a:srgbClr val="FFFFFF"/>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4856" y="3200400"/>
            <a:ext cx="2560320" cy="365760"/>
          </a:xfrm>
          <a:prstGeom prst="rect">
            <a:avLst/>
          </a:prstGeom>
          <a:noFill/>
        </p:spPr>
        <p:txBody>
          <a:bodyPr wrap="square" anchor="ctr" lIns="45720" rIns="45720" tIns="18288" bIns="18288">
            <a:spAutoFit/>
          </a:bodyPr>
          <a:lstStyle/>
          <a:p>
            <a:pPr algn="ctr"/>
            <a:r>
              <a:rPr sz="1000" b="0">
                <a:solidFill>
                  <a:srgbClr val="6B7280"/>
                </a:solidFill>
                <a:latin typeface="Calibri"/>
              </a:rPr>
              <a:t>[mobile_driver_dashboard.png]</a:t>
            </a:r>
          </a:p>
        </p:txBody>
      </p:sp>
      <p:sp>
        <p:nvSpPr>
          <p:cNvPr id="22" name="TextBox 21"/>
          <p:cNvSpPr txBox="1"/>
          <p:nvPr/>
        </p:nvSpPr>
        <p:spPr>
          <a:xfrm>
            <a:off x="9043416" y="5212079"/>
            <a:ext cx="2743200" cy="274320"/>
          </a:xfrm>
          <a:prstGeom prst="rect">
            <a:avLst/>
          </a:prstGeom>
          <a:noFill/>
        </p:spPr>
        <p:txBody>
          <a:bodyPr wrap="square" anchor="t" lIns="45720" rIns="45720" tIns="18288" bIns="18288">
            <a:spAutoFit/>
          </a:bodyPr>
          <a:lstStyle/>
          <a:p>
            <a:pPr algn="ctr"/>
            <a:r>
              <a:rPr sz="1100" b="1">
                <a:solidFill>
                  <a:srgbClr val="0A1628"/>
                </a:solidFill>
                <a:latin typeface="Calibri"/>
              </a:rPr>
              <a:t>Tableau de bord conducteur</a:t>
            </a:r>
          </a:p>
        </p:txBody>
      </p:sp>
      <p:sp>
        <p:nvSpPr>
          <p:cNvPr id="23" name="TextBox 22"/>
          <p:cNvSpPr txBox="1"/>
          <p:nvPr/>
        </p:nvSpPr>
        <p:spPr>
          <a:xfrm>
            <a:off x="457200" y="5760720"/>
            <a:ext cx="11247120" cy="365760"/>
          </a:xfrm>
          <a:prstGeom prst="rect">
            <a:avLst/>
          </a:prstGeom>
          <a:noFill/>
        </p:spPr>
        <p:txBody>
          <a:bodyPr wrap="square" anchor="t" lIns="45720" rIns="45720" tIns="18288" bIns="18288">
            <a:spAutoFit/>
          </a:bodyPr>
          <a:lstStyle/>
          <a:p>
            <a:pPr algn="ctr"/>
            <a:r>
              <a:rPr sz="1200" b="0">
                <a:solidFill>
                  <a:srgbClr val="6B7280"/>
                </a:solidFill>
                <a:latin typeface="Calibri"/>
              </a:rPr>
              <a:t>Les équivalents web couvrent les mêmes parcours pour les utilisateurs desktop et le panneau d'administration.</a:t>
            </a:r>
          </a:p>
        </p:txBody>
      </p:sp>
      <p:sp>
        <p:nvSpPr>
          <p:cNvPr id="24" name="Rectangle 23"/>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26" name="TextBox 25"/>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FONCTIONNALITÉS MOBILES</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Ce que seul le mobile permet</a:t>
            </a:r>
          </a:p>
        </p:txBody>
      </p:sp>
      <p:sp>
        <p:nvSpPr>
          <p:cNvPr id="7" name="Rectangle 6"/>
          <p:cNvSpPr/>
          <p:nvPr/>
        </p:nvSpPr>
        <p:spPr>
          <a:xfrm>
            <a:off x="548640" y="1463040"/>
            <a:ext cx="5486400" cy="23317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73152" cy="23317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45920"/>
            <a:ext cx="5120640" cy="457200"/>
          </a:xfrm>
          <a:prstGeom prst="rect">
            <a:avLst/>
          </a:prstGeom>
          <a:noFill/>
        </p:spPr>
        <p:txBody>
          <a:bodyPr wrap="square" anchor="t" lIns="45720" rIns="45720" tIns="18288" bIns="18288">
            <a:spAutoFit/>
          </a:bodyPr>
          <a:lstStyle/>
          <a:p>
            <a:pPr algn="l"/>
            <a:r>
              <a:rPr sz="1800" b="1">
                <a:solidFill>
                  <a:srgbClr val="0A1628"/>
                </a:solidFill>
                <a:latin typeface="Calibri"/>
              </a:rPr>
              <a:t>Notifications push</a:t>
            </a:r>
          </a:p>
        </p:txBody>
      </p:sp>
      <p:sp>
        <p:nvSpPr>
          <p:cNvPr id="10" name="TextBox 9"/>
          <p:cNvSpPr txBox="1"/>
          <p:nvPr/>
        </p:nvSpPr>
        <p:spPr>
          <a:xfrm>
            <a:off x="777240" y="2240280"/>
            <a:ext cx="5120640" cy="1463040"/>
          </a:xfrm>
          <a:prstGeom prst="rect">
            <a:avLst/>
          </a:prstGeom>
          <a:noFill/>
        </p:spPr>
        <p:txBody>
          <a:bodyPr wrap="square" anchor="t" lIns="45720" rIns="45720" tIns="18288" bIns="18288">
            <a:spAutoFit/>
          </a:bodyPr>
          <a:lstStyle/>
          <a:p>
            <a:pPr algn="l"/>
            <a:r>
              <a:rPr sz="1200" b="0">
                <a:solidFill>
                  <a:srgbClr val="1F2A3D"/>
                </a:solidFill>
                <a:latin typeface="Calibri"/>
              </a:rPr>
              <a:t>Firebase Cloud Messaging livre les alertes de réservation, message et trajet même quand l'app est en arrière-plan.</a:t>
            </a:r>
          </a:p>
        </p:txBody>
      </p:sp>
      <p:sp>
        <p:nvSpPr>
          <p:cNvPr id="11" name="Rectangle 10"/>
          <p:cNvSpPr/>
          <p:nvPr/>
        </p:nvSpPr>
        <p:spPr>
          <a:xfrm>
            <a:off x="6172200" y="1463040"/>
            <a:ext cx="5486400" cy="23317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63040"/>
            <a:ext cx="73152" cy="23317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45920"/>
            <a:ext cx="5120640" cy="457200"/>
          </a:xfrm>
          <a:prstGeom prst="rect">
            <a:avLst/>
          </a:prstGeom>
          <a:noFill/>
        </p:spPr>
        <p:txBody>
          <a:bodyPr wrap="square" anchor="t" lIns="45720" rIns="45720" tIns="18288" bIns="18288">
            <a:spAutoFit/>
          </a:bodyPr>
          <a:lstStyle/>
          <a:p>
            <a:pPr algn="l"/>
            <a:r>
              <a:rPr sz="1800" b="1">
                <a:solidFill>
                  <a:srgbClr val="0A1628"/>
                </a:solidFill>
                <a:latin typeface="Calibri"/>
              </a:rPr>
              <a:t>Carte interactive</a:t>
            </a:r>
          </a:p>
        </p:txBody>
      </p:sp>
      <p:sp>
        <p:nvSpPr>
          <p:cNvPr id="14" name="TextBox 13"/>
          <p:cNvSpPr txBox="1"/>
          <p:nvPr/>
        </p:nvSpPr>
        <p:spPr>
          <a:xfrm>
            <a:off x="6400800" y="2240280"/>
            <a:ext cx="5120640" cy="1463040"/>
          </a:xfrm>
          <a:prstGeom prst="rect">
            <a:avLst/>
          </a:prstGeom>
          <a:noFill/>
        </p:spPr>
        <p:txBody>
          <a:bodyPr wrap="square" anchor="t" lIns="45720" rIns="45720" tIns="18288" bIns="18288">
            <a:spAutoFit/>
          </a:bodyPr>
          <a:lstStyle/>
          <a:p>
            <a:pPr algn="l"/>
            <a:r>
              <a:rPr sz="1200" b="0">
                <a:solidFill>
                  <a:srgbClr val="1F2A3D"/>
                </a:solidFill>
                <a:latin typeface="Calibri"/>
              </a:rPr>
              <a:t>Tuiles OpenStreetMap + routage OSRM pour tracer le trajet entre origine et destination sur chaque écran de détail.</a:t>
            </a:r>
          </a:p>
        </p:txBody>
      </p:sp>
      <p:sp>
        <p:nvSpPr>
          <p:cNvPr id="15" name="Rectangle 14"/>
          <p:cNvSpPr/>
          <p:nvPr/>
        </p:nvSpPr>
        <p:spPr>
          <a:xfrm>
            <a:off x="548640" y="3931920"/>
            <a:ext cx="5486400" cy="23317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31920"/>
            <a:ext cx="73152" cy="23317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14800"/>
            <a:ext cx="5120640" cy="457200"/>
          </a:xfrm>
          <a:prstGeom prst="rect">
            <a:avLst/>
          </a:prstGeom>
          <a:noFill/>
        </p:spPr>
        <p:txBody>
          <a:bodyPr wrap="square" anchor="t" lIns="45720" rIns="45720" tIns="18288" bIns="18288">
            <a:spAutoFit/>
          </a:bodyPr>
          <a:lstStyle/>
          <a:p>
            <a:pPr algn="l"/>
            <a:r>
              <a:rPr sz="1800" b="1">
                <a:solidFill>
                  <a:srgbClr val="0A1628"/>
                </a:solidFill>
                <a:latin typeface="Calibri"/>
              </a:rPr>
              <a:t>Messagerie temps réel</a:t>
            </a:r>
          </a:p>
        </p:txBody>
      </p:sp>
      <p:sp>
        <p:nvSpPr>
          <p:cNvPr id="18" name="TextBox 17"/>
          <p:cNvSpPr txBox="1"/>
          <p:nvPr/>
        </p:nvSpPr>
        <p:spPr>
          <a:xfrm>
            <a:off x="777240" y="4709160"/>
            <a:ext cx="5120640" cy="1463040"/>
          </a:xfrm>
          <a:prstGeom prst="rect">
            <a:avLst/>
          </a:prstGeom>
          <a:noFill/>
        </p:spPr>
        <p:txBody>
          <a:bodyPr wrap="square" anchor="t" lIns="45720" rIns="45720" tIns="18288" bIns="18288">
            <a:spAutoFit/>
          </a:bodyPr>
          <a:lstStyle/>
          <a:p>
            <a:pPr algn="l"/>
            <a:r>
              <a:rPr sz="1200" b="0">
                <a:solidFill>
                  <a:srgbClr val="1F2A3D"/>
                </a:solidFill>
                <a:latin typeface="Calibri"/>
              </a:rPr>
              <a:t>Conversations liées aux réservations — bulles, séparateurs par date, accusés de lecture. Polling 3 s, sans dépendance WebSocket.</a:t>
            </a:r>
          </a:p>
        </p:txBody>
      </p:sp>
      <p:sp>
        <p:nvSpPr>
          <p:cNvPr id="19" name="Rectangle 18"/>
          <p:cNvSpPr/>
          <p:nvPr/>
        </p:nvSpPr>
        <p:spPr>
          <a:xfrm>
            <a:off x="6172200" y="3931920"/>
            <a:ext cx="5486400" cy="23317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3931920"/>
            <a:ext cx="73152" cy="23317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114800"/>
            <a:ext cx="5120640" cy="457200"/>
          </a:xfrm>
          <a:prstGeom prst="rect">
            <a:avLst/>
          </a:prstGeom>
          <a:noFill/>
        </p:spPr>
        <p:txBody>
          <a:bodyPr wrap="square" anchor="t" lIns="45720" rIns="45720" tIns="18288" bIns="18288">
            <a:spAutoFit/>
          </a:bodyPr>
          <a:lstStyle/>
          <a:p>
            <a:pPr algn="l"/>
            <a:r>
              <a:rPr sz="1800" b="1">
                <a:solidFill>
                  <a:srgbClr val="0A1628"/>
                </a:solidFill>
                <a:latin typeface="Calibri"/>
              </a:rPr>
              <a:t>Multilingue + RTL</a:t>
            </a:r>
          </a:p>
        </p:txBody>
      </p:sp>
      <p:sp>
        <p:nvSpPr>
          <p:cNvPr id="22" name="TextBox 21"/>
          <p:cNvSpPr txBox="1"/>
          <p:nvPr/>
        </p:nvSpPr>
        <p:spPr>
          <a:xfrm>
            <a:off x="6400800" y="4709160"/>
            <a:ext cx="5120640" cy="1463040"/>
          </a:xfrm>
          <a:prstGeom prst="rect">
            <a:avLst/>
          </a:prstGeom>
          <a:noFill/>
        </p:spPr>
        <p:txBody>
          <a:bodyPr wrap="square" anchor="t" lIns="45720" rIns="45720" tIns="18288" bIns="18288">
            <a:spAutoFit/>
          </a:bodyPr>
          <a:lstStyle/>
          <a:p>
            <a:pPr algn="l"/>
            <a:r>
              <a:rPr sz="1200" b="0">
                <a:solidFill>
                  <a:srgbClr val="1F2A3D"/>
                </a:solidFill>
                <a:latin typeface="Calibri"/>
              </a:rPr>
              <a:t>FR / EN / AR avec bascule automatique en RTL pour l'arabe, sans aucun override manuel dans les widgets.</a:t>
            </a:r>
          </a:p>
        </p:txBody>
      </p:sp>
      <p:sp>
        <p:nvSpPr>
          <p:cNvPr id="23" name="Rectangle 22"/>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25" name="TextBox 24"/>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RÉALISATION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Pile technologique</a:t>
            </a:r>
          </a:p>
        </p:txBody>
      </p:sp>
      <p:sp>
        <p:nvSpPr>
          <p:cNvPr id="7" name="Rectangle 6"/>
          <p:cNvSpPr/>
          <p:nvPr/>
        </p:nvSpPr>
        <p:spPr>
          <a:xfrm>
            <a:off x="548640" y="1463040"/>
            <a:ext cx="3657600" cy="5943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3657600" cy="594360"/>
          </a:xfrm>
          <a:prstGeom prst="rect">
            <a:avLst/>
          </a:prstGeom>
          <a:noFill/>
        </p:spPr>
        <p:txBody>
          <a:bodyPr wrap="square" anchor="ctr" lIns="45720" rIns="45720" tIns="18288" bIns="18288">
            <a:spAutoFit/>
          </a:bodyPr>
          <a:lstStyle/>
          <a:p>
            <a:pPr algn="ctr"/>
            <a:r>
              <a:rPr sz="1600" b="1">
                <a:solidFill>
                  <a:srgbClr val="FFFFFF"/>
                </a:solidFill>
                <a:latin typeface="Calibri"/>
              </a:rPr>
              <a:t>Frontend web</a:t>
            </a:r>
          </a:p>
        </p:txBody>
      </p:sp>
      <p:sp>
        <p:nvSpPr>
          <p:cNvPr id="9" name="Rectangle 8"/>
          <p:cNvSpPr/>
          <p:nvPr/>
        </p:nvSpPr>
        <p:spPr>
          <a:xfrm>
            <a:off x="548640" y="2057400"/>
            <a:ext cx="3657600" cy="3977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40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PHP 8 (rendu serveur)</a:t>
            </a:r>
          </a:p>
        </p:txBody>
      </p:sp>
      <p:sp>
        <p:nvSpPr>
          <p:cNvPr id="11" name="TextBox 10"/>
          <p:cNvSpPr txBox="1"/>
          <p:nvPr/>
        </p:nvSpPr>
        <p:spPr>
          <a:xfrm>
            <a:off x="777240" y="2560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Routage, sessions, rendu des pages.</a:t>
            </a:r>
          </a:p>
        </p:txBody>
      </p:sp>
      <p:sp>
        <p:nvSpPr>
          <p:cNvPr id="12" name="TextBox 11"/>
          <p:cNvSpPr txBox="1"/>
          <p:nvPr/>
        </p:nvSpPr>
        <p:spPr>
          <a:xfrm>
            <a:off x="777240" y="3383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HTML5 + Bootstrap 5</a:t>
            </a:r>
          </a:p>
        </p:txBody>
      </p:sp>
      <p:sp>
        <p:nvSpPr>
          <p:cNvPr id="13" name="TextBox 12"/>
          <p:cNvSpPr txBox="1"/>
          <p:nvPr/>
        </p:nvSpPr>
        <p:spPr>
          <a:xfrm>
            <a:off x="777240" y="3703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Mise en page responsive, composants cohérents.</a:t>
            </a:r>
          </a:p>
        </p:txBody>
      </p:sp>
      <p:sp>
        <p:nvSpPr>
          <p:cNvPr id="14" name="TextBox 13"/>
          <p:cNvSpPr txBox="1"/>
          <p:nvPr/>
        </p:nvSpPr>
        <p:spPr>
          <a:xfrm>
            <a:off x="777240" y="4526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JavaScript vanille</a:t>
            </a:r>
          </a:p>
        </p:txBody>
      </p:sp>
      <p:sp>
        <p:nvSpPr>
          <p:cNvPr id="15" name="TextBox 14"/>
          <p:cNvSpPr txBox="1"/>
          <p:nvPr/>
        </p:nvSpPr>
        <p:spPr>
          <a:xfrm>
            <a:off x="777240" y="4846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Validation formulaires, AJAX, onglets admin.</a:t>
            </a:r>
          </a:p>
        </p:txBody>
      </p:sp>
      <p:sp>
        <p:nvSpPr>
          <p:cNvPr id="16" name="Rectangle 15"/>
          <p:cNvSpPr/>
          <p:nvPr/>
        </p:nvSpPr>
        <p:spPr>
          <a:xfrm>
            <a:off x="4389120" y="1463040"/>
            <a:ext cx="3657600" cy="594360"/>
          </a:xfrm>
          <a:prstGeom prst="rect">
            <a:avLst/>
          </a:prstGeom>
          <a:solidFill>
            <a:srgbClr val="D4A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1463040"/>
            <a:ext cx="3657600" cy="594360"/>
          </a:xfrm>
          <a:prstGeom prst="rect">
            <a:avLst/>
          </a:prstGeom>
          <a:noFill/>
        </p:spPr>
        <p:txBody>
          <a:bodyPr wrap="square" anchor="ctr" lIns="45720" rIns="45720" tIns="18288" bIns="18288">
            <a:spAutoFit/>
          </a:bodyPr>
          <a:lstStyle/>
          <a:p>
            <a:pPr algn="ctr"/>
            <a:r>
              <a:rPr sz="1600" b="1">
                <a:solidFill>
                  <a:srgbClr val="0A1628"/>
                </a:solidFill>
                <a:latin typeface="Calibri"/>
              </a:rPr>
              <a:t>Backend / données</a:t>
            </a:r>
          </a:p>
        </p:txBody>
      </p:sp>
      <p:sp>
        <p:nvSpPr>
          <p:cNvPr id="18" name="Rectangle 17"/>
          <p:cNvSpPr/>
          <p:nvPr/>
        </p:nvSpPr>
        <p:spPr>
          <a:xfrm>
            <a:off x="4389120" y="2057400"/>
            <a:ext cx="3657600" cy="3977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2240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API REST PHP</a:t>
            </a:r>
          </a:p>
        </p:txBody>
      </p:sp>
      <p:sp>
        <p:nvSpPr>
          <p:cNvPr id="20" name="TextBox 19"/>
          <p:cNvSpPr txBox="1"/>
          <p:nvPr/>
        </p:nvSpPr>
        <p:spPr>
          <a:xfrm>
            <a:off x="4617720" y="2560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Front-controller sous /api/, réponses JSON.</a:t>
            </a:r>
          </a:p>
        </p:txBody>
      </p:sp>
      <p:sp>
        <p:nvSpPr>
          <p:cNvPr id="21" name="TextBox 20"/>
          <p:cNvSpPr txBox="1"/>
          <p:nvPr/>
        </p:nvSpPr>
        <p:spPr>
          <a:xfrm>
            <a:off x="4617720" y="3383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PDO + bearer tokens</a:t>
            </a:r>
          </a:p>
        </p:txBody>
      </p:sp>
      <p:sp>
        <p:nvSpPr>
          <p:cNvPr id="22" name="TextBox 21"/>
          <p:cNvSpPr txBox="1"/>
          <p:nvPr/>
        </p:nvSpPr>
        <p:spPr>
          <a:xfrm>
            <a:off x="4617720" y="3703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Requêtes paramétrées, tokens hex 32 octets.</a:t>
            </a:r>
          </a:p>
        </p:txBody>
      </p:sp>
      <p:sp>
        <p:nvSpPr>
          <p:cNvPr id="23" name="TextBox 22"/>
          <p:cNvSpPr txBox="1"/>
          <p:nvPr/>
        </p:nvSpPr>
        <p:spPr>
          <a:xfrm>
            <a:off x="4617720" y="4526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SQLite (mode WAL)</a:t>
            </a:r>
          </a:p>
        </p:txBody>
      </p:sp>
      <p:sp>
        <p:nvSpPr>
          <p:cNvPr id="24" name="TextBox 23"/>
          <p:cNvSpPr txBox="1"/>
          <p:nvPr/>
        </p:nvSpPr>
        <p:spPr>
          <a:xfrm>
            <a:off x="4617720" y="4846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Fichier partagé entre web et mobile.</a:t>
            </a:r>
          </a:p>
        </p:txBody>
      </p:sp>
      <p:sp>
        <p:nvSpPr>
          <p:cNvPr id="25" name="Rectangle 24"/>
          <p:cNvSpPr/>
          <p:nvPr/>
        </p:nvSpPr>
        <p:spPr>
          <a:xfrm>
            <a:off x="8229600" y="1463040"/>
            <a:ext cx="3657600" cy="5943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463040"/>
            <a:ext cx="3657600" cy="594360"/>
          </a:xfrm>
          <a:prstGeom prst="rect">
            <a:avLst/>
          </a:prstGeom>
          <a:noFill/>
        </p:spPr>
        <p:txBody>
          <a:bodyPr wrap="square" anchor="ctr" lIns="45720" rIns="45720" tIns="18288" bIns="18288">
            <a:spAutoFit/>
          </a:bodyPr>
          <a:lstStyle/>
          <a:p>
            <a:pPr algn="ctr"/>
            <a:r>
              <a:rPr sz="1600" b="1">
                <a:solidFill>
                  <a:srgbClr val="FFFFFF"/>
                </a:solidFill>
                <a:latin typeface="Calibri"/>
              </a:rPr>
              <a:t>Mobile</a:t>
            </a:r>
          </a:p>
        </p:txBody>
      </p:sp>
      <p:sp>
        <p:nvSpPr>
          <p:cNvPr id="27" name="Rectangle 26"/>
          <p:cNvSpPr/>
          <p:nvPr/>
        </p:nvSpPr>
        <p:spPr>
          <a:xfrm>
            <a:off x="8229600" y="2057400"/>
            <a:ext cx="3657600" cy="3977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2240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Flutter (Dart)</a:t>
            </a:r>
          </a:p>
        </p:txBody>
      </p:sp>
      <p:sp>
        <p:nvSpPr>
          <p:cNvPr id="29" name="TextBox 28"/>
          <p:cNvSpPr txBox="1"/>
          <p:nvPr/>
        </p:nvSpPr>
        <p:spPr>
          <a:xfrm>
            <a:off x="8458200" y="2560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Un seul code, rendu natif sur Android et iOS.</a:t>
            </a:r>
          </a:p>
        </p:txBody>
      </p:sp>
      <p:sp>
        <p:nvSpPr>
          <p:cNvPr id="30" name="TextBox 29"/>
          <p:cNvSpPr txBox="1"/>
          <p:nvPr/>
        </p:nvSpPr>
        <p:spPr>
          <a:xfrm>
            <a:off x="8458200" y="3383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Provider + go_router</a:t>
            </a:r>
          </a:p>
        </p:txBody>
      </p:sp>
      <p:sp>
        <p:nvSpPr>
          <p:cNvPr id="31" name="TextBox 30"/>
          <p:cNvSpPr txBox="1"/>
          <p:nvPr/>
        </p:nvSpPr>
        <p:spPr>
          <a:xfrm>
            <a:off x="8458200" y="3703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Gestion d'état + navigation déclarative.</a:t>
            </a:r>
          </a:p>
        </p:txBody>
      </p:sp>
      <p:sp>
        <p:nvSpPr>
          <p:cNvPr id="32" name="TextBox 31"/>
          <p:cNvSpPr txBox="1"/>
          <p:nvPr/>
        </p:nvSpPr>
        <p:spPr>
          <a:xfrm>
            <a:off x="8458200" y="4526280"/>
            <a:ext cx="3291840" cy="320040"/>
          </a:xfrm>
          <a:prstGeom prst="rect">
            <a:avLst/>
          </a:prstGeom>
          <a:noFill/>
        </p:spPr>
        <p:txBody>
          <a:bodyPr wrap="square" anchor="t" lIns="45720" rIns="45720" tIns="18288" bIns="18288">
            <a:spAutoFit/>
          </a:bodyPr>
          <a:lstStyle/>
          <a:p>
            <a:pPr algn="l"/>
            <a:r>
              <a:rPr sz="1300" b="1">
                <a:solidFill>
                  <a:srgbClr val="0A1628"/>
                </a:solidFill>
                <a:latin typeface="Calibri"/>
              </a:rPr>
              <a:t>FCM, flutter_map, l10n</a:t>
            </a:r>
          </a:p>
        </p:txBody>
      </p:sp>
      <p:sp>
        <p:nvSpPr>
          <p:cNvPr id="33" name="TextBox 32"/>
          <p:cNvSpPr txBox="1"/>
          <p:nvPr/>
        </p:nvSpPr>
        <p:spPr>
          <a:xfrm>
            <a:off x="8458200" y="4846320"/>
            <a:ext cx="3291840" cy="640080"/>
          </a:xfrm>
          <a:prstGeom prst="rect">
            <a:avLst/>
          </a:prstGeom>
          <a:noFill/>
        </p:spPr>
        <p:txBody>
          <a:bodyPr wrap="square" anchor="t" lIns="45720" rIns="45720" tIns="18288" bIns="18288">
            <a:spAutoFit/>
          </a:bodyPr>
          <a:lstStyle/>
          <a:p>
            <a:pPr algn="l"/>
            <a:r>
              <a:rPr sz="1100" b="0">
                <a:solidFill>
                  <a:srgbClr val="1F2A3D"/>
                </a:solidFill>
                <a:latin typeface="Calibri"/>
              </a:rPr>
              <a:t>Push, carte OSM, FR/EN/AR avec RTL.</a:t>
            </a:r>
          </a:p>
        </p:txBody>
      </p:sp>
      <p:sp>
        <p:nvSpPr>
          <p:cNvPr id="34" name="Rectangle 33"/>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36" name="TextBox 35"/>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QUALITÉ</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Tests — en continu, pas reportés</a:t>
            </a:r>
          </a:p>
        </p:txBody>
      </p:sp>
      <p:sp>
        <p:nvSpPr>
          <p:cNvPr id="7" name="TextBox 6"/>
          <p:cNvSpPr txBox="1"/>
          <p:nvPr/>
        </p:nvSpPr>
        <p:spPr>
          <a:xfrm>
            <a:off x="640080" y="1554480"/>
            <a:ext cx="5029200" cy="365760"/>
          </a:xfrm>
          <a:prstGeom prst="rect">
            <a:avLst/>
          </a:prstGeom>
          <a:noFill/>
        </p:spPr>
        <p:txBody>
          <a:bodyPr wrap="square" anchor="t" lIns="45720" rIns="45720" tIns="18288" bIns="18288">
            <a:spAutoFit/>
          </a:bodyPr>
          <a:lstStyle/>
          <a:p>
            <a:pPr algn="l"/>
            <a:r>
              <a:rPr sz="1600" b="1">
                <a:solidFill>
                  <a:srgbClr val="0A1628"/>
                </a:solidFill>
                <a:latin typeface="Calibri"/>
              </a:rPr>
              <a:t>Stratégie</a:t>
            </a:r>
          </a:p>
        </p:txBody>
      </p:sp>
      <p:sp>
        <p:nvSpPr>
          <p:cNvPr id="8" name="TextBox 7"/>
          <p:cNvSpPr txBox="1"/>
          <p:nvPr/>
        </p:nvSpPr>
        <p:spPr>
          <a:xfrm>
            <a:off x="640080" y="1920240"/>
            <a:ext cx="5120640" cy="3657600"/>
          </a:xfrm>
          <a:prstGeom prst="rect">
            <a:avLst/>
          </a:prstGeom>
          <a:noFill/>
        </p:spPr>
        <p:txBody>
          <a:bodyPr wrap="square" lIns="45720">
            <a:spAutoFit/>
          </a:bodyPr>
          <a:lstStyle/>
          <a:p>
            <a:pPr algn="l">
              <a:lnSpc>
                <a:spcPct val="115000"/>
              </a:lnSpc>
              <a:spcAft>
                <a:spcPts val="400"/>
              </a:spcAft>
            </a:pPr>
            <a:r>
              <a:rPr sz="1200" b="1">
                <a:solidFill>
                  <a:srgbClr val="D4A43A"/>
                </a:solidFill>
                <a:latin typeface="Calibri"/>
              </a:rPr>
              <a:t>▸  </a:t>
            </a:r>
            <a:r>
              <a:rPr sz="1200">
                <a:solidFill>
                  <a:srgbClr val="1F2A3D"/>
                </a:solidFill>
                <a:latin typeface="Calibri"/>
              </a:rPr>
              <a:t>Tests unitaires sur le pipeline de prix, l'acompte, la machine à états des réservations.</a:t>
            </a:r>
          </a:p>
          <a:p>
            <a:pPr algn="l">
              <a:lnSpc>
                <a:spcPct val="115000"/>
              </a:lnSpc>
              <a:spcAft>
                <a:spcPts val="400"/>
              </a:spcAft>
            </a:pPr>
            <a:r>
              <a:rPr sz="1200" b="1">
                <a:solidFill>
                  <a:srgbClr val="D4A43A"/>
                </a:solidFill>
                <a:latin typeface="Calibri"/>
              </a:rPr>
              <a:t>▸  </a:t>
            </a:r>
            <a:r>
              <a:rPr sz="1200">
                <a:solidFill>
                  <a:srgbClr val="1F2A3D"/>
                </a:solidFill>
                <a:latin typeface="Calibri"/>
              </a:rPr>
              <a:t>Collections Postman rejouant les scénarios bout-en-bout après chaque changement.</a:t>
            </a:r>
          </a:p>
          <a:p>
            <a:pPr algn="l">
              <a:lnSpc>
                <a:spcPct val="115000"/>
              </a:lnSpc>
              <a:spcAft>
                <a:spcPts val="400"/>
              </a:spcAft>
            </a:pPr>
            <a:r>
              <a:rPr sz="1200" b="1">
                <a:solidFill>
                  <a:srgbClr val="D4A43A"/>
                </a:solidFill>
                <a:latin typeface="Calibri"/>
              </a:rPr>
              <a:t>▸  </a:t>
            </a:r>
            <a:r>
              <a:rPr sz="1200">
                <a:solidFill>
                  <a:srgbClr val="1F2A3D"/>
                </a:solidFill>
                <a:latin typeface="Calibri"/>
              </a:rPr>
              <a:t>Tests manuels multi-appareils sur trois téléphones Android.</a:t>
            </a:r>
          </a:p>
          <a:p>
            <a:pPr algn="l">
              <a:lnSpc>
                <a:spcPct val="115000"/>
              </a:lnSpc>
              <a:spcAft>
                <a:spcPts val="400"/>
              </a:spcAft>
            </a:pPr>
            <a:r>
              <a:rPr sz="1200" b="1">
                <a:solidFill>
                  <a:srgbClr val="D4A43A"/>
                </a:solidFill>
                <a:latin typeface="Calibri"/>
              </a:rPr>
              <a:t>▸  </a:t>
            </a:r>
            <a:r>
              <a:rPr sz="1200">
                <a:solidFill>
                  <a:srgbClr val="1F2A3D"/>
                </a:solidFill>
                <a:latin typeface="Calibri"/>
              </a:rPr>
              <a:t>Démo hebdomadaire avec l'encadrant pour repérer les soucis d'utilisabilité.</a:t>
            </a:r>
          </a:p>
        </p:txBody>
      </p:sp>
      <p:sp>
        <p:nvSpPr>
          <p:cNvPr id="9" name="TextBox 8"/>
          <p:cNvSpPr txBox="1"/>
          <p:nvPr/>
        </p:nvSpPr>
        <p:spPr>
          <a:xfrm>
            <a:off x="5943600" y="1554480"/>
            <a:ext cx="5760720" cy="365760"/>
          </a:xfrm>
          <a:prstGeom prst="rect">
            <a:avLst/>
          </a:prstGeom>
          <a:noFill/>
        </p:spPr>
        <p:txBody>
          <a:bodyPr wrap="square" anchor="t" lIns="45720" rIns="45720" tIns="18288" bIns="18288">
            <a:spAutoFit/>
          </a:bodyPr>
          <a:lstStyle/>
          <a:p>
            <a:pPr algn="l"/>
            <a:r>
              <a:rPr sz="1600" b="1">
                <a:solidFill>
                  <a:srgbClr val="0A1628"/>
                </a:solidFill>
                <a:latin typeface="Calibri"/>
              </a:rPr>
              <a:t>Résultats</a:t>
            </a:r>
          </a:p>
        </p:txBody>
      </p:sp>
      <p:graphicFrame>
        <p:nvGraphicFramePr>
          <p:cNvPr id="10" name="Table 9"/>
          <p:cNvGraphicFramePr>
            <a:graphicFrameLocks noGrp="1"/>
          </p:cNvGraphicFramePr>
          <p:nvPr/>
        </p:nvGraphicFramePr>
        <p:xfrm>
          <a:off x="5943600" y="1920240"/>
          <a:ext cx="5760720" cy="4297680"/>
        </p:xfrm>
        <a:graphic>
          <a:graphicData uri="http://schemas.openxmlformats.org/drawingml/2006/table">
            <a:tbl>
              <a:tblPr firstRow="1" bandRow="1">
                <a:tableStyleId>{5C22544A-7EE6-4342-B048-85BDC9FD1C3A}</a:tableStyleId>
              </a:tblPr>
              <a:tblGrid>
                <a:gridCol w="2880360"/>
                <a:gridCol w="2880360"/>
              </a:tblGrid>
              <a:tr h="390698">
                <a:tc>
                  <a:txBody>
                    <a:bodyPr lIns="73152" rIns="73152" tIns="36576" bIns="36576"/>
                    <a:lstStyle/>
                    <a:p>
                      <a:pPr algn="l"/>
                      <a:r>
                        <a:rPr sz="1100" b="1">
                          <a:solidFill>
                            <a:srgbClr val="FFFFFF"/>
                          </a:solidFill>
                          <a:latin typeface="Calibri"/>
                        </a:rPr>
                        <a:t>Scénario</a:t>
                      </a:r>
                    </a:p>
                  </a:txBody>
                  <a:tcPr>
                    <a:solidFill>
                      <a:srgbClr val="0A1628"/>
                    </a:solidFill>
                  </a:tcPr>
                </a:tc>
                <a:tc>
                  <a:txBody>
                    <a:bodyPr lIns="73152" rIns="73152" tIns="36576" bIns="36576"/>
                    <a:lstStyle/>
                    <a:p>
                      <a:pPr algn="l"/>
                      <a:r>
                        <a:rPr sz="1100" b="1">
                          <a:solidFill>
                            <a:srgbClr val="FFFFFF"/>
                          </a:solidFill>
                          <a:latin typeface="Calibri"/>
                        </a:rPr>
                        <a:t>Résultat</a:t>
                      </a:r>
                    </a:p>
                  </a:txBody>
                  <a:tcPr>
                    <a:solidFill>
                      <a:srgbClr val="0A1628"/>
                    </a:solidFill>
                  </a:tcPr>
                </a:tc>
              </a:tr>
              <a:tr h="390698">
                <a:tc>
                  <a:txBody>
                    <a:bodyPr lIns="73152" rIns="73152" tIns="36576" bIns="36576"/>
                    <a:lstStyle/>
                    <a:p>
                      <a:pPr algn="l"/>
                      <a:r>
                        <a:rPr sz="1100">
                          <a:solidFill>
                            <a:srgbClr val="1F2A3D"/>
                          </a:solidFill>
                          <a:latin typeface="Calibri"/>
                        </a:rPr>
                        <a:t>Inscription + OTP étudiant</a:t>
                      </a:r>
                    </a:p>
                  </a:txBody>
                  <a:tcPr>
                    <a:solidFill>
                      <a:srgbClr val="FFFFFF"/>
                    </a:solidFill>
                  </a:tcPr>
                </a:tc>
                <a:tc>
                  <a:txBody>
                    <a:bodyPr lIns="73152" rIns="73152" tIns="36576" bIns="36576"/>
                    <a:lstStyle/>
                    <a:p>
                      <a:pPr algn="l"/>
                      <a:r>
                        <a:rPr sz="1100">
                          <a:solidFill>
                            <a:srgbClr val="1F2A3D"/>
                          </a:solidFill>
                          <a:latin typeface="Calibri"/>
                        </a:rPr>
                        <a:t>✓ Réussi</a:t>
                      </a:r>
                    </a:p>
                  </a:txBody>
                  <a:tcPr>
                    <a:solidFill>
                      <a:srgbClr val="FFFFFF"/>
                    </a:solidFill>
                  </a:tcPr>
                </a:tc>
              </a:tr>
              <a:tr h="390698">
                <a:tc>
                  <a:txBody>
                    <a:bodyPr lIns="73152" rIns="73152" tIns="36576" bIns="36576"/>
                    <a:lstStyle/>
                    <a:p>
                      <a:pPr algn="l"/>
                      <a:r>
                        <a:rPr sz="1100">
                          <a:solidFill>
                            <a:srgbClr val="1F2A3D"/>
                          </a:solidFill>
                          <a:latin typeface="Calibri"/>
                        </a:rPr>
                        <a:t>Session par bearer token</a:t>
                      </a:r>
                    </a:p>
                  </a:txBody>
                  <a:tcPr>
                    <a:solidFill>
                      <a:srgbClr val="F3F4F6"/>
                    </a:solidFill>
                  </a:tcPr>
                </a:tc>
                <a:tc>
                  <a:txBody>
                    <a:bodyPr lIns="73152" rIns="73152" tIns="36576" bIns="36576"/>
                    <a:lstStyle/>
                    <a:p>
                      <a:pPr algn="l"/>
                      <a:r>
                        <a:rPr sz="1100">
                          <a:solidFill>
                            <a:srgbClr val="1F2A3D"/>
                          </a:solidFill>
                          <a:latin typeface="Calibri"/>
                        </a:rPr>
                        <a:t>✓ Réussi</a:t>
                      </a:r>
                    </a:p>
                  </a:txBody>
                  <a:tcPr>
                    <a:solidFill>
                      <a:srgbClr val="F3F4F6"/>
                    </a:solidFill>
                  </a:tcPr>
                </a:tc>
              </a:tr>
              <a:tr h="390698">
                <a:tc>
                  <a:txBody>
                    <a:bodyPr lIns="73152" rIns="73152" tIns="36576" bIns="36576"/>
                    <a:lstStyle/>
                    <a:p>
                      <a:pPr algn="l"/>
                      <a:r>
                        <a:rPr sz="1100">
                          <a:solidFill>
                            <a:srgbClr val="1F2A3D"/>
                          </a:solidFill>
                          <a:latin typeface="Calibri"/>
                        </a:rPr>
                        <a:t>Candidature conducteur + approbation</a:t>
                      </a:r>
                    </a:p>
                  </a:txBody>
                  <a:tcPr>
                    <a:solidFill>
                      <a:srgbClr val="FFFFFF"/>
                    </a:solidFill>
                  </a:tcPr>
                </a:tc>
                <a:tc>
                  <a:txBody>
                    <a:bodyPr lIns="73152" rIns="73152" tIns="36576" bIns="36576"/>
                    <a:lstStyle/>
                    <a:p>
                      <a:pPr algn="l"/>
                      <a:r>
                        <a:rPr sz="1100">
                          <a:solidFill>
                            <a:srgbClr val="1F2A3D"/>
                          </a:solidFill>
                          <a:latin typeface="Calibri"/>
                        </a:rPr>
                        <a:t>✓ Réussi</a:t>
                      </a:r>
                    </a:p>
                  </a:txBody>
                  <a:tcPr>
                    <a:solidFill>
                      <a:srgbClr val="FFFFFF"/>
                    </a:solidFill>
                  </a:tcPr>
                </a:tc>
              </a:tr>
              <a:tr h="390698">
                <a:tc>
                  <a:txBody>
                    <a:bodyPr lIns="73152" rIns="73152" tIns="36576" bIns="36576"/>
                    <a:lstStyle/>
                    <a:p>
                      <a:pPr algn="l"/>
                      <a:r>
                        <a:rPr sz="1100">
                          <a:solidFill>
                            <a:srgbClr val="1F2A3D"/>
                          </a:solidFill>
                          <a:latin typeface="Calibri"/>
                        </a:rPr>
                        <a:t>Publication / annulation d'un trajet</a:t>
                      </a:r>
                    </a:p>
                  </a:txBody>
                  <a:tcPr>
                    <a:solidFill>
                      <a:srgbClr val="F3F4F6"/>
                    </a:solidFill>
                  </a:tcPr>
                </a:tc>
                <a:tc>
                  <a:txBody>
                    <a:bodyPr lIns="73152" rIns="73152" tIns="36576" bIns="36576"/>
                    <a:lstStyle/>
                    <a:p>
                      <a:pPr algn="l"/>
                      <a:r>
                        <a:rPr sz="1100">
                          <a:solidFill>
                            <a:srgbClr val="1F2A3D"/>
                          </a:solidFill>
                          <a:latin typeface="Calibri"/>
                        </a:rPr>
                        <a:t>✓ Réussi</a:t>
                      </a:r>
                    </a:p>
                  </a:txBody>
                  <a:tcPr>
                    <a:solidFill>
                      <a:srgbClr val="F3F4F6"/>
                    </a:solidFill>
                  </a:tcPr>
                </a:tc>
              </a:tr>
              <a:tr h="390698">
                <a:tc>
                  <a:txBody>
                    <a:bodyPr lIns="73152" rIns="73152" tIns="36576" bIns="36576"/>
                    <a:lstStyle/>
                    <a:p>
                      <a:pPr algn="l"/>
                      <a:r>
                        <a:rPr sz="1100">
                          <a:solidFill>
                            <a:srgbClr val="1F2A3D"/>
                          </a:solidFill>
                          <a:latin typeface="Calibri"/>
                        </a:rPr>
                        <a:t>Réservation avec acompte 50 %</a:t>
                      </a:r>
                    </a:p>
                  </a:txBody>
                  <a:tcPr>
                    <a:solidFill>
                      <a:srgbClr val="FFFFFF"/>
                    </a:solidFill>
                  </a:tcPr>
                </a:tc>
                <a:tc>
                  <a:txBody>
                    <a:bodyPr lIns="73152" rIns="73152" tIns="36576" bIns="36576"/>
                    <a:lstStyle/>
                    <a:p>
                      <a:pPr algn="l"/>
                      <a:r>
                        <a:rPr sz="1100">
                          <a:solidFill>
                            <a:srgbClr val="1F2A3D"/>
                          </a:solidFill>
                          <a:latin typeface="Calibri"/>
                        </a:rPr>
                        <a:t>✓ Réussi</a:t>
                      </a:r>
                    </a:p>
                  </a:txBody>
                  <a:tcPr>
                    <a:solidFill>
                      <a:srgbClr val="FFFFFF"/>
                    </a:solidFill>
                  </a:tcPr>
                </a:tc>
              </a:tr>
              <a:tr h="390698">
                <a:tc>
                  <a:txBody>
                    <a:bodyPr lIns="73152" rIns="73152" tIns="36576" bIns="36576"/>
                    <a:lstStyle/>
                    <a:p>
                      <a:pPr algn="l"/>
                      <a:r>
                        <a:rPr sz="1100">
                          <a:solidFill>
                            <a:srgbClr val="1F2A3D"/>
                          </a:solidFill>
                          <a:latin typeface="Calibri"/>
                        </a:rPr>
                        <a:t>Réduction étudiante + code promo</a:t>
                      </a:r>
                    </a:p>
                  </a:txBody>
                  <a:tcPr>
                    <a:solidFill>
                      <a:srgbClr val="F3F4F6"/>
                    </a:solidFill>
                  </a:tcPr>
                </a:tc>
                <a:tc>
                  <a:txBody>
                    <a:bodyPr lIns="73152" rIns="73152" tIns="36576" bIns="36576"/>
                    <a:lstStyle/>
                    <a:p>
                      <a:pPr algn="l"/>
                      <a:r>
                        <a:rPr sz="1100">
                          <a:solidFill>
                            <a:srgbClr val="1F2A3D"/>
                          </a:solidFill>
                          <a:latin typeface="Calibri"/>
                        </a:rPr>
                        <a:t>✓ Réussi</a:t>
                      </a:r>
                    </a:p>
                  </a:txBody>
                  <a:tcPr>
                    <a:solidFill>
                      <a:srgbClr val="F3F4F6"/>
                    </a:solidFill>
                  </a:tcPr>
                </a:tc>
              </a:tr>
              <a:tr h="390698">
                <a:tc>
                  <a:txBody>
                    <a:bodyPr lIns="73152" rIns="73152" tIns="36576" bIns="36576"/>
                    <a:lstStyle/>
                    <a:p>
                      <a:pPr algn="l"/>
                      <a:r>
                        <a:rPr sz="1100">
                          <a:solidFill>
                            <a:srgbClr val="1F2A3D"/>
                          </a:solidFill>
                          <a:latin typeface="Calibri"/>
                        </a:rPr>
                        <a:t>Recharge + historique portefeuille</a:t>
                      </a:r>
                    </a:p>
                  </a:txBody>
                  <a:tcPr>
                    <a:solidFill>
                      <a:srgbClr val="FFFFFF"/>
                    </a:solidFill>
                  </a:tcPr>
                </a:tc>
                <a:tc>
                  <a:txBody>
                    <a:bodyPr lIns="73152" rIns="73152" tIns="36576" bIns="36576"/>
                    <a:lstStyle/>
                    <a:p>
                      <a:pPr algn="l"/>
                      <a:r>
                        <a:rPr sz="1100">
                          <a:solidFill>
                            <a:srgbClr val="1F2A3D"/>
                          </a:solidFill>
                          <a:latin typeface="Calibri"/>
                        </a:rPr>
                        <a:t>✓ Réussi</a:t>
                      </a:r>
                    </a:p>
                  </a:txBody>
                  <a:tcPr>
                    <a:solidFill>
                      <a:srgbClr val="FFFFFF"/>
                    </a:solidFill>
                  </a:tcPr>
                </a:tc>
              </a:tr>
              <a:tr h="390698">
                <a:tc>
                  <a:txBody>
                    <a:bodyPr lIns="73152" rIns="73152" tIns="36576" bIns="36576"/>
                    <a:lstStyle/>
                    <a:p>
                      <a:pPr algn="l"/>
                      <a:r>
                        <a:rPr sz="1100">
                          <a:solidFill>
                            <a:srgbClr val="1F2A3D"/>
                          </a:solidFill>
                          <a:latin typeface="Calibri"/>
                        </a:rPr>
                        <a:t>Notations + plaintes</a:t>
                      </a:r>
                    </a:p>
                  </a:txBody>
                  <a:tcPr>
                    <a:solidFill>
                      <a:srgbClr val="F3F4F6"/>
                    </a:solidFill>
                  </a:tcPr>
                </a:tc>
                <a:tc>
                  <a:txBody>
                    <a:bodyPr lIns="73152" rIns="73152" tIns="36576" bIns="36576"/>
                    <a:lstStyle/>
                    <a:p>
                      <a:pPr algn="l"/>
                      <a:r>
                        <a:rPr sz="1100">
                          <a:solidFill>
                            <a:srgbClr val="1F2A3D"/>
                          </a:solidFill>
                          <a:latin typeface="Calibri"/>
                        </a:rPr>
                        <a:t>✓ Réussi</a:t>
                      </a:r>
                    </a:p>
                  </a:txBody>
                  <a:tcPr>
                    <a:solidFill>
                      <a:srgbClr val="F3F4F6"/>
                    </a:solidFill>
                  </a:tcPr>
                </a:tc>
              </a:tr>
              <a:tr h="390698">
                <a:tc>
                  <a:txBody>
                    <a:bodyPr lIns="73152" rIns="73152" tIns="36576" bIns="36576"/>
                    <a:lstStyle/>
                    <a:p>
                      <a:pPr algn="l"/>
                      <a:r>
                        <a:rPr sz="1100">
                          <a:solidFill>
                            <a:srgbClr val="1F2A3D"/>
                          </a:solidFill>
                          <a:latin typeface="Calibri"/>
                        </a:rPr>
                        <a:t>Chat temps réel + push (FCM)</a:t>
                      </a:r>
                    </a:p>
                  </a:txBody>
                  <a:tcPr>
                    <a:solidFill>
                      <a:srgbClr val="FFFFFF"/>
                    </a:solidFill>
                  </a:tcPr>
                </a:tc>
                <a:tc>
                  <a:txBody>
                    <a:bodyPr lIns="73152" rIns="73152" tIns="36576" bIns="36576"/>
                    <a:lstStyle/>
                    <a:p>
                      <a:pPr algn="l"/>
                      <a:r>
                        <a:rPr sz="1100">
                          <a:solidFill>
                            <a:srgbClr val="1F2A3D"/>
                          </a:solidFill>
                          <a:latin typeface="Calibri"/>
                        </a:rPr>
                        <a:t>✓ Réussi</a:t>
                      </a:r>
                    </a:p>
                  </a:txBody>
                  <a:tcPr>
                    <a:solidFill>
                      <a:srgbClr val="FFFFFF"/>
                    </a:solidFill>
                  </a:tcPr>
                </a:tc>
              </a:tr>
              <a:tr h="390700">
                <a:tc>
                  <a:txBody>
                    <a:bodyPr lIns="73152" rIns="73152" tIns="36576" bIns="36576"/>
                    <a:lstStyle/>
                    <a:p>
                      <a:pPr algn="l"/>
                      <a:r>
                        <a:rPr sz="1100">
                          <a:solidFill>
                            <a:srgbClr val="1F2A3D"/>
                          </a:solidFill>
                          <a:latin typeface="Calibri"/>
                        </a:rPr>
                        <a:t>Multilingue + RTL</a:t>
                      </a:r>
                    </a:p>
                  </a:txBody>
                  <a:tcPr>
                    <a:solidFill>
                      <a:srgbClr val="F3F4F6"/>
                    </a:solidFill>
                  </a:tcPr>
                </a:tc>
                <a:tc>
                  <a:txBody>
                    <a:bodyPr lIns="73152" rIns="73152" tIns="36576" bIns="36576"/>
                    <a:lstStyle/>
                    <a:p>
                      <a:pPr algn="l"/>
                      <a:r>
                        <a:rPr sz="1100">
                          <a:solidFill>
                            <a:srgbClr val="1F2A3D"/>
                          </a:solidFill>
                          <a:latin typeface="Calibri"/>
                        </a:rPr>
                        <a:t>✓ Réussi</a:t>
                      </a:r>
                    </a:p>
                  </a:txBody>
                  <a:tcPr>
                    <a:solidFill>
                      <a:srgbClr val="F3F4F6"/>
                    </a:solidFill>
                  </a:tcPr>
                </a:tc>
              </a:tr>
            </a:tbl>
          </a:graphicData>
        </a:graphic>
      </p:graphicFrame>
      <p:sp>
        <p:nvSpPr>
          <p:cNvPr id="11" name="Rectangle 10"/>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3" name="TextBox 12"/>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365760" cy="73152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515600" cy="457200"/>
          </a:xfrm>
          <a:prstGeom prst="rect">
            <a:avLst/>
          </a:prstGeom>
          <a:noFill/>
        </p:spPr>
        <p:txBody>
          <a:bodyPr wrap="square" anchor="t" lIns="45720" rIns="45720" tIns="18288" bIns="18288">
            <a:spAutoFit/>
          </a:bodyPr>
          <a:lstStyle/>
          <a:p>
            <a:pPr algn="l"/>
            <a:r>
              <a:rPr sz="1800" b="1">
                <a:solidFill>
                  <a:srgbClr val="E8B84B"/>
                </a:solidFill>
                <a:latin typeface="Calibri"/>
              </a:rPr>
              <a:t>DÉMONSTRATION</a:t>
            </a:r>
          </a:p>
        </p:txBody>
      </p:sp>
      <p:sp>
        <p:nvSpPr>
          <p:cNvPr id="5" name="TextBox 4"/>
          <p:cNvSpPr txBox="1"/>
          <p:nvPr/>
        </p:nvSpPr>
        <p:spPr>
          <a:xfrm>
            <a:off x="914400" y="2743200"/>
            <a:ext cx="10515600" cy="1371600"/>
          </a:xfrm>
          <a:prstGeom prst="rect">
            <a:avLst/>
          </a:prstGeom>
          <a:noFill/>
        </p:spPr>
        <p:txBody>
          <a:bodyPr wrap="square" anchor="t" lIns="45720" rIns="45720" tIns="18288" bIns="18288">
            <a:spAutoFit/>
          </a:bodyPr>
          <a:lstStyle/>
          <a:p>
            <a:pPr algn="l"/>
            <a:r>
              <a:rPr sz="6400" b="1">
                <a:solidFill>
                  <a:srgbClr val="FFFFFF"/>
                </a:solidFill>
                <a:latin typeface="Calibri"/>
              </a:rPr>
              <a:t>ForsaDrive en action</a:t>
            </a:r>
          </a:p>
        </p:txBody>
      </p:sp>
      <p:sp>
        <p:nvSpPr>
          <p:cNvPr id="6" name="TextBox 5"/>
          <p:cNvSpPr txBox="1"/>
          <p:nvPr/>
        </p:nvSpPr>
        <p:spPr>
          <a:xfrm>
            <a:off x="914400" y="4297680"/>
            <a:ext cx="10515600" cy="640080"/>
          </a:xfrm>
          <a:prstGeom prst="rect">
            <a:avLst/>
          </a:prstGeom>
          <a:noFill/>
        </p:spPr>
        <p:txBody>
          <a:bodyPr wrap="square" anchor="t" lIns="45720" rIns="45720" tIns="18288" bIns="18288">
            <a:spAutoFit/>
          </a:bodyPr>
          <a:lstStyle/>
          <a:p>
            <a:pPr algn="l"/>
            <a:r>
              <a:rPr sz="1800" b="0">
                <a:solidFill>
                  <a:srgbClr val="FFF3CD"/>
                </a:solidFill>
                <a:latin typeface="Calibri"/>
              </a:rPr>
              <a:t>Parcours : inscription → vérification étudiante → recherche → réservation → acceptation conducteur → collecte cash.</a:t>
            </a:r>
          </a:p>
        </p:txBody>
      </p:sp>
      <p:sp>
        <p:nvSpPr>
          <p:cNvPr id="7" name="Rectangle 6"/>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9" name="TextBox 8"/>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ÉVALUATION HONNÊTE</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Limites &amp; feuille de route</a:t>
            </a:r>
          </a:p>
        </p:txBody>
      </p:sp>
      <p:sp>
        <p:nvSpPr>
          <p:cNvPr id="7" name="Rectangle 6"/>
          <p:cNvSpPr/>
          <p:nvPr/>
        </p:nvSpPr>
        <p:spPr>
          <a:xfrm>
            <a:off x="548640" y="1463040"/>
            <a:ext cx="5486400" cy="45720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5486400"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29200" cy="457200"/>
          </a:xfrm>
          <a:prstGeom prst="rect">
            <a:avLst/>
          </a:prstGeom>
          <a:noFill/>
        </p:spPr>
        <p:txBody>
          <a:bodyPr wrap="square" anchor="t" lIns="45720" rIns="45720" tIns="18288" bIns="18288">
            <a:spAutoFit/>
          </a:bodyPr>
          <a:lstStyle/>
          <a:p>
            <a:pPr algn="l"/>
            <a:r>
              <a:rPr sz="1600" b="1">
                <a:solidFill>
                  <a:srgbClr val="0A1628"/>
                </a:solidFill>
                <a:latin typeface="Calibri"/>
              </a:rPr>
              <a:t>Ce qui manque aujourd'hui</a:t>
            </a:r>
          </a:p>
        </p:txBody>
      </p:sp>
      <p:sp>
        <p:nvSpPr>
          <p:cNvPr id="10" name="TextBox 9"/>
          <p:cNvSpPr txBox="1"/>
          <p:nvPr/>
        </p:nvSpPr>
        <p:spPr>
          <a:xfrm>
            <a:off x="777240" y="2103120"/>
            <a:ext cx="5120640" cy="4114800"/>
          </a:xfrm>
          <a:prstGeom prst="rect">
            <a:avLst/>
          </a:prstGeom>
          <a:noFill/>
        </p:spPr>
        <p:txBody>
          <a:bodyPr wrap="square" lIns="45720">
            <a:spAutoFit/>
          </a:bodyPr>
          <a:lstStyle/>
          <a:p>
            <a:pPr algn="l">
              <a:lnSpc>
                <a:spcPct val="115000"/>
              </a:lnSpc>
              <a:spcAft>
                <a:spcPts val="400"/>
              </a:spcAft>
            </a:pPr>
            <a:r>
              <a:rPr sz="1200" b="1">
                <a:solidFill>
                  <a:srgbClr val="C0392B"/>
                </a:solidFill>
                <a:latin typeface="Calibri"/>
              </a:rPr>
              <a:t>▸  </a:t>
            </a:r>
            <a:r>
              <a:rPr sz="1200">
                <a:solidFill>
                  <a:srgbClr val="1F2A3D"/>
                </a:solidFill>
                <a:latin typeface="Calibri"/>
              </a:rPr>
              <a:t>Le portefeuille fonctionne par rechargement manuel — pas encore de vraie passerelle de paiement.</a:t>
            </a:r>
          </a:p>
          <a:p>
            <a:pPr algn="l">
              <a:lnSpc>
                <a:spcPct val="115000"/>
              </a:lnSpc>
              <a:spcAft>
                <a:spcPts val="400"/>
              </a:spcAft>
            </a:pPr>
            <a:r>
              <a:rPr sz="1200" b="1">
                <a:solidFill>
                  <a:srgbClr val="C0392B"/>
                </a:solidFill>
                <a:latin typeface="Calibri"/>
              </a:rPr>
              <a:t>▸  </a:t>
            </a:r>
            <a:r>
              <a:rPr sz="1200">
                <a:solidFill>
                  <a:srgbClr val="1F2A3D"/>
                </a:solidFill>
                <a:latin typeface="Calibri"/>
              </a:rPr>
              <a:t>SQLite convient au développement, pas à une production à fort trafic.</a:t>
            </a:r>
          </a:p>
          <a:p>
            <a:pPr algn="l">
              <a:lnSpc>
                <a:spcPct val="115000"/>
              </a:lnSpc>
              <a:spcAft>
                <a:spcPts val="400"/>
              </a:spcAft>
            </a:pPr>
            <a:r>
              <a:rPr sz="1200" b="1">
                <a:solidFill>
                  <a:srgbClr val="C0392B"/>
                </a:solidFill>
                <a:latin typeface="Calibri"/>
              </a:rPr>
              <a:t>▸  </a:t>
            </a:r>
            <a:r>
              <a:rPr sz="1200">
                <a:solidFill>
                  <a:srgbClr val="1F2A3D"/>
                </a:solidFill>
                <a:latin typeface="Calibri"/>
              </a:rPr>
              <a:t>Mobile testé uniquement sur Android — build iOS non vérifié.</a:t>
            </a:r>
          </a:p>
          <a:p>
            <a:pPr algn="l">
              <a:lnSpc>
                <a:spcPct val="115000"/>
              </a:lnSpc>
              <a:spcAft>
                <a:spcPts val="400"/>
              </a:spcAft>
            </a:pPr>
            <a:r>
              <a:rPr sz="1200" b="1">
                <a:solidFill>
                  <a:srgbClr val="C0392B"/>
                </a:solidFill>
                <a:latin typeface="Calibri"/>
              </a:rPr>
              <a:t>▸  </a:t>
            </a:r>
            <a:r>
              <a:rPr sz="1200">
                <a:solidFill>
                  <a:srgbClr val="1F2A3D"/>
                </a:solidFill>
                <a:latin typeface="Calibri"/>
              </a:rPr>
              <a:t>Pas encore de flux de mot de passe oublié par email.</a:t>
            </a:r>
          </a:p>
          <a:p>
            <a:pPr algn="l">
              <a:lnSpc>
                <a:spcPct val="115000"/>
              </a:lnSpc>
              <a:spcAft>
                <a:spcPts val="400"/>
              </a:spcAft>
            </a:pPr>
            <a:r>
              <a:rPr sz="1200" b="1">
                <a:solidFill>
                  <a:srgbClr val="C0392B"/>
                </a:solidFill>
                <a:latin typeface="Calibri"/>
              </a:rPr>
              <a:t>▸  </a:t>
            </a:r>
            <a:r>
              <a:rPr sz="1200">
                <a:solidFill>
                  <a:srgbClr val="1F2A3D"/>
                </a:solidFill>
                <a:latin typeface="Calibri"/>
              </a:rPr>
              <a:t>Les performances sous charge concurrente n'ont pas été mesurées.</a:t>
            </a:r>
          </a:p>
        </p:txBody>
      </p:sp>
      <p:sp>
        <p:nvSpPr>
          <p:cNvPr id="11" name="Rectangle 10"/>
          <p:cNvSpPr/>
          <p:nvPr/>
        </p:nvSpPr>
        <p:spPr>
          <a:xfrm>
            <a:off x="6126480" y="1463040"/>
            <a:ext cx="5486400" cy="457200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463040"/>
            <a:ext cx="5486400" cy="5486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600200"/>
            <a:ext cx="5029200" cy="457200"/>
          </a:xfrm>
          <a:prstGeom prst="rect">
            <a:avLst/>
          </a:prstGeom>
          <a:noFill/>
        </p:spPr>
        <p:txBody>
          <a:bodyPr wrap="square" anchor="t" lIns="45720" rIns="45720" tIns="18288" bIns="18288">
            <a:spAutoFit/>
          </a:bodyPr>
          <a:lstStyle/>
          <a:p>
            <a:pPr algn="l"/>
            <a:r>
              <a:rPr sz="1600" b="1">
                <a:solidFill>
                  <a:srgbClr val="0A1628"/>
                </a:solidFill>
                <a:latin typeface="Calibri"/>
              </a:rPr>
              <a:t>Étapes suivantes</a:t>
            </a:r>
          </a:p>
        </p:txBody>
      </p:sp>
      <p:sp>
        <p:nvSpPr>
          <p:cNvPr id="14" name="TextBox 13"/>
          <p:cNvSpPr txBox="1"/>
          <p:nvPr/>
        </p:nvSpPr>
        <p:spPr>
          <a:xfrm>
            <a:off x="6355080" y="2103120"/>
            <a:ext cx="5120640" cy="4114800"/>
          </a:xfrm>
          <a:prstGeom prst="rect">
            <a:avLst/>
          </a:prstGeom>
          <a:noFill/>
        </p:spPr>
        <p:txBody>
          <a:bodyPr wrap="square" lIns="45720">
            <a:spAutoFit/>
          </a:bodyPr>
          <a:lstStyle/>
          <a:p>
            <a:pPr algn="l">
              <a:lnSpc>
                <a:spcPct val="115000"/>
              </a:lnSpc>
              <a:spcAft>
                <a:spcPts val="400"/>
              </a:spcAft>
            </a:pPr>
            <a:r>
              <a:rPr sz="1200" b="1">
                <a:solidFill>
                  <a:srgbClr val="D4A43A"/>
                </a:solidFill>
                <a:latin typeface="Calibri"/>
              </a:rPr>
              <a:t>▸  </a:t>
            </a:r>
            <a:r>
              <a:rPr sz="1200">
                <a:solidFill>
                  <a:srgbClr val="1F2A3D"/>
                </a:solidFill>
                <a:latin typeface="Calibri"/>
              </a:rPr>
              <a:t>Migrer vers PostgreSQL ou MySQL pour la production.</a:t>
            </a:r>
          </a:p>
          <a:p>
            <a:pPr algn="l">
              <a:lnSpc>
                <a:spcPct val="115000"/>
              </a:lnSpc>
              <a:spcAft>
                <a:spcPts val="400"/>
              </a:spcAft>
            </a:pPr>
            <a:r>
              <a:rPr sz="1200" b="1">
                <a:solidFill>
                  <a:srgbClr val="D4A43A"/>
                </a:solidFill>
                <a:latin typeface="Calibri"/>
              </a:rPr>
              <a:t>▸  </a:t>
            </a:r>
            <a:r>
              <a:rPr sz="1200">
                <a:solidFill>
                  <a:srgbClr val="1F2A3D"/>
                </a:solidFill>
                <a:latin typeface="Calibri"/>
              </a:rPr>
              <a:t>Intégrer une passerelle de paiement tunisienne (Konnect ou Paymee).</a:t>
            </a:r>
          </a:p>
          <a:p>
            <a:pPr algn="l">
              <a:lnSpc>
                <a:spcPct val="115000"/>
              </a:lnSpc>
              <a:spcAft>
                <a:spcPts val="400"/>
              </a:spcAft>
            </a:pPr>
            <a:r>
              <a:rPr sz="1200" b="1">
                <a:solidFill>
                  <a:srgbClr val="D4A43A"/>
                </a:solidFill>
                <a:latin typeface="Calibri"/>
              </a:rPr>
              <a:t>▸  </a:t>
            </a:r>
            <a:r>
              <a:rPr sz="1200">
                <a:solidFill>
                  <a:srgbClr val="1F2A3D"/>
                </a:solidFill>
                <a:latin typeface="Calibri"/>
              </a:rPr>
              <a:t>Déployer le backend en HTTPS sur un VPS, sauvegardes automatisées.</a:t>
            </a:r>
          </a:p>
          <a:p>
            <a:pPr algn="l">
              <a:lnSpc>
                <a:spcPct val="115000"/>
              </a:lnSpc>
              <a:spcAft>
                <a:spcPts val="400"/>
              </a:spcAft>
            </a:pPr>
            <a:r>
              <a:rPr sz="1200" b="1">
                <a:solidFill>
                  <a:srgbClr val="D4A43A"/>
                </a:solidFill>
                <a:latin typeface="Calibri"/>
              </a:rPr>
              <a:t>▸  </a:t>
            </a:r>
            <a:r>
              <a:rPr sz="1200">
                <a:solidFill>
                  <a:srgbClr val="1F2A3D"/>
                </a:solidFill>
                <a:latin typeface="Calibri"/>
              </a:rPr>
              <a:t>Publier l'application Flutter sur le Google Play Store.</a:t>
            </a:r>
          </a:p>
          <a:p>
            <a:pPr algn="l">
              <a:lnSpc>
                <a:spcPct val="115000"/>
              </a:lnSpc>
              <a:spcAft>
                <a:spcPts val="400"/>
              </a:spcAft>
            </a:pPr>
            <a:r>
              <a:rPr sz="1200" b="1">
                <a:solidFill>
                  <a:srgbClr val="D4A43A"/>
                </a:solidFill>
                <a:latin typeface="Calibri"/>
              </a:rPr>
              <a:t>▸  </a:t>
            </a:r>
            <a:r>
              <a:rPr sz="1200">
                <a:solidFill>
                  <a:srgbClr val="1F2A3D"/>
                </a:solidFill>
                <a:latin typeface="Calibri"/>
              </a:rPr>
              <a:t>Ajouter 2FA pour conducteurs/admins + cache hors-ligne sur mobile.</a:t>
            </a:r>
          </a:p>
        </p:txBody>
      </p:sp>
      <p:sp>
        <p:nvSpPr>
          <p:cNvPr id="15" name="Rectangle 14"/>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7" name="TextBox 16"/>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365760" cy="13716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515600" cy="457200"/>
          </a:xfrm>
          <a:prstGeom prst="rect">
            <a:avLst/>
          </a:prstGeom>
          <a:noFill/>
        </p:spPr>
        <p:txBody>
          <a:bodyPr wrap="square" anchor="t" lIns="45720" rIns="45720" tIns="18288" bIns="18288">
            <a:spAutoFit/>
          </a:bodyPr>
          <a:lstStyle/>
          <a:p>
            <a:pPr algn="l"/>
            <a:r>
              <a:rPr sz="1400" b="1">
                <a:solidFill>
                  <a:srgbClr val="E8B84B"/>
                </a:solidFill>
                <a:latin typeface="Calibri"/>
              </a:rPr>
              <a:t>QUESTIONS &amp; DISCUSSION</a:t>
            </a:r>
          </a:p>
        </p:txBody>
      </p:sp>
      <p:sp>
        <p:nvSpPr>
          <p:cNvPr id="5" name="TextBox 4"/>
          <p:cNvSpPr txBox="1"/>
          <p:nvPr/>
        </p:nvSpPr>
        <p:spPr>
          <a:xfrm>
            <a:off x="914400" y="2834640"/>
            <a:ext cx="10515600" cy="1371600"/>
          </a:xfrm>
          <a:prstGeom prst="rect">
            <a:avLst/>
          </a:prstGeom>
          <a:noFill/>
        </p:spPr>
        <p:txBody>
          <a:bodyPr wrap="square" anchor="t" lIns="45720" rIns="45720" tIns="18288" bIns="18288">
            <a:spAutoFit/>
          </a:bodyPr>
          <a:lstStyle/>
          <a:p>
            <a:pPr algn="l"/>
            <a:r>
              <a:rPr sz="5800" b="1">
                <a:solidFill>
                  <a:srgbClr val="FFFFFF"/>
                </a:solidFill>
                <a:latin typeface="Calibri"/>
              </a:rPr>
              <a:t>Merci pour votre attention.</a:t>
            </a:r>
          </a:p>
        </p:txBody>
      </p:sp>
      <p:sp>
        <p:nvSpPr>
          <p:cNvPr id="6" name="TextBox 5"/>
          <p:cNvSpPr txBox="1"/>
          <p:nvPr/>
        </p:nvSpPr>
        <p:spPr>
          <a:xfrm>
            <a:off x="914400" y="4297680"/>
            <a:ext cx="10515600" cy="548640"/>
          </a:xfrm>
          <a:prstGeom prst="rect">
            <a:avLst/>
          </a:prstGeom>
          <a:noFill/>
        </p:spPr>
        <p:txBody>
          <a:bodyPr wrap="square" anchor="t" lIns="45720" rIns="45720" tIns="18288" bIns="18288">
            <a:spAutoFit/>
          </a:bodyPr>
          <a:lstStyle/>
          <a:p>
            <a:pPr algn="l"/>
            <a:r>
              <a:rPr sz="2000" b="0">
                <a:solidFill>
                  <a:srgbClr val="FFF3CD"/>
                </a:solidFill>
                <a:latin typeface="Calibri"/>
              </a:rPr>
              <a:t>Nous sommes prêts à répondre à vos questions.</a:t>
            </a:r>
          </a:p>
        </p:txBody>
      </p:sp>
      <p:sp>
        <p:nvSpPr>
          <p:cNvPr id="7" name="Rectangle 6"/>
          <p:cNvSpPr/>
          <p:nvPr/>
        </p:nvSpPr>
        <p:spPr>
          <a:xfrm>
            <a:off x="0" y="5943600"/>
            <a:ext cx="12191695" cy="594360"/>
          </a:xfrm>
          <a:prstGeom prst="rect">
            <a:avLst/>
          </a:prstGeom>
          <a:solidFill>
            <a:srgbClr val="06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989320"/>
            <a:ext cx="10972800" cy="502920"/>
          </a:xfrm>
          <a:prstGeom prst="rect">
            <a:avLst/>
          </a:prstGeom>
          <a:noFill/>
        </p:spPr>
        <p:txBody>
          <a:bodyPr wrap="square" anchor="ctr" lIns="45720" rIns="45720" tIns="18288" bIns="18288">
            <a:spAutoFit/>
          </a:bodyPr>
          <a:lstStyle/>
          <a:p>
            <a:pPr algn="ctr"/>
            <a:r>
              <a:rPr sz="1400" b="1">
                <a:solidFill>
                  <a:srgbClr val="E8B84B"/>
                </a:solidFill>
                <a:latin typeface="Calibri"/>
              </a:rPr>
              <a:t>Youssef BEN ABID  &amp;  Anas YOUNES   ·   ForsaDrive   ·   2025 — 2026</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21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320040" cy="13716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058400" cy="365760"/>
          </a:xfrm>
          <a:prstGeom prst="rect">
            <a:avLst/>
          </a:prstGeom>
          <a:noFill/>
        </p:spPr>
        <p:txBody>
          <a:bodyPr wrap="square" anchor="t" lIns="45720" rIns="45720" tIns="18288" bIns="18288">
            <a:spAutoFit/>
          </a:bodyPr>
          <a:lstStyle/>
          <a:p>
            <a:pPr algn="l"/>
            <a:r>
              <a:rPr sz="1400" b="1">
                <a:solidFill>
                  <a:srgbClr val="E8B84B"/>
                </a:solidFill>
                <a:latin typeface="Calibri"/>
              </a:rPr>
              <a:t>DIAPOSITIVES DE SECOURS</a:t>
            </a:r>
          </a:p>
        </p:txBody>
      </p:sp>
      <p:sp>
        <p:nvSpPr>
          <p:cNvPr id="5" name="TextBox 4"/>
          <p:cNvSpPr txBox="1"/>
          <p:nvPr/>
        </p:nvSpPr>
        <p:spPr>
          <a:xfrm>
            <a:off x="914400" y="2834640"/>
            <a:ext cx="10515600" cy="1097280"/>
          </a:xfrm>
          <a:prstGeom prst="rect">
            <a:avLst/>
          </a:prstGeom>
          <a:noFill/>
        </p:spPr>
        <p:txBody>
          <a:bodyPr wrap="square" anchor="t" lIns="45720" rIns="45720" tIns="18288" bIns="18288">
            <a:spAutoFit/>
          </a:bodyPr>
          <a:lstStyle/>
          <a:p>
            <a:pPr algn="l"/>
            <a:r>
              <a:rPr sz="4400" b="1">
                <a:solidFill>
                  <a:srgbClr val="FFFFFF"/>
                </a:solidFill>
                <a:latin typeface="Calibri"/>
              </a:rPr>
              <a:t>Annexes — pour les questions</a:t>
            </a:r>
          </a:p>
        </p:txBody>
      </p:sp>
      <p:sp>
        <p:nvSpPr>
          <p:cNvPr id="6" name="TextBox 5"/>
          <p:cNvSpPr txBox="1"/>
          <p:nvPr/>
        </p:nvSpPr>
        <p:spPr>
          <a:xfrm>
            <a:off x="914400" y="4297680"/>
            <a:ext cx="10515600" cy="457200"/>
          </a:xfrm>
          <a:prstGeom prst="rect">
            <a:avLst/>
          </a:prstGeom>
          <a:noFill/>
        </p:spPr>
        <p:txBody>
          <a:bodyPr wrap="square" anchor="t" lIns="45720" rIns="45720" tIns="18288" bIns="18288">
            <a:spAutoFit/>
          </a:bodyPr>
          <a:lstStyle/>
          <a:p>
            <a:pPr algn="l"/>
            <a:r>
              <a:rPr sz="1400" b="0">
                <a:solidFill>
                  <a:srgbClr val="FFF3CD"/>
                </a:solidFill>
                <a:latin typeface="Calibri"/>
              </a:rPr>
              <a:t>Les diapositives suivantes ne font pas partie de la présentation principale. Elles sont là au cas où le jury demanderait plus de détails.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A · FLUX DE RÉSERVATION</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Séquence — réservation par un passager</a:t>
            </a:r>
          </a:p>
        </p:txBody>
      </p:sp>
      <p:pic>
        <p:nvPicPr>
          <p:cNvPr id="7" name="Picture 6" descr="ForsaDrive_Sequence_BookRide.png"/>
          <p:cNvPicPr>
            <a:picLocks noChangeAspect="1"/>
          </p:cNvPicPr>
          <p:nvPr/>
        </p:nvPicPr>
        <p:blipFill>
          <a:blip r:embed="rId2"/>
          <a:stretch>
            <a:fillRect/>
          </a:stretch>
        </p:blipFill>
        <p:spPr>
          <a:xfrm>
            <a:off x="838047" y="1280160"/>
            <a:ext cx="10515600" cy="4937760"/>
          </a:xfrm>
          <a:prstGeom prst="rect">
            <a:avLst/>
          </a:prstGeom>
        </p:spPr>
      </p:pic>
      <p:sp>
        <p:nvSpPr>
          <p:cNvPr id="8" name="TextBox 7"/>
          <p:cNvSpPr txBox="1"/>
          <p:nvPr/>
        </p:nvSpPr>
        <p:spPr>
          <a:xfrm>
            <a:off x="640080" y="6355080"/>
            <a:ext cx="10972800" cy="365760"/>
          </a:xfrm>
          <a:prstGeom prst="rect">
            <a:avLst/>
          </a:prstGeom>
          <a:noFill/>
        </p:spPr>
        <p:txBody>
          <a:bodyPr wrap="square" anchor="t" lIns="45720" rIns="45720" tIns="18288" bIns="18288">
            <a:spAutoFit/>
          </a:bodyPr>
          <a:lstStyle/>
          <a:p>
            <a:pPr algn="ctr"/>
            <a:r>
              <a:rPr sz="1100" b="0">
                <a:solidFill>
                  <a:srgbClr val="6B7280"/>
                </a:solidFill>
                <a:latin typeface="Calibri"/>
              </a:rPr>
              <a:t>L'acompte est débité du portefeuille AVANT que la réservation ne soit créée — garantit qu'il n'y a pas de réservation orpheline.</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A / 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B · CONFIANCE</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Séquence — vérification étudiante par OTP</a:t>
            </a:r>
          </a:p>
        </p:txBody>
      </p:sp>
      <p:pic>
        <p:nvPicPr>
          <p:cNvPr id="7" name="Picture 6" descr="ForsaDrive_Sequence_VerifyStudent.png"/>
          <p:cNvPicPr>
            <a:picLocks noChangeAspect="1"/>
          </p:cNvPicPr>
          <p:nvPr/>
        </p:nvPicPr>
        <p:blipFill>
          <a:blip r:embed="rId2"/>
          <a:stretch>
            <a:fillRect/>
          </a:stretch>
        </p:blipFill>
        <p:spPr>
          <a:xfrm>
            <a:off x="838047" y="1280160"/>
            <a:ext cx="10515600" cy="4937760"/>
          </a:xfrm>
          <a:prstGeom prst="rect">
            <a:avLst/>
          </a:prstGeom>
        </p:spPr>
      </p:pic>
      <p:sp>
        <p:nvSpPr>
          <p:cNvPr id="8" name="TextBox 7"/>
          <p:cNvSpPr txBox="1"/>
          <p:nvPr/>
        </p:nvSpPr>
        <p:spPr>
          <a:xfrm>
            <a:off x="640080" y="6355080"/>
            <a:ext cx="10972800" cy="365760"/>
          </a:xfrm>
          <a:prstGeom prst="rect">
            <a:avLst/>
          </a:prstGeom>
          <a:noFill/>
        </p:spPr>
        <p:txBody>
          <a:bodyPr wrap="square" anchor="t" lIns="45720" rIns="45720" tIns="18288" bIns="18288">
            <a:spAutoFit/>
          </a:bodyPr>
          <a:lstStyle/>
          <a:p>
            <a:pPr algn="ctr"/>
            <a:r>
              <a:rPr sz="1100" b="0">
                <a:solidFill>
                  <a:srgbClr val="6B7280"/>
                </a:solidFill>
                <a:latin typeface="Calibri"/>
              </a:rPr>
              <a:t>Domaine vérifié dans student_domains • OTP à 6 chiffres, 10 min d'expiration, 5 tentatives max, 30 s entre deux envois.</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B / 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C · ONBOARDING</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Séquence — candidature conducteur &amp; approbation admin</a:t>
            </a:r>
          </a:p>
        </p:txBody>
      </p:sp>
      <p:sp>
        <p:nvSpPr>
          <p:cNvPr id="7" name="Rectangle 6"/>
          <p:cNvSpPr/>
          <p:nvPr/>
        </p:nvSpPr>
        <p:spPr>
          <a:xfrm>
            <a:off x="838047" y="1280160"/>
            <a:ext cx="10515600" cy="4937760"/>
          </a:xfrm>
          <a:prstGeom prst="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047" y="3566160"/>
            <a:ext cx="10515600" cy="365760"/>
          </a:xfrm>
          <a:prstGeom prst="rect">
            <a:avLst/>
          </a:prstGeom>
          <a:noFill/>
        </p:spPr>
        <p:txBody>
          <a:bodyPr wrap="square" anchor="ctr" lIns="45720" rIns="45720" tIns="18288" bIns="18288">
            <a:spAutoFit/>
          </a:bodyPr>
          <a:lstStyle/>
          <a:p>
            <a:pPr algn="ctr"/>
            <a:r>
              <a:rPr sz="1200" b="0">
                <a:solidFill>
                  <a:srgbClr val="6B7280"/>
                </a:solidFill>
                <a:latin typeface="Calibri"/>
              </a:rPr>
              <a:t>[image: ForsaDrive_Sequence_DriverApplication.png]</a:t>
            </a:r>
          </a:p>
        </p:txBody>
      </p:sp>
      <p:sp>
        <p:nvSpPr>
          <p:cNvPr id="9" name="TextBox 8"/>
          <p:cNvSpPr txBox="1"/>
          <p:nvPr/>
        </p:nvSpPr>
        <p:spPr>
          <a:xfrm>
            <a:off x="640080" y="6355080"/>
            <a:ext cx="10972800" cy="365760"/>
          </a:xfrm>
          <a:prstGeom prst="rect">
            <a:avLst/>
          </a:prstGeom>
          <a:noFill/>
        </p:spPr>
        <p:txBody>
          <a:bodyPr wrap="square" anchor="t" lIns="45720" rIns="45720" tIns="18288" bIns="18288">
            <a:spAutoFit/>
          </a:bodyPr>
          <a:lstStyle/>
          <a:p>
            <a:pPr algn="ctr"/>
            <a:r>
              <a:rPr sz="1100" b="0">
                <a:solidFill>
                  <a:srgbClr val="6B7280"/>
                </a:solidFill>
                <a:latin typeface="Calibri"/>
              </a:rPr>
              <a:t>À l'approbation : DriverProfile + Véhicule sont créés et le rôle utilisateur passe à DRIVER de manière atomique.</a:t>
            </a:r>
          </a:p>
        </p:txBody>
      </p:sp>
      <p:sp>
        <p:nvSpPr>
          <p:cNvPr id="10" name="Rectangle 9"/>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2" name="TextBox 11"/>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C / 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D · CYCLE COMPLET</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Diagramme d'activité — parcours complet de réservation</a:t>
            </a:r>
          </a:p>
        </p:txBody>
      </p:sp>
      <p:pic>
        <p:nvPicPr>
          <p:cNvPr id="7" name="Picture 6" descr="ForsaDrive_Activity_BookingFlow.png"/>
          <p:cNvPicPr>
            <a:picLocks noChangeAspect="1"/>
          </p:cNvPicPr>
          <p:nvPr/>
        </p:nvPicPr>
        <p:blipFill>
          <a:blip r:embed="rId2"/>
          <a:stretch>
            <a:fillRect/>
          </a:stretch>
        </p:blipFill>
        <p:spPr>
          <a:xfrm>
            <a:off x="838047" y="1280160"/>
            <a:ext cx="10515600" cy="4937760"/>
          </a:xfrm>
          <a:prstGeom prst="rect">
            <a:avLst/>
          </a:prstGeom>
        </p:spPr>
      </p:pic>
      <p:sp>
        <p:nvSpPr>
          <p:cNvPr id="8" name="TextBox 7"/>
          <p:cNvSpPr txBox="1"/>
          <p:nvPr/>
        </p:nvSpPr>
        <p:spPr>
          <a:xfrm>
            <a:off x="640080" y="6355080"/>
            <a:ext cx="10972800" cy="365760"/>
          </a:xfrm>
          <a:prstGeom prst="rect">
            <a:avLst/>
          </a:prstGeom>
          <a:noFill/>
        </p:spPr>
        <p:txBody>
          <a:bodyPr wrap="square" anchor="t" lIns="45720" rIns="45720" tIns="18288" bIns="18288">
            <a:spAutoFit/>
          </a:bodyPr>
          <a:lstStyle/>
          <a:p>
            <a:pPr algn="ctr"/>
            <a:r>
              <a:rPr sz="1100" b="0">
                <a:solidFill>
                  <a:srgbClr val="6B7280"/>
                </a:solidFill>
                <a:latin typeface="Calibri"/>
              </a:rPr>
              <a:t>Trois couloirs : passager / système / conducteur. Décisions : réessayer le paiement, accepter/refuser, départ, arrivée, collecte cash.</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D / 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E · RÈGLE MÉTIER</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Pipeline de calcul du prix</a:t>
            </a:r>
          </a:p>
        </p:txBody>
      </p:sp>
      <p:sp>
        <p:nvSpPr>
          <p:cNvPr id="7" name="TextBox 6"/>
          <p:cNvSpPr txBox="1"/>
          <p:nvPr/>
        </p:nvSpPr>
        <p:spPr>
          <a:xfrm>
            <a:off x="640080" y="1463040"/>
            <a:ext cx="10972800" cy="457200"/>
          </a:xfrm>
          <a:prstGeom prst="rect">
            <a:avLst/>
          </a:prstGeom>
          <a:noFill/>
        </p:spPr>
        <p:txBody>
          <a:bodyPr wrap="square" anchor="t" lIns="45720" rIns="45720" tIns="18288" bIns="18288">
            <a:spAutoFit/>
          </a:bodyPr>
          <a:lstStyle/>
          <a:p>
            <a:pPr algn="l"/>
            <a:r>
              <a:rPr sz="1400" b="0">
                <a:solidFill>
                  <a:srgbClr val="1F2A3D"/>
                </a:solidFill>
                <a:latin typeface="Calibri"/>
              </a:rPr>
              <a:t>L'ordre compte. Revu et validé avec l'encadrant.</a:t>
            </a:r>
          </a:p>
        </p:txBody>
      </p:sp>
      <p:sp>
        <p:nvSpPr>
          <p:cNvPr id="8" name="Rectangle 7"/>
          <p:cNvSpPr/>
          <p:nvPr/>
        </p:nvSpPr>
        <p:spPr>
          <a:xfrm>
            <a:off x="914400" y="2194560"/>
            <a:ext cx="457200" cy="4572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457200" cy="457200"/>
          </a:xfrm>
          <a:prstGeom prst="rect">
            <a:avLst/>
          </a:prstGeom>
          <a:noFill/>
        </p:spPr>
        <p:txBody>
          <a:bodyPr wrap="square" anchor="ctr" lIns="45720" rIns="45720" tIns="18288" bIns="18288">
            <a:spAutoFit/>
          </a:bodyPr>
          <a:lstStyle/>
          <a:p>
            <a:pPr algn="ctr"/>
            <a:r>
              <a:rPr sz="1600" b="1">
                <a:solidFill>
                  <a:srgbClr val="0A1628"/>
                </a:solidFill>
                <a:latin typeface="Calibri"/>
              </a:rPr>
              <a:t>1</a:t>
            </a:r>
          </a:p>
        </p:txBody>
      </p:sp>
      <p:sp>
        <p:nvSpPr>
          <p:cNvPr id="10" name="TextBox 9"/>
          <p:cNvSpPr txBox="1"/>
          <p:nvPr/>
        </p:nvSpPr>
        <p:spPr>
          <a:xfrm>
            <a:off x="1554480" y="2212848"/>
            <a:ext cx="2743200" cy="320040"/>
          </a:xfrm>
          <a:prstGeom prst="rect">
            <a:avLst/>
          </a:prstGeom>
          <a:noFill/>
        </p:spPr>
        <p:txBody>
          <a:bodyPr wrap="square" anchor="t" lIns="45720" rIns="45720" tIns="18288" bIns="18288">
            <a:spAutoFit/>
          </a:bodyPr>
          <a:lstStyle/>
          <a:p>
            <a:pPr algn="l"/>
            <a:r>
              <a:rPr sz="1400" b="1">
                <a:solidFill>
                  <a:srgbClr val="0A1628"/>
                </a:solidFill>
                <a:latin typeface="Calibri"/>
              </a:rPr>
              <a:t>prix de base</a:t>
            </a:r>
          </a:p>
        </p:txBody>
      </p:sp>
      <p:sp>
        <p:nvSpPr>
          <p:cNvPr id="11" name="TextBox 10"/>
          <p:cNvSpPr txBox="1"/>
          <p:nvPr/>
        </p:nvSpPr>
        <p:spPr>
          <a:xfrm>
            <a:off x="4572000" y="2240280"/>
            <a:ext cx="6858000" cy="365760"/>
          </a:xfrm>
          <a:prstGeom prst="rect">
            <a:avLst/>
          </a:prstGeom>
          <a:noFill/>
        </p:spPr>
        <p:txBody>
          <a:bodyPr wrap="square" anchor="t" lIns="45720" rIns="45720" tIns="18288" bIns="18288">
            <a:spAutoFit/>
          </a:bodyPr>
          <a:lstStyle/>
          <a:p>
            <a:pPr algn="l"/>
            <a:r>
              <a:rPr sz="1300" b="0">
                <a:solidFill>
                  <a:srgbClr val="1F2A3D"/>
                </a:solidFill>
                <a:latin typeface="Consolas"/>
              </a:rPr>
              <a:t>price_per_seat × seats_booked</a:t>
            </a:r>
          </a:p>
        </p:txBody>
      </p:sp>
      <p:sp>
        <p:nvSpPr>
          <p:cNvPr id="12" name="Rectangle 11"/>
          <p:cNvSpPr/>
          <p:nvPr/>
        </p:nvSpPr>
        <p:spPr>
          <a:xfrm>
            <a:off x="914400" y="2834640"/>
            <a:ext cx="457200" cy="4572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34640"/>
            <a:ext cx="457200" cy="457200"/>
          </a:xfrm>
          <a:prstGeom prst="rect">
            <a:avLst/>
          </a:prstGeom>
          <a:noFill/>
        </p:spPr>
        <p:txBody>
          <a:bodyPr wrap="square" anchor="ctr" lIns="45720" rIns="45720" tIns="18288" bIns="18288">
            <a:spAutoFit/>
          </a:bodyPr>
          <a:lstStyle/>
          <a:p>
            <a:pPr algn="ctr"/>
            <a:r>
              <a:rPr sz="1600" b="1">
                <a:solidFill>
                  <a:srgbClr val="0A1628"/>
                </a:solidFill>
                <a:latin typeface="Calibri"/>
              </a:rPr>
              <a:t>2</a:t>
            </a:r>
          </a:p>
        </p:txBody>
      </p:sp>
      <p:sp>
        <p:nvSpPr>
          <p:cNvPr id="14" name="TextBox 13"/>
          <p:cNvSpPr txBox="1"/>
          <p:nvPr/>
        </p:nvSpPr>
        <p:spPr>
          <a:xfrm>
            <a:off x="1554480" y="2852928"/>
            <a:ext cx="2743200" cy="320040"/>
          </a:xfrm>
          <a:prstGeom prst="rect">
            <a:avLst/>
          </a:prstGeom>
          <a:noFill/>
        </p:spPr>
        <p:txBody>
          <a:bodyPr wrap="square" anchor="t" lIns="45720" rIns="45720" tIns="18288" bIns="18288">
            <a:spAutoFit/>
          </a:bodyPr>
          <a:lstStyle/>
          <a:p>
            <a:pPr algn="l"/>
            <a:r>
              <a:rPr sz="1400" b="1">
                <a:solidFill>
                  <a:srgbClr val="0A1628"/>
                </a:solidFill>
                <a:latin typeface="Calibri"/>
              </a:rPr>
              <a:t>réduction étudiante</a:t>
            </a:r>
          </a:p>
        </p:txBody>
      </p:sp>
      <p:sp>
        <p:nvSpPr>
          <p:cNvPr id="15" name="TextBox 14"/>
          <p:cNvSpPr txBox="1"/>
          <p:nvPr/>
        </p:nvSpPr>
        <p:spPr>
          <a:xfrm>
            <a:off x="4572000" y="2880360"/>
            <a:ext cx="6858000" cy="365760"/>
          </a:xfrm>
          <a:prstGeom prst="rect">
            <a:avLst/>
          </a:prstGeom>
          <a:noFill/>
        </p:spPr>
        <p:txBody>
          <a:bodyPr wrap="square" anchor="t" lIns="45720" rIns="45720" tIns="18288" bIns="18288">
            <a:spAutoFit/>
          </a:bodyPr>
          <a:lstStyle/>
          <a:p>
            <a:pPr algn="l"/>
            <a:r>
              <a:rPr sz="1300" b="0">
                <a:solidFill>
                  <a:srgbClr val="1F2A3D"/>
                </a:solidFill>
                <a:latin typeface="Consolas"/>
              </a:rPr>
              <a:t>si is_student_verified : price × 0.5</a:t>
            </a:r>
          </a:p>
        </p:txBody>
      </p:sp>
      <p:sp>
        <p:nvSpPr>
          <p:cNvPr id="16" name="Rectangle 15"/>
          <p:cNvSpPr/>
          <p:nvPr/>
        </p:nvSpPr>
        <p:spPr>
          <a:xfrm>
            <a:off x="914400" y="3474720"/>
            <a:ext cx="457200" cy="4572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74720"/>
            <a:ext cx="457200" cy="457200"/>
          </a:xfrm>
          <a:prstGeom prst="rect">
            <a:avLst/>
          </a:prstGeom>
          <a:noFill/>
        </p:spPr>
        <p:txBody>
          <a:bodyPr wrap="square" anchor="ctr" lIns="45720" rIns="45720" tIns="18288" bIns="18288">
            <a:spAutoFit/>
          </a:bodyPr>
          <a:lstStyle/>
          <a:p>
            <a:pPr algn="ctr"/>
            <a:r>
              <a:rPr sz="1600" b="1">
                <a:solidFill>
                  <a:srgbClr val="0A1628"/>
                </a:solidFill>
                <a:latin typeface="Calibri"/>
              </a:rPr>
              <a:t>3</a:t>
            </a:r>
          </a:p>
        </p:txBody>
      </p:sp>
      <p:sp>
        <p:nvSpPr>
          <p:cNvPr id="18" name="TextBox 17"/>
          <p:cNvSpPr txBox="1"/>
          <p:nvPr/>
        </p:nvSpPr>
        <p:spPr>
          <a:xfrm>
            <a:off x="1554480" y="3493008"/>
            <a:ext cx="2743200" cy="320040"/>
          </a:xfrm>
          <a:prstGeom prst="rect">
            <a:avLst/>
          </a:prstGeom>
          <a:noFill/>
        </p:spPr>
        <p:txBody>
          <a:bodyPr wrap="square" anchor="t" lIns="45720" rIns="45720" tIns="18288" bIns="18288">
            <a:spAutoFit/>
          </a:bodyPr>
          <a:lstStyle/>
          <a:p>
            <a:pPr algn="l"/>
            <a:r>
              <a:rPr sz="1400" b="1">
                <a:solidFill>
                  <a:srgbClr val="0A1628"/>
                </a:solidFill>
                <a:latin typeface="Calibri"/>
              </a:rPr>
              <a:t>code promo</a:t>
            </a:r>
          </a:p>
        </p:txBody>
      </p:sp>
      <p:sp>
        <p:nvSpPr>
          <p:cNvPr id="19" name="TextBox 18"/>
          <p:cNvSpPr txBox="1"/>
          <p:nvPr/>
        </p:nvSpPr>
        <p:spPr>
          <a:xfrm>
            <a:off x="4572000" y="3520440"/>
            <a:ext cx="6858000" cy="365760"/>
          </a:xfrm>
          <a:prstGeom prst="rect">
            <a:avLst/>
          </a:prstGeom>
          <a:noFill/>
        </p:spPr>
        <p:txBody>
          <a:bodyPr wrap="square" anchor="t" lIns="45720" rIns="45720" tIns="18288" bIns="18288">
            <a:spAutoFit/>
          </a:bodyPr>
          <a:lstStyle/>
          <a:p>
            <a:pPr algn="l"/>
            <a:r>
              <a:rPr sz="1300" b="0">
                <a:solidFill>
                  <a:srgbClr val="1F2A3D"/>
                </a:solidFill>
                <a:latin typeface="Consolas"/>
              </a:rPr>
              <a:t>si code org valide : price × (1 − pct/100)</a:t>
            </a:r>
          </a:p>
        </p:txBody>
      </p:sp>
      <p:sp>
        <p:nvSpPr>
          <p:cNvPr id="20" name="Rectangle 19"/>
          <p:cNvSpPr/>
          <p:nvPr/>
        </p:nvSpPr>
        <p:spPr>
          <a:xfrm>
            <a:off x="914400" y="4114800"/>
            <a:ext cx="457200" cy="4572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114800"/>
            <a:ext cx="457200" cy="457200"/>
          </a:xfrm>
          <a:prstGeom prst="rect">
            <a:avLst/>
          </a:prstGeom>
          <a:noFill/>
        </p:spPr>
        <p:txBody>
          <a:bodyPr wrap="square" anchor="ctr" lIns="45720" rIns="45720" tIns="18288" bIns="18288">
            <a:spAutoFit/>
          </a:bodyPr>
          <a:lstStyle/>
          <a:p>
            <a:pPr algn="ctr"/>
            <a:r>
              <a:rPr sz="1600" b="1">
                <a:solidFill>
                  <a:srgbClr val="0A1628"/>
                </a:solidFill>
                <a:latin typeface="Calibri"/>
              </a:rPr>
              <a:t>4</a:t>
            </a:r>
          </a:p>
        </p:txBody>
      </p:sp>
      <p:sp>
        <p:nvSpPr>
          <p:cNvPr id="22" name="TextBox 21"/>
          <p:cNvSpPr txBox="1"/>
          <p:nvPr/>
        </p:nvSpPr>
        <p:spPr>
          <a:xfrm>
            <a:off x="1554480" y="4133088"/>
            <a:ext cx="2743200" cy="320040"/>
          </a:xfrm>
          <a:prstGeom prst="rect">
            <a:avLst/>
          </a:prstGeom>
          <a:noFill/>
        </p:spPr>
        <p:txBody>
          <a:bodyPr wrap="square" anchor="t" lIns="45720" rIns="45720" tIns="18288" bIns="18288">
            <a:spAutoFit/>
          </a:bodyPr>
          <a:lstStyle/>
          <a:p>
            <a:pPr algn="l"/>
            <a:r>
              <a:rPr sz="1400" b="1">
                <a:solidFill>
                  <a:srgbClr val="0A1628"/>
                </a:solidFill>
                <a:latin typeface="Calibri"/>
              </a:rPr>
              <a:t>acompte</a:t>
            </a:r>
          </a:p>
        </p:txBody>
      </p:sp>
      <p:sp>
        <p:nvSpPr>
          <p:cNvPr id="23" name="TextBox 22"/>
          <p:cNvSpPr txBox="1"/>
          <p:nvPr/>
        </p:nvSpPr>
        <p:spPr>
          <a:xfrm>
            <a:off x="4572000" y="4160520"/>
            <a:ext cx="6858000" cy="365760"/>
          </a:xfrm>
          <a:prstGeom prst="rect">
            <a:avLst/>
          </a:prstGeom>
          <a:noFill/>
        </p:spPr>
        <p:txBody>
          <a:bodyPr wrap="square" anchor="t" lIns="45720" rIns="45720" tIns="18288" bIns="18288">
            <a:spAutoFit/>
          </a:bodyPr>
          <a:lstStyle/>
          <a:p>
            <a:pPr algn="l"/>
            <a:r>
              <a:rPr sz="1300" b="0">
                <a:solidFill>
                  <a:srgbClr val="1F2A3D"/>
                </a:solidFill>
                <a:latin typeface="Consolas"/>
              </a:rPr>
              <a:t>prepayment = price × 0.5</a:t>
            </a:r>
          </a:p>
        </p:txBody>
      </p:sp>
      <p:sp>
        <p:nvSpPr>
          <p:cNvPr id="24" name="Rectangle 23"/>
          <p:cNvSpPr/>
          <p:nvPr/>
        </p:nvSpPr>
        <p:spPr>
          <a:xfrm>
            <a:off x="914400" y="4754880"/>
            <a:ext cx="457200" cy="4572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754880"/>
            <a:ext cx="457200" cy="457200"/>
          </a:xfrm>
          <a:prstGeom prst="rect">
            <a:avLst/>
          </a:prstGeom>
          <a:noFill/>
        </p:spPr>
        <p:txBody>
          <a:bodyPr wrap="square" anchor="ctr" lIns="45720" rIns="45720" tIns="18288" bIns="18288">
            <a:spAutoFit/>
          </a:bodyPr>
          <a:lstStyle/>
          <a:p>
            <a:pPr algn="ctr"/>
            <a:r>
              <a:rPr sz="1600" b="1">
                <a:solidFill>
                  <a:srgbClr val="0A1628"/>
                </a:solidFill>
                <a:latin typeface="Calibri"/>
              </a:rPr>
              <a:t>5</a:t>
            </a:r>
          </a:p>
        </p:txBody>
      </p:sp>
      <p:sp>
        <p:nvSpPr>
          <p:cNvPr id="26" name="TextBox 25"/>
          <p:cNvSpPr txBox="1"/>
          <p:nvPr/>
        </p:nvSpPr>
        <p:spPr>
          <a:xfrm>
            <a:off x="1554480" y="4773168"/>
            <a:ext cx="2743200" cy="320040"/>
          </a:xfrm>
          <a:prstGeom prst="rect">
            <a:avLst/>
          </a:prstGeom>
          <a:noFill/>
        </p:spPr>
        <p:txBody>
          <a:bodyPr wrap="square" anchor="t" lIns="45720" rIns="45720" tIns="18288" bIns="18288">
            <a:spAutoFit/>
          </a:bodyPr>
          <a:lstStyle/>
          <a:p>
            <a:pPr algn="l"/>
            <a:r>
              <a:rPr sz="1400" b="1">
                <a:solidFill>
                  <a:srgbClr val="0A1628"/>
                </a:solidFill>
                <a:latin typeface="Calibri"/>
              </a:rPr>
              <a:t>persister</a:t>
            </a:r>
          </a:p>
        </p:txBody>
      </p:sp>
      <p:sp>
        <p:nvSpPr>
          <p:cNvPr id="27" name="TextBox 26"/>
          <p:cNvSpPr txBox="1"/>
          <p:nvPr/>
        </p:nvSpPr>
        <p:spPr>
          <a:xfrm>
            <a:off x="4572000" y="4800600"/>
            <a:ext cx="6858000" cy="365760"/>
          </a:xfrm>
          <a:prstGeom prst="rect">
            <a:avLst/>
          </a:prstGeom>
          <a:noFill/>
        </p:spPr>
        <p:txBody>
          <a:bodyPr wrap="square" anchor="t" lIns="45720" rIns="45720" tIns="18288" bIns="18288">
            <a:spAutoFit/>
          </a:bodyPr>
          <a:lstStyle/>
          <a:p>
            <a:pPr algn="l"/>
            <a:r>
              <a:rPr sz="1300" b="0">
                <a:solidFill>
                  <a:srgbClr val="1F2A3D"/>
                </a:solidFill>
                <a:latin typeface="Consolas"/>
              </a:rPr>
              <a:t>stocker les 5 valeurs sur la ligne booking</a:t>
            </a:r>
          </a:p>
        </p:txBody>
      </p:sp>
      <p:sp>
        <p:nvSpPr>
          <p:cNvPr id="28" name="Rectangle 27"/>
          <p:cNvSpPr/>
          <p:nvPr/>
        </p:nvSpPr>
        <p:spPr>
          <a:xfrm>
            <a:off x="640080" y="5760720"/>
            <a:ext cx="10972800" cy="457200"/>
          </a:xfrm>
          <a:prstGeom prst="rect">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806440"/>
            <a:ext cx="10789920" cy="365760"/>
          </a:xfrm>
          <a:prstGeom prst="rect">
            <a:avLst/>
          </a:prstGeom>
          <a:noFill/>
        </p:spPr>
        <p:txBody>
          <a:bodyPr wrap="square" anchor="ctr" lIns="45720" rIns="45720" tIns="18288" bIns="18288">
            <a:spAutoFit/>
          </a:bodyPr>
          <a:lstStyle/>
          <a:p>
            <a:pPr algn="l"/>
            <a:r>
              <a:rPr sz="1200" b="1">
                <a:solidFill>
                  <a:srgbClr val="0A1628"/>
                </a:solidFill>
                <a:latin typeface="Calibri"/>
              </a:rPr>
              <a:t>Bug détecté en revue de Sprint 3 : étapes 2 et 3 inversées. Corrigé le soir même, verrouillé par un test unitaire.</a:t>
            </a:r>
          </a:p>
        </p:txBody>
      </p:sp>
      <p:sp>
        <p:nvSpPr>
          <p:cNvPr id="30" name="Rectangle 29"/>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32" name="TextBox 31"/>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E / 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F · MODÈLE DE DONNÉES</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Schéma relationnel principal (extrait)</a:t>
            </a:r>
          </a:p>
        </p:txBody>
      </p:sp>
      <p:graphicFrame>
        <p:nvGraphicFramePr>
          <p:cNvPr id="7" name="Table 6"/>
          <p:cNvGraphicFramePr>
            <a:graphicFrameLocks noGrp="1"/>
          </p:cNvGraphicFramePr>
          <p:nvPr/>
        </p:nvGraphicFramePr>
        <p:xfrm>
          <a:off x="457200" y="1463040"/>
          <a:ext cx="11247120" cy="4389120"/>
        </p:xfrm>
        <a:graphic>
          <a:graphicData uri="http://schemas.openxmlformats.org/drawingml/2006/table">
            <a:tbl>
              <a:tblPr firstRow="1" bandRow="1">
                <a:tableStyleId>{5C22544A-7EE6-4342-B048-85BDC9FD1C3A}</a:tableStyleId>
              </a:tblPr>
              <a:tblGrid>
                <a:gridCol w="5623560"/>
                <a:gridCol w="5623560"/>
              </a:tblGrid>
              <a:tr h="365760">
                <a:tc>
                  <a:txBody>
                    <a:bodyPr lIns="73152" rIns="73152" tIns="36576" bIns="36576"/>
                    <a:lstStyle/>
                    <a:p>
                      <a:pPr algn="l"/>
                      <a:r>
                        <a:rPr sz="1100" b="1">
                          <a:solidFill>
                            <a:srgbClr val="FFFFFF"/>
                          </a:solidFill>
                          <a:latin typeface="Calibri"/>
                        </a:rPr>
                        <a:t>Table</a:t>
                      </a:r>
                    </a:p>
                  </a:txBody>
                  <a:tcPr>
                    <a:solidFill>
                      <a:srgbClr val="0A1628"/>
                    </a:solidFill>
                  </a:tcPr>
                </a:tc>
                <a:tc>
                  <a:txBody>
                    <a:bodyPr lIns="73152" rIns="73152" tIns="36576" bIns="36576"/>
                    <a:lstStyle/>
                    <a:p>
                      <a:pPr algn="l"/>
                      <a:r>
                        <a:rPr sz="1100" b="1">
                          <a:solidFill>
                            <a:srgbClr val="FFFFFF"/>
                          </a:solidFill>
                          <a:latin typeface="Calibri"/>
                        </a:rPr>
                        <a:t>Colonnes</a:t>
                      </a:r>
                    </a:p>
                  </a:txBody>
                  <a:tcPr>
                    <a:solidFill>
                      <a:srgbClr val="0A1628"/>
                    </a:solidFill>
                  </a:tcPr>
                </a:tc>
              </a:tr>
              <a:tr h="365760">
                <a:tc>
                  <a:txBody>
                    <a:bodyPr lIns="73152" rIns="73152" tIns="36576" bIns="36576"/>
                    <a:lstStyle/>
                    <a:p>
                      <a:pPr algn="l"/>
                      <a:r>
                        <a:rPr sz="1000">
                          <a:solidFill>
                            <a:srgbClr val="1F2A3D"/>
                          </a:solidFill>
                          <a:latin typeface="Calibri"/>
                        </a:rPr>
                        <a:t>users</a:t>
                      </a:r>
                    </a:p>
                  </a:txBody>
                  <a:tcPr>
                    <a:solidFill>
                      <a:srgbClr val="FFFFFF"/>
                    </a:solidFill>
                  </a:tcPr>
                </a:tc>
                <a:tc>
                  <a:txBody>
                    <a:bodyPr lIns="73152" rIns="73152" tIns="36576" bIns="36576"/>
                    <a:lstStyle/>
                    <a:p>
                      <a:pPr algn="l"/>
                      <a:r>
                        <a:rPr sz="1000">
                          <a:solidFill>
                            <a:srgbClr val="1F2A3D"/>
                          </a:solidFill>
                          <a:latin typeface="Calibri"/>
                        </a:rPr>
                        <a:t>id, username, email, password, is_driver, is_student, balance, score</a:t>
                      </a:r>
                    </a:p>
                  </a:txBody>
                  <a:tcPr>
                    <a:solidFill>
                      <a:srgbClr val="FFFFFF"/>
                    </a:solidFill>
                  </a:tcPr>
                </a:tc>
              </a:tr>
              <a:tr h="365760">
                <a:tc>
                  <a:txBody>
                    <a:bodyPr lIns="73152" rIns="73152" tIns="36576" bIns="36576"/>
                    <a:lstStyle/>
                    <a:p>
                      <a:pPr algn="l"/>
                      <a:r>
                        <a:rPr sz="1000">
                          <a:solidFill>
                            <a:srgbClr val="1F2A3D"/>
                          </a:solidFill>
                          <a:latin typeface="Calibri"/>
                        </a:rPr>
                        <a:t>driver_profiles</a:t>
                      </a:r>
                    </a:p>
                  </a:txBody>
                  <a:tcPr>
                    <a:solidFill>
                      <a:srgbClr val="F3F4F6"/>
                    </a:solidFill>
                  </a:tcPr>
                </a:tc>
                <a:tc>
                  <a:txBody>
                    <a:bodyPr lIns="73152" rIns="73152" tIns="36576" bIns="36576"/>
                    <a:lstStyle/>
                    <a:p>
                      <a:pPr algn="l"/>
                      <a:r>
                        <a:rPr sz="1000">
                          <a:solidFill>
                            <a:srgbClr val="1F2A3D"/>
                          </a:solidFill>
                          <a:latin typeface="Calibri"/>
                        </a:rPr>
                        <a:t>id, user_id*, license_number, avg_rating, total_trips, reliability</a:t>
                      </a:r>
                    </a:p>
                  </a:txBody>
                  <a:tcPr>
                    <a:solidFill>
                      <a:srgbClr val="F3F4F6"/>
                    </a:solidFill>
                  </a:tcPr>
                </a:tc>
              </a:tr>
              <a:tr h="365760">
                <a:tc>
                  <a:txBody>
                    <a:bodyPr lIns="73152" rIns="73152" tIns="36576" bIns="36576"/>
                    <a:lstStyle/>
                    <a:p>
                      <a:pPr algn="l"/>
                      <a:r>
                        <a:rPr sz="1000">
                          <a:solidFill>
                            <a:srgbClr val="1F2A3D"/>
                          </a:solidFill>
                          <a:latin typeface="Calibri"/>
                        </a:rPr>
                        <a:t>vehicles</a:t>
                      </a:r>
                    </a:p>
                  </a:txBody>
                  <a:tcPr>
                    <a:solidFill>
                      <a:srgbClr val="FFFFFF"/>
                    </a:solidFill>
                  </a:tcPr>
                </a:tc>
                <a:tc>
                  <a:txBody>
                    <a:bodyPr lIns="73152" rIns="73152" tIns="36576" bIns="36576"/>
                    <a:lstStyle/>
                    <a:p>
                      <a:pPr algn="l"/>
                      <a:r>
                        <a:rPr sz="1000">
                          <a:solidFill>
                            <a:srgbClr val="1F2A3D"/>
                          </a:solidFill>
                          <a:latin typeface="Calibri"/>
                        </a:rPr>
                        <a:t>id, user_id*, type, make, model, plate_number, seats, has_ac, has_wifi</a:t>
                      </a:r>
                    </a:p>
                  </a:txBody>
                  <a:tcPr>
                    <a:solidFill>
                      <a:srgbClr val="FFFFFF"/>
                    </a:solidFill>
                  </a:tcPr>
                </a:tc>
              </a:tr>
              <a:tr h="365760">
                <a:tc>
                  <a:txBody>
                    <a:bodyPr lIns="73152" rIns="73152" tIns="36576" bIns="36576"/>
                    <a:lstStyle/>
                    <a:p>
                      <a:pPr algn="l"/>
                      <a:r>
                        <a:rPr sz="1000">
                          <a:solidFill>
                            <a:srgbClr val="1F2A3D"/>
                          </a:solidFill>
                          <a:latin typeface="Calibri"/>
                        </a:rPr>
                        <a:t>rides</a:t>
                      </a:r>
                    </a:p>
                  </a:txBody>
                  <a:tcPr>
                    <a:solidFill>
                      <a:srgbClr val="F3F4F6"/>
                    </a:solidFill>
                  </a:tcPr>
                </a:tc>
                <a:tc>
                  <a:txBody>
                    <a:bodyPr lIns="73152" rIns="73152" tIns="36576" bIns="36576"/>
                    <a:lstStyle/>
                    <a:p>
                      <a:pPr algn="l"/>
                      <a:r>
                        <a:rPr sz="1000">
                          <a:solidFill>
                            <a:srgbClr val="1F2A3D"/>
                          </a:solidFill>
                          <a:latin typeface="Calibri"/>
                        </a:rPr>
                        <a:t>id, driver_id*, vehicle_id*, from_location, to_location, departure_time, price, available_seats, status</a:t>
                      </a:r>
                    </a:p>
                  </a:txBody>
                  <a:tcPr>
                    <a:solidFill>
                      <a:srgbClr val="F3F4F6"/>
                    </a:solidFill>
                  </a:tcPr>
                </a:tc>
              </a:tr>
              <a:tr h="365760">
                <a:tc>
                  <a:txBody>
                    <a:bodyPr lIns="73152" rIns="73152" tIns="36576" bIns="36576"/>
                    <a:lstStyle/>
                    <a:p>
                      <a:pPr algn="l"/>
                      <a:r>
                        <a:rPr sz="1000">
                          <a:solidFill>
                            <a:srgbClr val="1F2A3D"/>
                          </a:solidFill>
                          <a:latin typeface="Calibri"/>
                        </a:rPr>
                        <a:t>bookings</a:t>
                      </a:r>
                    </a:p>
                  </a:txBody>
                  <a:tcPr>
                    <a:solidFill>
                      <a:srgbClr val="FFFFFF"/>
                    </a:solidFill>
                  </a:tcPr>
                </a:tc>
                <a:tc>
                  <a:txBody>
                    <a:bodyPr lIns="73152" rIns="73152" tIns="36576" bIns="36576"/>
                    <a:lstStyle/>
                    <a:p>
                      <a:pPr algn="l"/>
                      <a:r>
                        <a:rPr sz="1000">
                          <a:solidFill>
                            <a:srgbClr val="1F2A3D"/>
                          </a:solidFill>
                          <a:latin typeface="Calibri"/>
                        </a:rPr>
                        <a:t>id, ride_id*, passenger_id*, seats, paid_amount, status</a:t>
                      </a:r>
                    </a:p>
                  </a:txBody>
                  <a:tcPr>
                    <a:solidFill>
                      <a:srgbClr val="FFFFFF"/>
                    </a:solidFill>
                  </a:tcPr>
                </a:tc>
              </a:tr>
              <a:tr h="365760">
                <a:tc>
                  <a:txBody>
                    <a:bodyPr lIns="73152" rIns="73152" tIns="36576" bIns="36576"/>
                    <a:lstStyle/>
                    <a:p>
                      <a:pPr algn="l"/>
                      <a:r>
                        <a:rPr sz="1000">
                          <a:solidFill>
                            <a:srgbClr val="1F2A3D"/>
                          </a:solidFill>
                          <a:latin typeface="Calibri"/>
                        </a:rPr>
                        <a:t>payments</a:t>
                      </a:r>
                    </a:p>
                  </a:txBody>
                  <a:tcPr>
                    <a:solidFill>
                      <a:srgbClr val="F3F4F6"/>
                    </a:solidFill>
                  </a:tcPr>
                </a:tc>
                <a:tc>
                  <a:txBody>
                    <a:bodyPr lIns="73152" rIns="73152" tIns="36576" bIns="36576"/>
                    <a:lstStyle/>
                    <a:p>
                      <a:pPr algn="l"/>
                      <a:r>
                        <a:rPr sz="1000">
                          <a:solidFill>
                            <a:srgbClr val="1F2A3D"/>
                          </a:solidFill>
                          <a:latin typeface="Calibri"/>
                        </a:rPr>
                        <a:t>id, user_id*, amount, type, description, ref_id</a:t>
                      </a:r>
                    </a:p>
                  </a:txBody>
                  <a:tcPr>
                    <a:solidFill>
                      <a:srgbClr val="F3F4F6"/>
                    </a:solidFill>
                  </a:tcPr>
                </a:tc>
              </a:tr>
              <a:tr h="365760">
                <a:tc>
                  <a:txBody>
                    <a:bodyPr lIns="73152" rIns="73152" tIns="36576" bIns="36576"/>
                    <a:lstStyle/>
                    <a:p>
                      <a:pPr algn="l"/>
                      <a:r>
                        <a:rPr sz="1000">
                          <a:solidFill>
                            <a:srgbClr val="1F2A3D"/>
                          </a:solidFill>
                          <a:latin typeface="Calibri"/>
                        </a:rPr>
                        <a:t>ratings</a:t>
                      </a:r>
                    </a:p>
                  </a:txBody>
                  <a:tcPr>
                    <a:solidFill>
                      <a:srgbClr val="FFFFFF"/>
                    </a:solidFill>
                  </a:tcPr>
                </a:tc>
                <a:tc>
                  <a:txBody>
                    <a:bodyPr lIns="73152" rIns="73152" tIns="36576" bIns="36576"/>
                    <a:lstStyle/>
                    <a:p>
                      <a:pPr algn="l"/>
                      <a:r>
                        <a:rPr sz="1000">
                          <a:solidFill>
                            <a:srgbClr val="1F2A3D"/>
                          </a:solidFill>
                          <a:latin typeface="Calibri"/>
                        </a:rPr>
                        <a:t>id, ride_id*, from_user_id*, to_user_id*, score, comment</a:t>
                      </a:r>
                    </a:p>
                  </a:txBody>
                  <a:tcPr>
                    <a:solidFill>
                      <a:srgbClr val="FFFFFF"/>
                    </a:solidFill>
                  </a:tcPr>
                </a:tc>
              </a:tr>
              <a:tr h="365760">
                <a:tc>
                  <a:txBody>
                    <a:bodyPr lIns="73152" rIns="73152" tIns="36576" bIns="36576"/>
                    <a:lstStyle/>
                    <a:p>
                      <a:pPr algn="l"/>
                      <a:r>
                        <a:rPr sz="1000">
                          <a:solidFill>
                            <a:srgbClr val="1F2A3D"/>
                          </a:solidFill>
                          <a:latin typeface="Calibri"/>
                        </a:rPr>
                        <a:t>student_verifications</a:t>
                      </a:r>
                    </a:p>
                  </a:txBody>
                  <a:tcPr>
                    <a:solidFill>
                      <a:srgbClr val="F3F4F6"/>
                    </a:solidFill>
                  </a:tcPr>
                </a:tc>
                <a:tc>
                  <a:txBody>
                    <a:bodyPr lIns="73152" rIns="73152" tIns="36576" bIns="36576"/>
                    <a:lstStyle/>
                    <a:p>
                      <a:pPr algn="l"/>
                      <a:r>
                        <a:rPr sz="1000">
                          <a:solidFill>
                            <a:srgbClr val="1F2A3D"/>
                          </a:solidFill>
                          <a:latin typeface="Calibri"/>
                        </a:rPr>
                        <a:t>id, user_id*, university_email, status, verified_at</a:t>
                      </a:r>
                    </a:p>
                  </a:txBody>
                  <a:tcPr>
                    <a:solidFill>
                      <a:srgbClr val="F3F4F6"/>
                    </a:solidFill>
                  </a:tcPr>
                </a:tc>
              </a:tr>
              <a:tr h="365760">
                <a:tc>
                  <a:txBody>
                    <a:bodyPr lIns="73152" rIns="73152" tIns="36576" bIns="36576"/>
                    <a:lstStyle/>
                    <a:p>
                      <a:pPr algn="l"/>
                      <a:r>
                        <a:rPr sz="1000">
                          <a:solidFill>
                            <a:srgbClr val="1F2A3D"/>
                          </a:solidFill>
                          <a:latin typeface="Calibri"/>
                        </a:rPr>
                        <a:t>organizations</a:t>
                      </a:r>
                    </a:p>
                  </a:txBody>
                  <a:tcPr>
                    <a:solidFill>
                      <a:srgbClr val="FFFFFF"/>
                    </a:solidFill>
                  </a:tcPr>
                </a:tc>
                <a:tc>
                  <a:txBody>
                    <a:bodyPr lIns="73152" rIns="73152" tIns="36576" bIns="36576"/>
                    <a:lstStyle/>
                    <a:p>
                      <a:pPr algn="l"/>
                      <a:r>
                        <a:rPr sz="1000">
                          <a:solidFill>
                            <a:srgbClr val="1F2A3D"/>
                          </a:solidFill>
                          <a:latin typeface="Calibri"/>
                        </a:rPr>
                        <a:t>id, name, type, contact_email, email_domain, discount_percent, discount_code, status</a:t>
                      </a:r>
                    </a:p>
                  </a:txBody>
                  <a:tcPr>
                    <a:solidFill>
                      <a:srgbClr val="FFFFFF"/>
                    </a:solidFill>
                  </a:tcPr>
                </a:tc>
              </a:tr>
              <a:tr h="365760">
                <a:tc>
                  <a:txBody>
                    <a:bodyPr lIns="73152" rIns="73152" tIns="36576" bIns="36576"/>
                    <a:lstStyle/>
                    <a:p>
                      <a:pPr algn="l"/>
                      <a:r>
                        <a:rPr sz="1000">
                          <a:solidFill>
                            <a:srgbClr val="1F2A3D"/>
                          </a:solidFill>
                          <a:latin typeface="Calibri"/>
                        </a:rPr>
                        <a:t>complaints</a:t>
                      </a:r>
                    </a:p>
                  </a:txBody>
                  <a:tcPr>
                    <a:solidFill>
                      <a:srgbClr val="F3F4F6"/>
                    </a:solidFill>
                  </a:tcPr>
                </a:tc>
                <a:tc>
                  <a:txBody>
                    <a:bodyPr lIns="73152" rIns="73152" tIns="36576" bIns="36576"/>
                    <a:lstStyle/>
                    <a:p>
                      <a:pPr algn="l"/>
                      <a:r>
                        <a:rPr sz="1000">
                          <a:solidFill>
                            <a:srgbClr val="1F2A3D"/>
                          </a:solidFill>
                          <a:latin typeface="Calibri"/>
                        </a:rPr>
                        <a:t>id, from_user_id*, against_user_id*, type, text, status, admin_note</a:t>
                      </a:r>
                    </a:p>
                  </a:txBody>
                  <a:tcPr>
                    <a:solidFill>
                      <a:srgbClr val="F3F4F6"/>
                    </a:solidFill>
                  </a:tcPr>
                </a:tc>
              </a:tr>
              <a:tr h="365760">
                <a:tc>
                  <a:txBody>
                    <a:bodyPr lIns="73152" rIns="73152" tIns="36576" bIns="36576"/>
                    <a:lstStyle/>
                    <a:p>
                      <a:pPr algn="l"/>
                      <a:r>
                        <a:rPr sz="1000">
                          <a:solidFill>
                            <a:srgbClr val="1F2A3D"/>
                          </a:solidFill>
                          <a:latin typeface="Calibri"/>
                        </a:rPr>
                        <a:t>messages</a:t>
                      </a:r>
                    </a:p>
                  </a:txBody>
                  <a:tcPr>
                    <a:solidFill>
                      <a:srgbClr val="FFFFFF"/>
                    </a:solidFill>
                  </a:tcPr>
                </a:tc>
                <a:tc>
                  <a:txBody>
                    <a:bodyPr lIns="73152" rIns="73152" tIns="36576" bIns="36576"/>
                    <a:lstStyle/>
                    <a:p>
                      <a:pPr algn="l"/>
                      <a:r>
                        <a:rPr sz="1000">
                          <a:solidFill>
                            <a:srgbClr val="1F2A3D"/>
                          </a:solidFill>
                          <a:latin typeface="Calibri"/>
                        </a:rPr>
                        <a:t>id, conversation_id*, sender_id*, body, is_read, sent_at</a:t>
                      </a:r>
                    </a:p>
                  </a:txBody>
                  <a:tcPr>
                    <a:solidFill>
                      <a:srgbClr val="FFFFFF"/>
                    </a:solidFill>
                  </a:tcPr>
                </a:tc>
              </a:tr>
            </a:tbl>
          </a:graphicData>
        </a:graphic>
      </p:graphicFrame>
      <p:sp>
        <p:nvSpPr>
          <p:cNvPr id="8" name="TextBox 7"/>
          <p:cNvSpPr txBox="1"/>
          <p:nvPr/>
        </p:nvSpPr>
        <p:spPr>
          <a:xfrm>
            <a:off x="457200" y="5989320"/>
            <a:ext cx="10972800" cy="365760"/>
          </a:xfrm>
          <a:prstGeom prst="rect">
            <a:avLst/>
          </a:prstGeom>
          <a:noFill/>
        </p:spPr>
        <p:txBody>
          <a:bodyPr wrap="square" anchor="t" lIns="45720" rIns="45720" tIns="18288" bIns="18288">
            <a:spAutoFit/>
          </a:bodyPr>
          <a:lstStyle/>
          <a:p>
            <a:pPr algn="ctr"/>
            <a:r>
              <a:rPr sz="1100" b="0">
                <a:solidFill>
                  <a:srgbClr val="6B7280"/>
                </a:solidFill>
                <a:latin typeface="Calibri"/>
              </a:rPr>
              <a:t>* clé étrangère. ~20 tables au total dans le schéma. Index sur origin, destination, departure_time et clés étrangères.</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F / 21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G · CONTRAT API</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Surface de l'API REST (extrait)</a:t>
            </a:r>
          </a:p>
        </p:txBody>
      </p:sp>
      <p:graphicFrame>
        <p:nvGraphicFramePr>
          <p:cNvPr id="7" name="Table 6"/>
          <p:cNvGraphicFramePr>
            <a:graphicFrameLocks noGrp="1"/>
          </p:cNvGraphicFramePr>
          <p:nvPr/>
        </p:nvGraphicFramePr>
        <p:xfrm>
          <a:off x="457200" y="1463040"/>
          <a:ext cx="11247120" cy="4572000"/>
        </p:xfrm>
        <a:graphic>
          <a:graphicData uri="http://schemas.openxmlformats.org/drawingml/2006/table">
            <a:tbl>
              <a:tblPr firstRow="1" bandRow="1">
                <a:tableStyleId>{5C22544A-7EE6-4342-B048-85BDC9FD1C3A}</a:tableStyleId>
              </a:tblPr>
              <a:tblGrid>
                <a:gridCol w="3749040"/>
                <a:gridCol w="3749040"/>
                <a:gridCol w="3749040"/>
              </a:tblGrid>
              <a:tr h="304800">
                <a:tc>
                  <a:txBody>
                    <a:bodyPr lIns="73152" rIns="73152" tIns="36576" bIns="36576"/>
                    <a:lstStyle/>
                    <a:p>
                      <a:pPr algn="l"/>
                      <a:r>
                        <a:rPr sz="1100" b="1">
                          <a:solidFill>
                            <a:srgbClr val="FFFFFF"/>
                          </a:solidFill>
                          <a:latin typeface="Calibri"/>
                        </a:rPr>
                        <a:t>Méthode</a:t>
                      </a:r>
                    </a:p>
                  </a:txBody>
                  <a:tcPr>
                    <a:solidFill>
                      <a:srgbClr val="0A1628"/>
                    </a:solidFill>
                  </a:tcPr>
                </a:tc>
                <a:tc>
                  <a:txBody>
                    <a:bodyPr lIns="73152" rIns="73152" tIns="36576" bIns="36576"/>
                    <a:lstStyle/>
                    <a:p>
                      <a:pPr algn="l"/>
                      <a:r>
                        <a:rPr sz="1100" b="1">
                          <a:solidFill>
                            <a:srgbClr val="FFFFFF"/>
                          </a:solidFill>
                          <a:latin typeface="Calibri"/>
                        </a:rPr>
                        <a:t>Chemin</a:t>
                      </a:r>
                    </a:p>
                  </a:txBody>
                  <a:tcPr>
                    <a:solidFill>
                      <a:srgbClr val="0A1628"/>
                    </a:solidFill>
                  </a:tcPr>
                </a:tc>
                <a:tc>
                  <a:txBody>
                    <a:bodyPr lIns="73152" rIns="73152" tIns="36576" bIns="36576"/>
                    <a:lstStyle/>
                    <a:p>
                      <a:pPr algn="l"/>
                      <a:r>
                        <a:rPr sz="1100" b="1">
                          <a:solidFill>
                            <a:srgbClr val="FFFFFF"/>
                          </a:solidFill>
                          <a:latin typeface="Calibri"/>
                        </a:rPr>
                        <a:t>Rôle</a:t>
                      </a:r>
                    </a:p>
                  </a:txBody>
                  <a:tcPr>
                    <a:solidFill>
                      <a:srgbClr val="0A1628"/>
                    </a:solidFill>
                  </a:tcPr>
                </a:tc>
              </a:tr>
              <a:tr h="304800">
                <a:tc>
                  <a:txBody>
                    <a:bodyPr lIns="73152" rIns="73152" tIns="36576" bIns="36576"/>
                    <a:lstStyle/>
                    <a:p>
                      <a:pPr algn="l"/>
                      <a:r>
                        <a:rPr sz="1100">
                          <a:solidFill>
                            <a:srgbClr val="1F2A3D"/>
                          </a:solidFill>
                          <a:latin typeface="Calibri"/>
                        </a:rPr>
                        <a:t>POST</a:t>
                      </a:r>
                    </a:p>
                  </a:txBody>
                  <a:tcPr>
                    <a:solidFill>
                      <a:srgbClr val="FFFFFF"/>
                    </a:solidFill>
                  </a:tcPr>
                </a:tc>
                <a:tc>
                  <a:txBody>
                    <a:bodyPr lIns="73152" rIns="73152" tIns="36576" bIns="36576"/>
                    <a:lstStyle/>
                    <a:p>
                      <a:pPr algn="l"/>
                      <a:r>
                        <a:rPr sz="1100">
                          <a:solidFill>
                            <a:srgbClr val="1F2A3D"/>
                          </a:solidFill>
                          <a:latin typeface="Calibri"/>
                        </a:rPr>
                        <a:t>/api/auth/register</a:t>
                      </a:r>
                    </a:p>
                  </a:txBody>
                  <a:tcPr>
                    <a:solidFill>
                      <a:srgbClr val="FFFFFF"/>
                    </a:solidFill>
                  </a:tcPr>
                </a:tc>
                <a:tc>
                  <a:txBody>
                    <a:bodyPr lIns="73152" rIns="73152" tIns="36576" bIns="36576"/>
                    <a:lstStyle/>
                    <a:p>
                      <a:pPr algn="l"/>
                      <a:r>
                        <a:rPr sz="1100">
                          <a:solidFill>
                            <a:srgbClr val="1F2A3D"/>
                          </a:solidFill>
                          <a:latin typeface="Calibri"/>
                        </a:rPr>
                        <a:t>Créer un compte</a:t>
                      </a:r>
                    </a:p>
                  </a:txBody>
                  <a:tcPr>
                    <a:solidFill>
                      <a:srgbClr val="FFFFFF"/>
                    </a:solidFill>
                  </a:tcPr>
                </a:tc>
              </a:tr>
              <a:tr h="304800">
                <a:tc>
                  <a:txBody>
                    <a:bodyPr lIns="73152" rIns="73152" tIns="36576" bIns="36576"/>
                    <a:lstStyle/>
                    <a:p>
                      <a:pPr algn="l"/>
                      <a:r>
                        <a:rPr sz="1100">
                          <a:solidFill>
                            <a:srgbClr val="1F2A3D"/>
                          </a:solidFill>
                          <a:latin typeface="Calibri"/>
                        </a:rPr>
                        <a:t>POST</a:t>
                      </a:r>
                    </a:p>
                  </a:txBody>
                  <a:tcPr>
                    <a:solidFill>
                      <a:srgbClr val="F3F4F6"/>
                    </a:solidFill>
                  </a:tcPr>
                </a:tc>
                <a:tc>
                  <a:txBody>
                    <a:bodyPr lIns="73152" rIns="73152" tIns="36576" bIns="36576"/>
                    <a:lstStyle/>
                    <a:p>
                      <a:pPr algn="l"/>
                      <a:r>
                        <a:rPr sz="1100">
                          <a:solidFill>
                            <a:srgbClr val="1F2A3D"/>
                          </a:solidFill>
                          <a:latin typeface="Calibri"/>
                        </a:rPr>
                        <a:t>/api/auth/login</a:t>
                      </a:r>
                    </a:p>
                  </a:txBody>
                  <a:tcPr>
                    <a:solidFill>
                      <a:srgbClr val="F3F4F6"/>
                    </a:solidFill>
                  </a:tcPr>
                </a:tc>
                <a:tc>
                  <a:txBody>
                    <a:bodyPr lIns="73152" rIns="73152" tIns="36576" bIns="36576"/>
                    <a:lstStyle/>
                    <a:p>
                      <a:pPr algn="l"/>
                      <a:r>
                        <a:rPr sz="1100">
                          <a:solidFill>
                            <a:srgbClr val="1F2A3D"/>
                          </a:solidFill>
                          <a:latin typeface="Calibri"/>
                        </a:rPr>
                        <a:t>Retourne un bearer token de 32 octets</a:t>
                      </a:r>
                    </a:p>
                  </a:txBody>
                  <a:tcPr>
                    <a:solidFill>
                      <a:srgbClr val="F3F4F6"/>
                    </a:solidFill>
                  </a:tcPr>
                </a:tc>
              </a:tr>
              <a:tr h="304800">
                <a:tc>
                  <a:txBody>
                    <a:bodyPr lIns="73152" rIns="73152" tIns="36576" bIns="36576"/>
                    <a:lstStyle/>
                    <a:p>
                      <a:pPr algn="l"/>
                      <a:r>
                        <a:rPr sz="1100">
                          <a:solidFill>
                            <a:srgbClr val="1F2A3D"/>
                          </a:solidFill>
                          <a:latin typeface="Calibri"/>
                        </a:rPr>
                        <a:t>GET</a:t>
                      </a:r>
                    </a:p>
                  </a:txBody>
                  <a:tcPr>
                    <a:solidFill>
                      <a:srgbClr val="FFFFFF"/>
                    </a:solidFill>
                  </a:tcPr>
                </a:tc>
                <a:tc>
                  <a:txBody>
                    <a:bodyPr lIns="73152" rIns="73152" tIns="36576" bIns="36576"/>
                    <a:lstStyle/>
                    <a:p>
                      <a:pPr algn="l"/>
                      <a:r>
                        <a:rPr sz="1100">
                          <a:solidFill>
                            <a:srgbClr val="1F2A3D"/>
                          </a:solidFill>
                          <a:latin typeface="Calibri"/>
                        </a:rPr>
                        <a:t>/api/rides</a:t>
                      </a:r>
                    </a:p>
                  </a:txBody>
                  <a:tcPr>
                    <a:solidFill>
                      <a:srgbClr val="FFFFFF"/>
                    </a:solidFill>
                  </a:tcPr>
                </a:tc>
                <a:tc>
                  <a:txBody>
                    <a:bodyPr lIns="73152" rIns="73152" tIns="36576" bIns="36576"/>
                    <a:lstStyle/>
                    <a:p>
                      <a:pPr algn="l"/>
                      <a:r>
                        <a:rPr sz="1100">
                          <a:solidFill>
                            <a:srgbClr val="1F2A3D"/>
                          </a:solidFill>
                          <a:latin typeface="Calibri"/>
                        </a:rPr>
                        <a:t>Rechercher avec from/to/date/filtres</a:t>
                      </a:r>
                    </a:p>
                  </a:txBody>
                  <a:tcPr>
                    <a:solidFill>
                      <a:srgbClr val="FFFFFF"/>
                    </a:solidFill>
                  </a:tcPr>
                </a:tc>
              </a:tr>
              <a:tr h="304800">
                <a:tc>
                  <a:txBody>
                    <a:bodyPr lIns="73152" rIns="73152" tIns="36576" bIns="36576"/>
                    <a:lstStyle/>
                    <a:p>
                      <a:pPr algn="l"/>
                      <a:r>
                        <a:rPr sz="1100">
                          <a:solidFill>
                            <a:srgbClr val="1F2A3D"/>
                          </a:solidFill>
                          <a:latin typeface="Calibri"/>
                        </a:rPr>
                        <a:t>POST</a:t>
                      </a:r>
                    </a:p>
                  </a:txBody>
                  <a:tcPr>
                    <a:solidFill>
                      <a:srgbClr val="F3F4F6"/>
                    </a:solidFill>
                  </a:tcPr>
                </a:tc>
                <a:tc>
                  <a:txBody>
                    <a:bodyPr lIns="73152" rIns="73152" tIns="36576" bIns="36576"/>
                    <a:lstStyle/>
                    <a:p>
                      <a:pPr algn="l"/>
                      <a:r>
                        <a:rPr sz="1100">
                          <a:solidFill>
                            <a:srgbClr val="1F2A3D"/>
                          </a:solidFill>
                          <a:latin typeface="Calibri"/>
                        </a:rPr>
                        <a:t>/api/rides</a:t>
                      </a:r>
                    </a:p>
                  </a:txBody>
                  <a:tcPr>
                    <a:solidFill>
                      <a:srgbClr val="F3F4F6"/>
                    </a:solidFill>
                  </a:tcPr>
                </a:tc>
                <a:tc>
                  <a:txBody>
                    <a:bodyPr lIns="73152" rIns="73152" tIns="36576" bIns="36576"/>
                    <a:lstStyle/>
                    <a:p>
                      <a:pPr algn="l"/>
                      <a:r>
                        <a:rPr sz="1100">
                          <a:solidFill>
                            <a:srgbClr val="1F2A3D"/>
                          </a:solidFill>
                          <a:latin typeface="Calibri"/>
                        </a:rPr>
                        <a:t>Le conducteur publie un trajet</a:t>
                      </a:r>
                    </a:p>
                  </a:txBody>
                  <a:tcPr>
                    <a:solidFill>
                      <a:srgbClr val="F3F4F6"/>
                    </a:solidFill>
                  </a:tcPr>
                </a:tc>
              </a:tr>
              <a:tr h="304800">
                <a:tc>
                  <a:txBody>
                    <a:bodyPr lIns="73152" rIns="73152" tIns="36576" bIns="36576"/>
                    <a:lstStyle/>
                    <a:p>
                      <a:pPr algn="l"/>
                      <a:r>
                        <a:rPr sz="1100">
                          <a:solidFill>
                            <a:srgbClr val="1F2A3D"/>
                          </a:solidFill>
                          <a:latin typeface="Calibri"/>
                        </a:rPr>
                        <a:t>DELETE</a:t>
                      </a:r>
                    </a:p>
                  </a:txBody>
                  <a:tcPr>
                    <a:solidFill>
                      <a:srgbClr val="FFFFFF"/>
                    </a:solidFill>
                  </a:tcPr>
                </a:tc>
                <a:tc>
                  <a:txBody>
                    <a:bodyPr lIns="73152" rIns="73152" tIns="36576" bIns="36576"/>
                    <a:lstStyle/>
                    <a:p>
                      <a:pPr algn="l"/>
                      <a:r>
                        <a:rPr sz="1100">
                          <a:solidFill>
                            <a:srgbClr val="1F2A3D"/>
                          </a:solidFill>
                          <a:latin typeface="Calibri"/>
                        </a:rPr>
                        <a:t>/api/rides/{id}</a:t>
                      </a:r>
                    </a:p>
                  </a:txBody>
                  <a:tcPr>
                    <a:solidFill>
                      <a:srgbClr val="FFFFFF"/>
                    </a:solidFill>
                  </a:tcPr>
                </a:tc>
                <a:tc>
                  <a:txBody>
                    <a:bodyPr lIns="73152" rIns="73152" tIns="36576" bIns="36576"/>
                    <a:lstStyle/>
                    <a:p>
                      <a:pPr algn="l"/>
                      <a:r>
                        <a:rPr sz="1100">
                          <a:solidFill>
                            <a:srgbClr val="1F2A3D"/>
                          </a:solidFill>
                          <a:latin typeface="Calibri"/>
                        </a:rPr>
                        <a:t>Le conducteur annule</a:t>
                      </a:r>
                    </a:p>
                  </a:txBody>
                  <a:tcPr>
                    <a:solidFill>
                      <a:srgbClr val="FFFFFF"/>
                    </a:solidFill>
                  </a:tcPr>
                </a:tc>
              </a:tr>
              <a:tr h="304800">
                <a:tc>
                  <a:txBody>
                    <a:bodyPr lIns="73152" rIns="73152" tIns="36576" bIns="36576"/>
                    <a:lstStyle/>
                    <a:p>
                      <a:pPr algn="l"/>
                      <a:r>
                        <a:rPr sz="1100">
                          <a:solidFill>
                            <a:srgbClr val="1F2A3D"/>
                          </a:solidFill>
                          <a:latin typeface="Calibri"/>
                        </a:rPr>
                        <a:t>POST</a:t>
                      </a:r>
                    </a:p>
                  </a:txBody>
                  <a:tcPr>
                    <a:solidFill>
                      <a:srgbClr val="F3F4F6"/>
                    </a:solidFill>
                  </a:tcPr>
                </a:tc>
                <a:tc>
                  <a:txBody>
                    <a:bodyPr lIns="73152" rIns="73152" tIns="36576" bIns="36576"/>
                    <a:lstStyle/>
                    <a:p>
                      <a:pPr algn="l"/>
                      <a:r>
                        <a:rPr sz="1100">
                          <a:solidFill>
                            <a:srgbClr val="1F2A3D"/>
                          </a:solidFill>
                          <a:latin typeface="Calibri"/>
                        </a:rPr>
                        <a:t>/api/bookings</a:t>
                      </a:r>
                    </a:p>
                  </a:txBody>
                  <a:tcPr>
                    <a:solidFill>
                      <a:srgbClr val="F3F4F6"/>
                    </a:solidFill>
                  </a:tcPr>
                </a:tc>
                <a:tc>
                  <a:txBody>
                    <a:bodyPr lIns="73152" rIns="73152" tIns="36576" bIns="36576"/>
                    <a:lstStyle/>
                    <a:p>
                      <a:pPr algn="l"/>
                      <a:r>
                        <a:rPr sz="1100">
                          <a:solidFill>
                            <a:srgbClr val="1F2A3D"/>
                          </a:solidFill>
                          <a:latin typeface="Calibri"/>
                        </a:rPr>
                        <a:t>Le passager réserve — acompte 50 %</a:t>
                      </a:r>
                    </a:p>
                  </a:txBody>
                  <a:tcPr>
                    <a:solidFill>
                      <a:srgbClr val="F3F4F6"/>
                    </a:solidFill>
                  </a:tcPr>
                </a:tc>
              </a:tr>
              <a:tr h="304800">
                <a:tc>
                  <a:txBody>
                    <a:bodyPr lIns="73152" rIns="73152" tIns="36576" bIns="36576"/>
                    <a:lstStyle/>
                    <a:p>
                      <a:pPr algn="l"/>
                      <a:r>
                        <a:rPr sz="1100">
                          <a:solidFill>
                            <a:srgbClr val="1F2A3D"/>
                          </a:solidFill>
                          <a:latin typeface="Calibri"/>
                        </a:rPr>
                        <a:t>POST</a:t>
                      </a:r>
                    </a:p>
                  </a:txBody>
                  <a:tcPr>
                    <a:solidFill>
                      <a:srgbClr val="FFFFFF"/>
                    </a:solidFill>
                  </a:tcPr>
                </a:tc>
                <a:tc>
                  <a:txBody>
                    <a:bodyPr lIns="73152" rIns="73152" tIns="36576" bIns="36576"/>
                    <a:lstStyle/>
                    <a:p>
                      <a:pPr algn="l"/>
                      <a:r>
                        <a:rPr sz="1100">
                          <a:solidFill>
                            <a:srgbClr val="1F2A3D"/>
                          </a:solidFill>
                          <a:latin typeface="Calibri"/>
                        </a:rPr>
                        <a:t>/api/bookings/group</a:t>
                      </a:r>
                    </a:p>
                  </a:txBody>
                  <a:tcPr>
                    <a:solidFill>
                      <a:srgbClr val="FFFFFF"/>
                    </a:solidFill>
                  </a:tcPr>
                </a:tc>
                <a:tc>
                  <a:txBody>
                    <a:bodyPr lIns="73152" rIns="73152" tIns="36576" bIns="36576"/>
                    <a:lstStyle/>
                    <a:p>
                      <a:pPr algn="l"/>
                      <a:r>
                        <a:rPr sz="1100">
                          <a:solidFill>
                            <a:srgbClr val="1F2A3D"/>
                          </a:solidFill>
                          <a:latin typeface="Calibri"/>
                        </a:rPr>
                        <a:t>Réservation de groupe</a:t>
                      </a:r>
                    </a:p>
                  </a:txBody>
                  <a:tcPr>
                    <a:solidFill>
                      <a:srgbClr val="FFFFFF"/>
                    </a:solidFill>
                  </a:tcPr>
                </a:tc>
              </a:tr>
              <a:tr h="304800">
                <a:tc>
                  <a:txBody>
                    <a:bodyPr lIns="73152" rIns="73152" tIns="36576" bIns="36576"/>
                    <a:lstStyle/>
                    <a:p>
                      <a:pPr algn="l"/>
                      <a:r>
                        <a:rPr sz="1100">
                          <a:solidFill>
                            <a:srgbClr val="1F2A3D"/>
                          </a:solidFill>
                          <a:latin typeface="Calibri"/>
                        </a:rPr>
                        <a:t>POST</a:t>
                      </a:r>
                    </a:p>
                  </a:txBody>
                  <a:tcPr>
                    <a:solidFill>
                      <a:srgbClr val="F3F4F6"/>
                    </a:solidFill>
                  </a:tcPr>
                </a:tc>
                <a:tc>
                  <a:txBody>
                    <a:bodyPr lIns="73152" rIns="73152" tIns="36576" bIns="36576"/>
                    <a:lstStyle/>
                    <a:p>
                      <a:pPr algn="l"/>
                      <a:r>
                        <a:rPr sz="1100">
                          <a:solidFill>
                            <a:srgbClr val="1F2A3D"/>
                          </a:solidFill>
                          <a:latin typeface="Calibri"/>
                        </a:rPr>
                        <a:t>/api/bookings/validate-promo</a:t>
                      </a:r>
                    </a:p>
                  </a:txBody>
                  <a:tcPr>
                    <a:solidFill>
                      <a:srgbClr val="F3F4F6"/>
                    </a:solidFill>
                  </a:tcPr>
                </a:tc>
                <a:tc>
                  <a:txBody>
                    <a:bodyPr lIns="73152" rIns="73152" tIns="36576" bIns="36576"/>
                    <a:lstStyle/>
                    <a:p>
                      <a:pPr algn="l"/>
                      <a:r>
                        <a:rPr sz="1100">
                          <a:solidFill>
                            <a:srgbClr val="1F2A3D"/>
                          </a:solidFill>
                          <a:latin typeface="Calibri"/>
                        </a:rPr>
                        <a:t>Vérification d'un code promo organisationnel</a:t>
                      </a:r>
                    </a:p>
                  </a:txBody>
                  <a:tcPr>
                    <a:solidFill>
                      <a:srgbClr val="F3F4F6"/>
                    </a:solidFill>
                  </a:tcPr>
                </a:tc>
              </a:tr>
              <a:tr h="304800">
                <a:tc>
                  <a:txBody>
                    <a:bodyPr lIns="73152" rIns="73152" tIns="36576" bIns="36576"/>
                    <a:lstStyle/>
                    <a:p>
                      <a:pPr algn="l"/>
                      <a:r>
                        <a:rPr sz="1100">
                          <a:solidFill>
                            <a:srgbClr val="1F2A3D"/>
                          </a:solidFill>
                          <a:latin typeface="Calibri"/>
                        </a:rPr>
                        <a:t>POST</a:t>
                      </a:r>
                    </a:p>
                  </a:txBody>
                  <a:tcPr>
                    <a:solidFill>
                      <a:srgbClr val="FFFFFF"/>
                    </a:solidFill>
                  </a:tcPr>
                </a:tc>
                <a:tc>
                  <a:txBody>
                    <a:bodyPr lIns="73152" rIns="73152" tIns="36576" bIns="36576"/>
                    <a:lstStyle/>
                    <a:p>
                      <a:pPr algn="l"/>
                      <a:r>
                        <a:rPr sz="1100">
                          <a:solidFill>
                            <a:srgbClr val="1F2A3D"/>
                          </a:solidFill>
                          <a:latin typeface="Calibri"/>
                        </a:rPr>
                        <a:t>/api/bookings/requests/{id}</a:t>
                      </a:r>
                    </a:p>
                  </a:txBody>
                  <a:tcPr>
                    <a:solidFill>
                      <a:srgbClr val="FFFFFF"/>
                    </a:solidFill>
                  </a:tcPr>
                </a:tc>
                <a:tc>
                  <a:txBody>
                    <a:bodyPr lIns="73152" rIns="73152" tIns="36576" bIns="36576"/>
                    <a:lstStyle/>
                    <a:p>
                      <a:pPr algn="l"/>
                      <a:r>
                        <a:rPr sz="1100">
                          <a:solidFill>
                            <a:srgbClr val="1F2A3D"/>
                          </a:solidFill>
                          <a:latin typeface="Calibri"/>
                        </a:rPr>
                        <a:t>Le conducteur accepte/refuse</a:t>
                      </a:r>
                    </a:p>
                  </a:txBody>
                  <a:tcPr>
                    <a:solidFill>
                      <a:srgbClr val="FFFFFF"/>
                    </a:solidFill>
                  </a:tcPr>
                </a:tc>
              </a:tr>
              <a:tr h="304800">
                <a:tc>
                  <a:txBody>
                    <a:bodyPr lIns="73152" rIns="73152" tIns="36576" bIns="36576"/>
                    <a:lstStyle/>
                    <a:p>
                      <a:pPr algn="l"/>
                      <a:r>
                        <a:rPr sz="1100">
                          <a:solidFill>
                            <a:srgbClr val="1F2A3D"/>
                          </a:solidFill>
                          <a:latin typeface="Calibri"/>
                        </a:rPr>
                        <a:t>POST</a:t>
                      </a:r>
                    </a:p>
                  </a:txBody>
                  <a:tcPr>
                    <a:solidFill>
                      <a:srgbClr val="F3F4F6"/>
                    </a:solidFill>
                  </a:tcPr>
                </a:tc>
                <a:tc>
                  <a:txBody>
                    <a:bodyPr lIns="73152" rIns="73152" tIns="36576" bIns="36576"/>
                    <a:lstStyle/>
                    <a:p>
                      <a:pPr algn="l"/>
                      <a:r>
                        <a:rPr sz="1100">
                          <a:solidFill>
                            <a:srgbClr val="1F2A3D"/>
                          </a:solidFill>
                          <a:latin typeface="Calibri"/>
                        </a:rPr>
                        <a:t>/api/student/send-otp</a:t>
                      </a:r>
                    </a:p>
                  </a:txBody>
                  <a:tcPr>
                    <a:solidFill>
                      <a:srgbClr val="F3F4F6"/>
                    </a:solidFill>
                  </a:tcPr>
                </a:tc>
                <a:tc>
                  <a:txBody>
                    <a:bodyPr lIns="73152" rIns="73152" tIns="36576" bIns="36576"/>
                    <a:lstStyle/>
                    <a:p>
                      <a:pPr algn="l"/>
                      <a:r>
                        <a:rPr sz="1100">
                          <a:solidFill>
                            <a:srgbClr val="1F2A3D"/>
                          </a:solidFill>
                          <a:latin typeface="Calibri"/>
                        </a:rPr>
                        <a:t>Envoyer un OTP à l'email universitaire</a:t>
                      </a:r>
                    </a:p>
                  </a:txBody>
                  <a:tcPr>
                    <a:solidFill>
                      <a:srgbClr val="F3F4F6"/>
                    </a:solidFill>
                  </a:tcPr>
                </a:tc>
              </a:tr>
              <a:tr h="304800">
                <a:tc>
                  <a:txBody>
                    <a:bodyPr lIns="73152" rIns="73152" tIns="36576" bIns="36576"/>
                    <a:lstStyle/>
                    <a:p>
                      <a:pPr algn="l"/>
                      <a:r>
                        <a:rPr sz="1100">
                          <a:solidFill>
                            <a:srgbClr val="1F2A3D"/>
                          </a:solidFill>
                          <a:latin typeface="Calibri"/>
                        </a:rPr>
                        <a:t>POST</a:t>
                      </a:r>
                    </a:p>
                  </a:txBody>
                  <a:tcPr>
                    <a:solidFill>
                      <a:srgbClr val="FFFFFF"/>
                    </a:solidFill>
                  </a:tcPr>
                </a:tc>
                <a:tc>
                  <a:txBody>
                    <a:bodyPr lIns="73152" rIns="73152" tIns="36576" bIns="36576"/>
                    <a:lstStyle/>
                    <a:p>
                      <a:pPr algn="l"/>
                      <a:r>
                        <a:rPr sz="1100">
                          <a:solidFill>
                            <a:srgbClr val="1F2A3D"/>
                          </a:solidFill>
                          <a:latin typeface="Calibri"/>
                        </a:rPr>
                        <a:t>/api/student/verify-otp</a:t>
                      </a:r>
                    </a:p>
                  </a:txBody>
                  <a:tcPr>
                    <a:solidFill>
                      <a:srgbClr val="FFFFFF"/>
                    </a:solidFill>
                  </a:tcPr>
                </a:tc>
                <a:tc>
                  <a:txBody>
                    <a:bodyPr lIns="73152" rIns="73152" tIns="36576" bIns="36576"/>
                    <a:lstStyle/>
                    <a:p>
                      <a:pPr algn="l"/>
                      <a:r>
                        <a:rPr sz="1100">
                          <a:solidFill>
                            <a:srgbClr val="1F2A3D"/>
                          </a:solidFill>
                          <a:latin typeface="Calibri"/>
                        </a:rPr>
                        <a:t>Vérifier l'OTP, marquer vérifié</a:t>
                      </a:r>
                    </a:p>
                  </a:txBody>
                  <a:tcPr>
                    <a:solidFill>
                      <a:srgbClr val="FFFFFF"/>
                    </a:solidFill>
                  </a:tcPr>
                </a:tc>
              </a:tr>
              <a:tr h="304800">
                <a:tc>
                  <a:txBody>
                    <a:bodyPr lIns="73152" rIns="73152" tIns="36576" bIns="36576"/>
                    <a:lstStyle/>
                    <a:p>
                      <a:pPr algn="l"/>
                      <a:r>
                        <a:rPr sz="1100">
                          <a:solidFill>
                            <a:srgbClr val="1F2A3D"/>
                          </a:solidFill>
                          <a:latin typeface="Calibri"/>
                        </a:rPr>
                        <a:t>GET</a:t>
                      </a:r>
                    </a:p>
                  </a:txBody>
                  <a:tcPr>
                    <a:solidFill>
                      <a:srgbClr val="F3F4F6"/>
                    </a:solidFill>
                  </a:tcPr>
                </a:tc>
                <a:tc>
                  <a:txBody>
                    <a:bodyPr lIns="73152" rIns="73152" tIns="36576" bIns="36576"/>
                    <a:lstStyle/>
                    <a:p>
                      <a:pPr algn="l"/>
                      <a:r>
                        <a:rPr sz="1100">
                          <a:solidFill>
                            <a:srgbClr val="1F2A3D"/>
                          </a:solidFill>
                          <a:latin typeface="Calibri"/>
                        </a:rPr>
                        <a:t>/api/admin/organizations</a:t>
                      </a:r>
                    </a:p>
                  </a:txBody>
                  <a:tcPr>
                    <a:solidFill>
                      <a:srgbClr val="F3F4F6"/>
                    </a:solidFill>
                  </a:tcPr>
                </a:tc>
                <a:tc>
                  <a:txBody>
                    <a:bodyPr lIns="73152" rIns="73152" tIns="36576" bIns="36576"/>
                    <a:lstStyle/>
                    <a:p>
                      <a:pPr algn="l"/>
                      <a:r>
                        <a:rPr sz="1100">
                          <a:solidFill>
                            <a:srgbClr val="1F2A3D"/>
                          </a:solidFill>
                          <a:latin typeface="Calibri"/>
                        </a:rPr>
                        <a:t>Lister les organisations (admin)</a:t>
                      </a:r>
                    </a:p>
                  </a:txBody>
                  <a:tcPr>
                    <a:solidFill>
                      <a:srgbClr val="F3F4F6"/>
                    </a:solidFill>
                  </a:tcPr>
                </a:tc>
              </a:tr>
              <a:tr h="304800">
                <a:tc>
                  <a:txBody>
                    <a:bodyPr lIns="73152" rIns="73152" tIns="36576" bIns="36576"/>
                    <a:lstStyle/>
                    <a:p>
                      <a:pPr algn="l"/>
                      <a:r>
                        <a:rPr sz="1100">
                          <a:solidFill>
                            <a:srgbClr val="1F2A3D"/>
                          </a:solidFill>
                          <a:latin typeface="Calibri"/>
                        </a:rPr>
                        <a:t>POST</a:t>
                      </a:r>
                    </a:p>
                  </a:txBody>
                  <a:tcPr>
                    <a:solidFill>
                      <a:srgbClr val="FFFFFF"/>
                    </a:solidFill>
                  </a:tcPr>
                </a:tc>
                <a:tc>
                  <a:txBody>
                    <a:bodyPr lIns="73152" rIns="73152" tIns="36576" bIns="36576"/>
                    <a:lstStyle/>
                    <a:p>
                      <a:pPr algn="l"/>
                      <a:r>
                        <a:rPr sz="1100">
                          <a:solidFill>
                            <a:srgbClr val="1F2A3D"/>
                          </a:solidFill>
                          <a:latin typeface="Calibri"/>
                        </a:rPr>
                        <a:t>/api/admin/organizations/{id}/review</a:t>
                      </a:r>
                    </a:p>
                  </a:txBody>
                  <a:tcPr>
                    <a:solidFill>
                      <a:srgbClr val="FFFFFF"/>
                    </a:solidFill>
                  </a:tcPr>
                </a:tc>
                <a:tc>
                  <a:txBody>
                    <a:bodyPr lIns="73152" rIns="73152" tIns="36576" bIns="36576"/>
                    <a:lstStyle/>
                    <a:p>
                      <a:pPr algn="l"/>
                      <a:r>
                        <a:rPr sz="1100">
                          <a:solidFill>
                            <a:srgbClr val="1F2A3D"/>
                          </a:solidFill>
                          <a:latin typeface="Calibri"/>
                        </a:rPr>
                        <a:t>Approuver / rejeter une organisation</a:t>
                      </a:r>
                    </a:p>
                  </a:txBody>
                  <a:tcPr>
                    <a:solidFill>
                      <a:srgbClr val="FFFFFF"/>
                    </a:solidFill>
                  </a:tcPr>
                </a:tc>
              </a:tr>
              <a:tr h="304800">
                <a:tc>
                  <a:txBody>
                    <a:bodyPr lIns="73152" rIns="73152" tIns="36576" bIns="36576"/>
                    <a:lstStyle/>
                    <a:p>
                      <a:pPr algn="l"/>
                      <a:r>
                        <a:rPr sz="1100">
                          <a:solidFill>
                            <a:srgbClr val="1F2A3D"/>
                          </a:solidFill>
                          <a:latin typeface="Calibri"/>
                        </a:rPr>
                        <a:t>GET</a:t>
                      </a:r>
                    </a:p>
                  </a:txBody>
                  <a:tcPr>
                    <a:solidFill>
                      <a:srgbClr val="F3F4F6"/>
                    </a:solidFill>
                  </a:tcPr>
                </a:tc>
                <a:tc>
                  <a:txBody>
                    <a:bodyPr lIns="73152" rIns="73152" tIns="36576" bIns="36576"/>
                    <a:lstStyle/>
                    <a:p>
                      <a:pPr algn="l"/>
                      <a:r>
                        <a:rPr sz="1100">
                          <a:solidFill>
                            <a:srgbClr val="1F2A3D"/>
                          </a:solidFill>
                          <a:latin typeface="Calibri"/>
                        </a:rPr>
                        <a:t>/api/feed</a:t>
                      </a:r>
                    </a:p>
                  </a:txBody>
                  <a:tcPr>
                    <a:solidFill>
                      <a:srgbClr val="F3F4F6"/>
                    </a:solidFill>
                  </a:tcPr>
                </a:tc>
                <a:tc>
                  <a:txBody>
                    <a:bodyPr lIns="73152" rIns="73152" tIns="36576" bIns="36576"/>
                    <a:lstStyle/>
                    <a:p>
                      <a:pPr algn="l"/>
                      <a:r>
                        <a:rPr sz="1100">
                          <a:solidFill>
                            <a:srgbClr val="1F2A3D"/>
                          </a:solidFill>
                          <a:latin typeface="Calibri"/>
                        </a:rPr>
                        <a:t>Fil social (posts + interactions)</a:t>
                      </a:r>
                    </a:p>
                  </a:txBody>
                  <a:tcPr>
                    <a:solidFill>
                      <a:srgbClr val="F3F4F6"/>
                    </a:solidFill>
                  </a:tcPr>
                </a:tc>
              </a:tr>
            </a:tbl>
          </a:graphicData>
        </a:graphic>
      </p:graphicFrame>
      <p:sp>
        <p:nvSpPr>
          <p:cNvPr id="8" name="TextBox 7"/>
          <p:cNvSpPr txBox="1"/>
          <p:nvPr/>
        </p:nvSpPr>
        <p:spPr>
          <a:xfrm>
            <a:off x="457200" y="6172200"/>
            <a:ext cx="10972800" cy="274320"/>
          </a:xfrm>
          <a:prstGeom prst="rect">
            <a:avLst/>
          </a:prstGeom>
          <a:noFill/>
        </p:spPr>
        <p:txBody>
          <a:bodyPr wrap="square" anchor="t" lIns="45720" rIns="45720" tIns="18288" bIns="18288">
            <a:spAutoFit/>
          </a:bodyPr>
          <a:lstStyle/>
          <a:p>
            <a:pPr algn="ctr"/>
            <a:r>
              <a:rPr sz="1100" b="0">
                <a:solidFill>
                  <a:srgbClr val="6B7280"/>
                </a:solidFill>
                <a:latin typeface="Calibri"/>
              </a:rPr>
              <a:t>Tous les endpoints protégés requièrent l'en-tête Authorization: Bearer &lt;token&gt;.</a:t>
            </a:r>
          </a:p>
        </p:txBody>
      </p:sp>
      <p:sp>
        <p:nvSpPr>
          <p:cNvPr id="9" name="Rectangle 8"/>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1" name="TextBox 10"/>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G / 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54864"/>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7315200" cy="320040"/>
          </a:xfrm>
          <a:prstGeom prst="rect">
            <a:avLst/>
          </a:prstGeom>
          <a:noFill/>
        </p:spPr>
        <p:txBody>
          <a:bodyPr wrap="square" anchor="t" lIns="45720" rIns="45720" tIns="18288" bIns="18288">
            <a:spAutoFit/>
          </a:bodyPr>
          <a:lstStyle/>
          <a:p>
            <a:pPr algn="l"/>
            <a:r>
              <a:rPr sz="1100" b="1">
                <a:solidFill>
                  <a:srgbClr val="E8B84B"/>
                </a:solidFill>
                <a:latin typeface="Calibri"/>
              </a:rPr>
              <a:t>ANNEXE H · RISQUES &amp; MITIGATIONS</a:t>
            </a:r>
          </a:p>
        </p:txBody>
      </p:sp>
      <p:sp>
        <p:nvSpPr>
          <p:cNvPr id="6" name="TextBox 5"/>
          <p:cNvSpPr txBox="1"/>
          <p:nvPr/>
        </p:nvSpPr>
        <p:spPr>
          <a:xfrm>
            <a:off x="457200" y="457200"/>
            <a:ext cx="10972800" cy="640080"/>
          </a:xfrm>
          <a:prstGeom prst="rect">
            <a:avLst/>
          </a:prstGeom>
          <a:noFill/>
        </p:spPr>
        <p:txBody>
          <a:bodyPr wrap="square" anchor="t" lIns="45720" rIns="45720" tIns="18288" bIns="18288">
            <a:spAutoFit/>
          </a:bodyPr>
          <a:lstStyle/>
          <a:p>
            <a:pPr algn="l"/>
            <a:r>
              <a:rPr sz="2600" b="1">
                <a:solidFill>
                  <a:srgbClr val="FFFFFF"/>
                </a:solidFill>
                <a:latin typeface="Calibri"/>
              </a:rPr>
              <a:t>Posture de sécurité</a:t>
            </a:r>
          </a:p>
        </p:txBody>
      </p:sp>
      <p:graphicFrame>
        <p:nvGraphicFramePr>
          <p:cNvPr id="7" name="Table 6"/>
          <p:cNvGraphicFramePr>
            <a:graphicFrameLocks noGrp="1"/>
          </p:cNvGraphicFramePr>
          <p:nvPr/>
        </p:nvGraphicFramePr>
        <p:xfrm>
          <a:off x="457200" y="1463040"/>
          <a:ext cx="11247120" cy="4846320"/>
        </p:xfrm>
        <a:graphic>
          <a:graphicData uri="http://schemas.openxmlformats.org/drawingml/2006/table">
            <a:tbl>
              <a:tblPr firstRow="1" bandRow="1">
                <a:tableStyleId>{5C22544A-7EE6-4342-B048-85BDC9FD1C3A}</a:tableStyleId>
              </a:tblPr>
              <a:tblGrid>
                <a:gridCol w="5623560"/>
                <a:gridCol w="5623560"/>
              </a:tblGrid>
              <a:tr h="440574">
                <a:tc>
                  <a:txBody>
                    <a:bodyPr lIns="73152" rIns="73152" tIns="36576" bIns="36576"/>
                    <a:lstStyle/>
                    <a:p>
                      <a:pPr algn="l"/>
                      <a:r>
                        <a:rPr sz="1200" b="1">
                          <a:solidFill>
                            <a:srgbClr val="FFFFFF"/>
                          </a:solidFill>
                          <a:latin typeface="Calibri"/>
                        </a:rPr>
                        <a:t>Préoccupation</a:t>
                      </a:r>
                    </a:p>
                  </a:txBody>
                  <a:tcPr>
                    <a:solidFill>
                      <a:srgbClr val="0A1628"/>
                    </a:solidFill>
                  </a:tcPr>
                </a:tc>
                <a:tc>
                  <a:txBody>
                    <a:bodyPr lIns="73152" rIns="73152" tIns="36576" bIns="36576"/>
                    <a:lstStyle/>
                    <a:p>
                      <a:pPr algn="l"/>
                      <a:r>
                        <a:rPr sz="1200" b="1">
                          <a:solidFill>
                            <a:srgbClr val="FFFFFF"/>
                          </a:solidFill>
                          <a:latin typeface="Calibri"/>
                        </a:rPr>
                        <a:t>Mitigation</a:t>
                      </a:r>
                    </a:p>
                  </a:txBody>
                  <a:tcPr>
                    <a:solidFill>
                      <a:srgbClr val="0A1628"/>
                    </a:solidFill>
                  </a:tcPr>
                </a:tc>
              </a:tr>
              <a:tr h="440574">
                <a:tc>
                  <a:txBody>
                    <a:bodyPr lIns="73152" rIns="73152" tIns="36576" bIns="36576"/>
                    <a:lstStyle/>
                    <a:p>
                      <a:pPr algn="l"/>
                      <a:r>
                        <a:rPr sz="1200">
                          <a:solidFill>
                            <a:srgbClr val="1F2A3D"/>
                          </a:solidFill>
                          <a:latin typeface="Calibri"/>
                        </a:rPr>
                        <a:t>Stockage mots de passe</a:t>
                      </a:r>
                    </a:p>
                  </a:txBody>
                  <a:tcPr>
                    <a:solidFill>
                      <a:srgbClr val="FFFFFF"/>
                    </a:solidFill>
                  </a:tcPr>
                </a:tc>
                <a:tc>
                  <a:txBody>
                    <a:bodyPr lIns="73152" rIns="73152" tIns="36576" bIns="36576"/>
                    <a:lstStyle/>
                    <a:p>
                      <a:pPr algn="l"/>
                      <a:r>
                        <a:rPr sz="1200">
                          <a:solidFill>
                            <a:srgbClr val="1F2A3D"/>
                          </a:solidFill>
                          <a:latin typeface="Calibri"/>
                        </a:rPr>
                        <a:t>bcrypt via PHP password_hash</a:t>
                      </a:r>
                    </a:p>
                  </a:txBody>
                  <a:tcPr>
                    <a:solidFill>
                      <a:srgbClr val="FFFFFF"/>
                    </a:solidFill>
                  </a:tcPr>
                </a:tc>
              </a:tr>
              <a:tr h="440574">
                <a:tc>
                  <a:txBody>
                    <a:bodyPr lIns="73152" rIns="73152" tIns="36576" bIns="36576"/>
                    <a:lstStyle/>
                    <a:p>
                      <a:pPr algn="l"/>
                      <a:r>
                        <a:rPr sz="1200">
                          <a:solidFill>
                            <a:srgbClr val="1F2A3D"/>
                          </a:solidFill>
                          <a:latin typeface="Calibri"/>
                        </a:rPr>
                        <a:t>Session</a:t>
                      </a:r>
                    </a:p>
                  </a:txBody>
                  <a:tcPr>
                    <a:solidFill>
                      <a:srgbClr val="F3F4F6"/>
                    </a:solidFill>
                  </a:tcPr>
                </a:tc>
                <a:tc>
                  <a:txBody>
                    <a:bodyPr lIns="73152" rIns="73152" tIns="36576" bIns="36576"/>
                    <a:lstStyle/>
                    <a:p>
                      <a:pPr algn="l"/>
                      <a:r>
                        <a:rPr sz="1200">
                          <a:solidFill>
                            <a:srgbClr val="1F2A3D"/>
                          </a:solidFill>
                          <a:latin typeface="Calibri"/>
                        </a:rPr>
                        <a:t>Bearer token aléatoire 32 octets hex, TTL 30 jours</a:t>
                      </a:r>
                    </a:p>
                  </a:txBody>
                  <a:tcPr>
                    <a:solidFill>
                      <a:srgbClr val="F3F4F6"/>
                    </a:solidFill>
                  </a:tcPr>
                </a:tc>
              </a:tr>
              <a:tr h="440574">
                <a:tc>
                  <a:txBody>
                    <a:bodyPr lIns="73152" rIns="73152" tIns="36576" bIns="36576"/>
                    <a:lstStyle/>
                    <a:p>
                      <a:pPr algn="l"/>
                      <a:r>
                        <a:rPr sz="1200">
                          <a:solidFill>
                            <a:srgbClr val="1F2A3D"/>
                          </a:solidFill>
                          <a:latin typeface="Calibri"/>
                        </a:rPr>
                        <a:t>Transport</a:t>
                      </a:r>
                    </a:p>
                  </a:txBody>
                  <a:tcPr>
                    <a:solidFill>
                      <a:srgbClr val="FFFFFF"/>
                    </a:solidFill>
                  </a:tcPr>
                </a:tc>
                <a:tc>
                  <a:txBody>
                    <a:bodyPr lIns="73152" rIns="73152" tIns="36576" bIns="36576"/>
                    <a:lstStyle/>
                    <a:p>
                      <a:pPr algn="l"/>
                      <a:r>
                        <a:rPr sz="1200">
                          <a:solidFill>
                            <a:srgbClr val="1F2A3D"/>
                          </a:solidFill>
                          <a:latin typeface="Calibri"/>
                        </a:rPr>
                        <a:t>HTTPS en production (HTTP via XAMPP en dev)</a:t>
                      </a:r>
                    </a:p>
                  </a:txBody>
                  <a:tcPr>
                    <a:solidFill>
                      <a:srgbClr val="FFFFFF"/>
                    </a:solidFill>
                  </a:tcPr>
                </a:tc>
              </a:tr>
              <a:tr h="440574">
                <a:tc>
                  <a:txBody>
                    <a:bodyPr lIns="73152" rIns="73152" tIns="36576" bIns="36576"/>
                    <a:lstStyle/>
                    <a:p>
                      <a:pPr algn="l"/>
                      <a:r>
                        <a:rPr sz="1200">
                          <a:solidFill>
                            <a:srgbClr val="1F2A3D"/>
                          </a:solidFill>
                          <a:latin typeface="Calibri"/>
                        </a:rPr>
                        <a:t>Injection SQL</a:t>
                      </a:r>
                    </a:p>
                  </a:txBody>
                  <a:tcPr>
                    <a:solidFill>
                      <a:srgbClr val="F3F4F6"/>
                    </a:solidFill>
                  </a:tcPr>
                </a:tc>
                <a:tc>
                  <a:txBody>
                    <a:bodyPr lIns="73152" rIns="73152" tIns="36576" bIns="36576"/>
                    <a:lstStyle/>
                    <a:p>
                      <a:pPr algn="l"/>
                      <a:r>
                        <a:rPr sz="1200">
                          <a:solidFill>
                            <a:srgbClr val="1F2A3D"/>
                          </a:solidFill>
                          <a:latin typeface="Calibri"/>
                        </a:rPr>
                        <a:t>PDO avec requêtes paramétrées partout</a:t>
                      </a:r>
                    </a:p>
                  </a:txBody>
                  <a:tcPr>
                    <a:solidFill>
                      <a:srgbClr val="F3F4F6"/>
                    </a:solidFill>
                  </a:tcPr>
                </a:tc>
              </a:tr>
              <a:tr h="440574">
                <a:tc>
                  <a:txBody>
                    <a:bodyPr lIns="73152" rIns="73152" tIns="36576" bIns="36576"/>
                    <a:lstStyle/>
                    <a:p>
                      <a:pPr algn="l"/>
                      <a:r>
                        <a:rPr sz="1200">
                          <a:solidFill>
                            <a:srgbClr val="1F2A3D"/>
                          </a:solidFill>
                          <a:latin typeface="Calibri"/>
                        </a:rPr>
                        <a:t>XSS</a:t>
                      </a:r>
                    </a:p>
                  </a:txBody>
                  <a:tcPr>
                    <a:solidFill>
                      <a:srgbClr val="FFFFFF"/>
                    </a:solidFill>
                  </a:tcPr>
                </a:tc>
                <a:tc>
                  <a:txBody>
                    <a:bodyPr lIns="73152" rIns="73152" tIns="36576" bIns="36576"/>
                    <a:lstStyle/>
                    <a:p>
                      <a:pPr algn="l"/>
                      <a:r>
                        <a:rPr sz="1200">
                          <a:solidFill>
                            <a:srgbClr val="1F2A3D"/>
                          </a:solidFill>
                          <a:latin typeface="Calibri"/>
                        </a:rPr>
                        <a:t>Sortie serveur échappée (htmlspecialchars)</a:t>
                      </a:r>
                    </a:p>
                  </a:txBody>
                  <a:tcPr>
                    <a:solidFill>
                      <a:srgbClr val="FFFFFF"/>
                    </a:solidFill>
                  </a:tcPr>
                </a:tc>
              </a:tr>
              <a:tr h="440574">
                <a:tc>
                  <a:txBody>
                    <a:bodyPr lIns="73152" rIns="73152" tIns="36576" bIns="36576"/>
                    <a:lstStyle/>
                    <a:p>
                      <a:pPr algn="l"/>
                      <a:r>
                        <a:rPr sz="1200">
                          <a:solidFill>
                            <a:srgbClr val="1F2A3D"/>
                          </a:solidFill>
                          <a:latin typeface="Calibri"/>
                        </a:rPr>
                        <a:t>CSRF (admin web)</a:t>
                      </a:r>
                    </a:p>
                  </a:txBody>
                  <a:tcPr>
                    <a:solidFill>
                      <a:srgbClr val="F3F4F6"/>
                    </a:solidFill>
                  </a:tcPr>
                </a:tc>
                <a:tc>
                  <a:txBody>
                    <a:bodyPr lIns="73152" rIns="73152" tIns="36576" bIns="36576"/>
                    <a:lstStyle/>
                    <a:p>
                      <a:pPr algn="l"/>
                      <a:r>
                        <a:rPr sz="1200">
                          <a:solidFill>
                            <a:srgbClr val="1F2A3D"/>
                          </a:solidFill>
                          <a:latin typeface="Calibri"/>
                        </a:rPr>
                        <a:t>Panneau admin same-origin + session</a:t>
                      </a:r>
                    </a:p>
                  </a:txBody>
                  <a:tcPr>
                    <a:solidFill>
                      <a:srgbClr val="F3F4F6"/>
                    </a:solidFill>
                  </a:tcPr>
                </a:tc>
              </a:tr>
              <a:tr h="440574">
                <a:tc>
                  <a:txBody>
                    <a:bodyPr lIns="73152" rIns="73152" tIns="36576" bIns="36576"/>
                    <a:lstStyle/>
                    <a:p>
                      <a:pPr algn="l"/>
                      <a:r>
                        <a:rPr sz="1200">
                          <a:solidFill>
                            <a:srgbClr val="1F2A3D"/>
                          </a:solidFill>
                          <a:latin typeface="Calibri"/>
                        </a:rPr>
                        <a:t>Séparation admin</a:t>
                      </a:r>
                    </a:p>
                  </a:txBody>
                  <a:tcPr>
                    <a:solidFill>
                      <a:srgbClr val="FFFFFF"/>
                    </a:solidFill>
                  </a:tcPr>
                </a:tc>
                <a:tc>
                  <a:txBody>
                    <a:bodyPr lIns="73152" rIns="73152" tIns="36576" bIns="36576"/>
                    <a:lstStyle/>
                    <a:p>
                      <a:pPr algn="l"/>
                      <a:r>
                        <a:rPr sz="1200">
                          <a:solidFill>
                            <a:srgbClr val="1F2A3D"/>
                          </a:solidFill>
                          <a:latin typeface="Calibri"/>
                        </a:rPr>
                        <a:t>Connexion admin bloquée sur l'API mobile (web uniquement)</a:t>
                      </a:r>
                    </a:p>
                  </a:txBody>
                  <a:tcPr>
                    <a:solidFill>
                      <a:srgbClr val="FFFFFF"/>
                    </a:solidFill>
                  </a:tcPr>
                </a:tc>
              </a:tr>
              <a:tr h="440574">
                <a:tc>
                  <a:txBody>
                    <a:bodyPr lIns="73152" rIns="73152" tIns="36576" bIns="36576"/>
                    <a:lstStyle/>
                    <a:p>
                      <a:pPr algn="l"/>
                      <a:r>
                        <a:rPr sz="1200">
                          <a:solidFill>
                            <a:srgbClr val="1F2A3D"/>
                          </a:solidFill>
                          <a:latin typeface="Calibri"/>
                        </a:rPr>
                        <a:t>Téléversement fichiers</a:t>
                      </a:r>
                    </a:p>
                  </a:txBody>
                  <a:tcPr>
                    <a:solidFill>
                      <a:srgbClr val="F3F4F6"/>
                    </a:solidFill>
                  </a:tcPr>
                </a:tc>
                <a:tc>
                  <a:txBody>
                    <a:bodyPr lIns="73152" rIns="73152" tIns="36576" bIns="36576"/>
                    <a:lstStyle/>
                    <a:p>
                      <a:pPr algn="l"/>
                      <a:r>
                        <a:rPr sz="1200">
                          <a:solidFill>
                            <a:srgbClr val="1F2A3D"/>
                          </a:solidFill>
                          <a:latin typeface="Calibri"/>
                        </a:rPr>
                        <a:t>Validation mime + taille ; servi depuis /Src sous XAMPP</a:t>
                      </a:r>
                    </a:p>
                  </a:txBody>
                  <a:tcPr>
                    <a:solidFill>
                      <a:srgbClr val="F3F4F6"/>
                    </a:solidFill>
                  </a:tcPr>
                </a:tc>
              </a:tr>
              <a:tr h="440574">
                <a:tc>
                  <a:txBody>
                    <a:bodyPr lIns="73152" rIns="73152" tIns="36576" bIns="36576"/>
                    <a:lstStyle/>
                    <a:p>
                      <a:pPr algn="l"/>
                      <a:r>
                        <a:rPr sz="1200">
                          <a:solidFill>
                            <a:srgbClr val="1F2A3D"/>
                          </a:solidFill>
                          <a:latin typeface="Calibri"/>
                        </a:rPr>
                        <a:t>Journal d'audit</a:t>
                      </a:r>
                    </a:p>
                  </a:txBody>
                  <a:tcPr>
                    <a:solidFill>
                      <a:srgbClr val="FFFFFF"/>
                    </a:solidFill>
                  </a:tcPr>
                </a:tc>
                <a:tc>
                  <a:txBody>
                    <a:bodyPr lIns="73152" rIns="73152" tIns="36576" bIns="36576"/>
                    <a:lstStyle/>
                    <a:p>
                      <a:pPr algn="l"/>
                      <a:r>
                        <a:rPr sz="1200">
                          <a:solidFill>
                            <a:srgbClr val="1F2A3D"/>
                          </a:solidFill>
                          <a:latin typeface="Calibri"/>
                        </a:rPr>
                        <a:t>Opérations sensibles (vérif., suspension) tracées côté serveur</a:t>
                      </a:r>
                    </a:p>
                  </a:txBody>
                  <a:tcPr>
                    <a:solidFill>
                      <a:srgbClr val="FFFFFF"/>
                    </a:solidFill>
                  </a:tcPr>
                </a:tc>
              </a:tr>
              <a:tr h="440580">
                <a:tc>
                  <a:txBody>
                    <a:bodyPr lIns="73152" rIns="73152" tIns="36576" bIns="36576"/>
                    <a:lstStyle/>
                    <a:p>
                      <a:pPr algn="l"/>
                      <a:r>
                        <a:rPr sz="1200">
                          <a:solidFill>
                            <a:srgbClr val="1F2A3D"/>
                          </a:solidFill>
                          <a:latin typeface="Calibri"/>
                        </a:rPr>
                        <a:t>Limitation de débit</a:t>
                      </a:r>
                    </a:p>
                  </a:txBody>
                  <a:tcPr>
                    <a:solidFill>
                      <a:srgbClr val="F3F4F6"/>
                    </a:solidFill>
                  </a:tcPr>
                </a:tc>
                <a:tc>
                  <a:txBody>
                    <a:bodyPr lIns="73152" rIns="73152" tIns="36576" bIns="36576"/>
                    <a:lstStyle/>
                    <a:p>
                      <a:pPr algn="l"/>
                      <a:r>
                        <a:rPr sz="1200">
                          <a:solidFill>
                            <a:srgbClr val="1F2A3D"/>
                          </a:solidFill>
                          <a:latin typeface="Calibri"/>
                        </a:rPr>
                        <a:t>Envoi OTP : cooldown de 30 s par compte</a:t>
                      </a:r>
                    </a:p>
                  </a:txBody>
                  <a:tcPr>
                    <a:solidFill>
                      <a:srgbClr val="F3F4F6"/>
                    </a:solidFill>
                  </a:tcPr>
                </a:tc>
              </a:tr>
            </a:tbl>
          </a:graphicData>
        </a:graphic>
      </p:graphicFrame>
      <p:sp>
        <p:nvSpPr>
          <p:cNvPr id="8" name="Rectangle 7"/>
          <p:cNvSpPr/>
          <p:nvPr/>
        </p:nvSpPr>
        <p:spPr>
          <a:xfrm>
            <a:off x="0" y="6537960"/>
            <a:ext cx="12191695" cy="3200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83680"/>
            <a:ext cx="7315200" cy="274320"/>
          </a:xfrm>
          <a:prstGeom prst="rect">
            <a:avLst/>
          </a:prstGeom>
          <a:noFill/>
        </p:spPr>
        <p:txBody>
          <a:bodyPr wrap="square" anchor="ctr" lIns="45720" rIns="45720" tIns="18288" bIns="18288">
            <a:spAutoFit/>
          </a:bodyPr>
          <a:lstStyle/>
          <a:p>
            <a:pPr algn="l"/>
            <a:r>
              <a:rPr sz="1000" b="0">
                <a:solidFill>
                  <a:srgbClr val="FFFFFF"/>
                </a:solidFill>
                <a:latin typeface="Calibri"/>
              </a:rPr>
              <a:t>ForsaDrive  •  Soutenance de fin d'études  •  ATOMIC IT</a:t>
            </a:r>
          </a:p>
        </p:txBody>
      </p:sp>
      <p:sp>
        <p:nvSpPr>
          <p:cNvPr id="10" name="TextBox 9"/>
          <p:cNvSpPr txBox="1"/>
          <p:nvPr/>
        </p:nvSpPr>
        <p:spPr>
          <a:xfrm>
            <a:off x="10515600" y="6583680"/>
            <a:ext cx="1371600" cy="274320"/>
          </a:xfrm>
          <a:prstGeom prst="rect">
            <a:avLst/>
          </a:prstGeom>
          <a:noFill/>
        </p:spPr>
        <p:txBody>
          <a:bodyPr wrap="square" anchor="ctr" lIns="45720" rIns="45720" tIns="18288" bIns="18288">
            <a:spAutoFit/>
          </a:bodyPr>
          <a:lstStyle/>
          <a:p>
            <a:pPr algn="r"/>
            <a:r>
              <a:rPr sz="1000" b="1">
                <a:solidFill>
                  <a:srgbClr val="E8B84B"/>
                </a:solidFill>
                <a:latin typeface="Calibri"/>
              </a:rPr>
              <a:t>H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